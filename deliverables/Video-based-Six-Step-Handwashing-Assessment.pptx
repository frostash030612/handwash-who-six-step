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fonts/font1.fntdata" ContentType="application/x-fontdata"/>
  <Override PartName="/ppt/fonts/font10.fntdata" ContentType="application/x-fontdata"/>
  <Override PartName="/ppt/fonts/font11.fntdata" ContentType="application/x-fontdata"/>
  <Override PartName="/ppt/fonts/font12.fntdata" ContentType="application/x-fontdata"/>
  <Override PartName="/ppt/fonts/font2.fntdata" ContentType="application/x-fontdata"/>
  <Override PartName="/ppt/fonts/font3.fntdata" ContentType="application/x-fontdata"/>
  <Override PartName="/ppt/fonts/font4.fntdata" ContentType="application/x-fontdata"/>
  <Override PartName="/ppt/fonts/font5.fntdata" ContentType="application/x-fontdata"/>
  <Override PartName="/ppt/fonts/font6.fntdata" ContentType="application/x-fontdata"/>
  <Override PartName="/ppt/fonts/font7.fntdata" ContentType="application/x-fontdata"/>
  <Override PartName="/ppt/fonts/font8.fntdata" ContentType="application/x-fontdata"/>
  <Override PartName="/ppt/fonts/font9.fntdata" ContentType="application/x-fontdata"/>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4"/>
  </p:notesMasterIdLst>
  <p:sldIdLst>
    <p:sldId id="256" r:id="rId3"/>
    <p:sldId id="257" r:id="rId5"/>
    <p:sldId id="258" r:id="rId6"/>
    <p:sldId id="259" r:id="rId7"/>
    <p:sldId id="260" r:id="rId8"/>
    <p:sldId id="261" r:id="rId9"/>
    <p:sldId id="262" r:id="rId10"/>
    <p:sldId id="263" r:id="rId11"/>
    <p:sldId id="264" r:id="rId12"/>
    <p:sldId id="265" r:id="rId13"/>
  </p:sldIdLst>
  <p:sldSz cx="12191365" cy="6858000"/>
  <p:notesSz cx="6858000" cy="12191365"/>
  <p:embeddedFontLst>
    <p:embeddedFont>
      <p:font typeface="Funnel Sans Bold" pitchFamily="34" charset="0"/>
      <p:regular r:id="rId17"/>
    </p:embeddedFont>
    <p:embeddedFont>
      <p:font typeface="Funnel Sans Bold" pitchFamily="34" charset="-122"/>
      <p:regular r:id="rId18"/>
    </p:embeddedFont>
    <p:embeddedFont>
      <p:font typeface="Funnel Sans Bold" pitchFamily="34" charset="-120"/>
      <p:regular r:id="rId19"/>
    </p:embeddedFont>
    <p:embeddedFont>
      <p:font typeface="Funnel Display Bold" pitchFamily="34" charset="0"/>
      <p:regular r:id="rId20"/>
    </p:embeddedFont>
    <p:embeddedFont>
      <p:font typeface="Funnel Display Bold" pitchFamily="34" charset="-122"/>
      <p:regular r:id="rId21"/>
    </p:embeddedFont>
    <p:embeddedFont>
      <p:font typeface="Funnel Display Bold" pitchFamily="34" charset="-120"/>
      <p:regular r:id="rId22"/>
    </p:embeddedFont>
    <p:embeddedFont>
      <p:font typeface="Funnel Sans SemiBold" pitchFamily="34" charset="0"/>
      <p:regular r:id="rId23"/>
    </p:embeddedFont>
    <p:embeddedFont>
      <p:font typeface="Funnel Sans SemiBold" pitchFamily="34" charset="-122"/>
      <p:regular r:id="rId24"/>
    </p:embeddedFont>
    <p:embeddedFont>
      <p:font typeface="Funnel Sans SemiBold" pitchFamily="34" charset="-120"/>
      <p:regular r:id="rId25"/>
    </p:embeddedFont>
    <p:embeddedFont>
      <p:font typeface="Funnel Sans" pitchFamily="34" charset="0"/>
      <p:regular r:id="rId26"/>
    </p:embeddedFont>
    <p:embeddedFont>
      <p:font typeface="Funnel Sans" pitchFamily="34" charset="-122"/>
      <p:regular r:id="rId27"/>
    </p:embeddedFont>
    <p:embeddedFont>
      <p:font typeface="Funnel Sans" pitchFamily="34" charset="-120"/>
      <p:regular r:id="rId28"/>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 Type="http://schemas.openxmlformats.org/officeDocument/2006/relationships/slide" Target="slides/slide1.xml"/><Relationship Id="rId28" Type="http://schemas.openxmlformats.org/officeDocument/2006/relationships/font" Target="fonts/font12.fntdata"/><Relationship Id="rId27" Type="http://schemas.openxmlformats.org/officeDocument/2006/relationships/font" Target="fonts/font11.fntdata"/><Relationship Id="rId26" Type="http://schemas.openxmlformats.org/officeDocument/2006/relationships/font" Target="fonts/font10.fntdata"/><Relationship Id="rId25" Type="http://schemas.openxmlformats.org/officeDocument/2006/relationships/font" Target="fonts/font9.fntdata"/><Relationship Id="rId24" Type="http://schemas.openxmlformats.org/officeDocument/2006/relationships/font" Target="fonts/font8.fntdata"/><Relationship Id="rId23" Type="http://schemas.openxmlformats.org/officeDocument/2006/relationships/font" Target="fonts/font7.fntdata"/><Relationship Id="rId22" Type="http://schemas.openxmlformats.org/officeDocument/2006/relationships/font" Target="fonts/font6.fntdata"/><Relationship Id="rId21" Type="http://schemas.openxmlformats.org/officeDocument/2006/relationships/font" Target="fonts/font5.fntdata"/><Relationship Id="rId20" Type="http://schemas.openxmlformats.org/officeDocument/2006/relationships/font" Target="fonts/font4.fntdata"/><Relationship Id="rId2" Type="http://schemas.openxmlformats.org/officeDocument/2006/relationships/theme" Target="theme/theme1.xml"/><Relationship Id="rId19" Type="http://schemas.openxmlformats.org/officeDocument/2006/relationships/font" Target="fonts/font3.fntdata"/><Relationship Id="rId18" Type="http://schemas.openxmlformats.org/officeDocument/2006/relationships/font" Target="fonts/font2.fntdata"/><Relationship Id="rId17" Type="http://schemas.openxmlformats.org/officeDocument/2006/relationships/font" Target="fonts/font1.fntdata"/><Relationship Id="rId16" Type="http://schemas.openxmlformats.org/officeDocument/2006/relationships/tableStyles" Target="tableStyles.xml"/><Relationship Id="rId15" Type="http://schemas.openxmlformats.org/officeDocument/2006/relationships/viewProps" Target="viewProps.xml"/><Relationship Id="rId14" Type="http://schemas.openxmlformats.org/officeDocument/2006/relationships/presProps" Target="presProps.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proposal studies six-step handwashing action recognition from continuous RGB video. The proposed deliverable is an offline analysis system. The model choices are a baseline and planned comparisons, not measured results. The updated plan starts with MobileNetV2 plus a simple TCN.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six names are shortened for presentation. Step 2 involves palm over dorsum with fingers interlaced. Step 3 has opposing palms with interlaced fingers. Step 4 uses the backs of fingers against an opposing palm with fingers interlocked. PSKUS also labels other movements and turning off the faucet. The system must preserve missing, reordered or repeated actions rather than force a fixed six-step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O1 retains the submitted proposal target Macro-F1 &gt;= 0.80. The revised plan will explicitly define the eight-class PSKUS metric and separately report performance on the six rubbing actions. These targets have not yet been demonstrated. RQ1 requires matched splits and controlled comparisons.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PSKUS: 3,185 videos, 30 FPS, resolutions 320x240 and 640x480, with up to seven annotators per episode. METC: 212 videos from 72 participants, approximately 16 FPS, with one live annotator per episode. For cross-dataset evaluation, sum the PSKUS faucet-off probability into other, then take argmax in the shared seven-class space. This reconciles output classes but not the semantic difference in other. Published dataset sizes are source totals, not a claim that all files are downloaded or processed.
Sources:
https://github.com/Frostash030612/handwash-who-six-step/blob/524ccd9/docs/zh/MODEL_FRAMEWORK.md
https://zenodo.org/records/4537209
https://zenodo.org/records/5808789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 split is a planned 70/15/15 starting point with a fixed seed and no source-video leakage. Identity grouping is preferred when trustworthy IDs exist. At 5 FPS a 128-frame window spans approximately 25.6 seconds. The latest repository has restored frame-specific labels and included previously ignored model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 denotes batch size, T the number of sampled frames, and D the learned feature dimension. The TCN head emits per-frame logits; softmax gives probabilities. Weighted cross-entropy uses a padding mask. Full-video inference merges overlapping-window probabilities before assigning labels and segments.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intervals form a hypothetical 28-second example: other 0–3, step 1 3–8, step 2 8–13, step 3 13–18, step 5 18–23, and step 6 23–28. Adjacent equal predictions become half-open intervals. The software computes duration rather than asking the language model to do arithmetic.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same source-video splits and fixed evaluation definitions. For encoder comparison, hold the classification or temporal head fixed, use each encoder’s required preprocessing, and record freeze/fine-tune choices and budget. PE-Core-L14-336 and MS-TCN++ are candidates, not the default delivery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Report eight-class Macro-F1 on PSKUS and per-class recalls, with separate focus on the six rubbing steps. Compare PSKUS and METC using a clearly defined common seven-class metric; do not subtract an eight-class score from a seven-class score. Segmental F1 uses class-consistent one-to-one matching at time IoU thresholds 0.10, 0.25 and 0.50; report all-class and six-step-only conventions. Duration MAE is in seconds per step. P/R means precision and recall for missing-step detection. Measure end-to-end runtime per video and the additional cost of B. Self-recorded data and thresholds must have separate development and final-test partitions. Repeated runs of shortlisted settings check whether improvements are stable.
Sources:
https://github.com/Frostash030612/handwash-who-six-step/blob/524ccd9/docs/zh/MODEL_FRAMEWORK.md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plan reflects the stated 15–30 day project period and access to rented GPU resources. Benchmark runtime and memory before committing to a rental budget. Day 15 delivers the baseline; optional extensions continue only if the baseline is reliable and time remains. Final outputs are a reproducible pipeline and checkpoints, timeline JSON, procedure report, evidence-grounded Q&amp;A demo, controlled comparisons and a final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lide master 1">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9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9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9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9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9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9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9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9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9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2.xml"/><Relationship Id="rId1" Type="http://schemas.openxmlformats.org/officeDocument/2006/relationships/image" Target="../media/image2.jpeg"/></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2.xml"/><Relationship Id="rId1" Type="http://schemas.openxmlformats.org/officeDocument/2006/relationships/image" Target="../media/image3.jpe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2.xml"/><Relationship Id="rId1" Type="http://schemas.openxmlformats.org/officeDocument/2006/relationships/image" Target="../media/image4.jpeg"/></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2.xml"/><Relationship Id="rId1" Type="http://schemas.openxmlformats.org/officeDocument/2006/relationships/image" Target="../media/image5.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notesSlide" Target="../notesSlides/notesSlide8.xml"/><Relationship Id="rId2" Type="http://schemas.openxmlformats.org/officeDocument/2006/relationships/slideLayout" Target="../slideLayouts/slideLayout2.xml"/><Relationship Id="rId1" Type="http://schemas.openxmlformats.org/officeDocument/2006/relationships/image" Target="../media/image6.jpe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notesSlide" Target="../notesSlides/notesSlide10.xml"/><Relationship Id="rId2" Type="http://schemas.openxmlformats.org/officeDocument/2006/relationships/slideLayout" Target="../slideLayouts/slideLayout2.xml"/><Relationship Id="rId1"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5EB"/>
          </a:solidFill>
        </p:spPr>
      </p:sp>
      <p:pic>
        <p:nvPicPr>
          <p:cNvPr id="3" name="Image 0" descr="preencoded.png"/>
          <p:cNvPicPr>
            <a:picLocks noChangeAspect="1"/>
          </p:cNvPicPr>
          <p:nvPr/>
        </p:nvPicPr>
        <p:blipFill>
          <a:blip r:embed="rId1"/>
          <a:stretch>
            <a:fillRect/>
          </a:stretch>
        </p:blipFill>
        <p:spPr>
          <a:xfrm>
            <a:off x="0" y="0"/>
            <a:ext cx="12191695" cy="6858000"/>
          </a:xfrm>
          <a:prstGeom prst="rect">
            <a:avLst/>
          </a:prstGeom>
        </p:spPr>
      </p:pic>
      <p:sp>
        <p:nvSpPr>
          <p:cNvPr id="4" name="Shape 1"/>
          <p:cNvSpPr/>
          <p:nvPr/>
        </p:nvSpPr>
        <p:spPr>
          <a:xfrm>
            <a:off x="2158946" y="1778000"/>
            <a:ext cx="7873803" cy="3810000"/>
          </a:xfrm>
          <a:prstGeom prst="roundRect">
            <a:avLst>
              <a:gd name="adj" fmla="val 2310"/>
            </a:avLst>
          </a:prstGeom>
          <a:solidFill>
            <a:srgbClr val="FFFCF6"/>
          </a:solidFill>
          <a:effectLst>
            <a:outerShdw blurRad="379730" dist="151130" dir="5400000" algn="bl" rotWithShape="0">
              <a:srgbClr val="6A4FC8">
                <a:alpha val="40000"/>
              </a:srgbClr>
            </a:outerShdw>
          </a:effectLst>
        </p:spPr>
      </p:sp>
      <p:sp>
        <p:nvSpPr>
          <p:cNvPr id="5" name="Text 2"/>
          <p:cNvSpPr/>
          <p:nvPr/>
        </p:nvSpPr>
        <p:spPr>
          <a:xfrm>
            <a:off x="2311342" y="2591296"/>
            <a:ext cx="7569011" cy="190500"/>
          </a:xfrm>
          <a:prstGeom prst="rect">
            <a:avLst/>
          </a:prstGeom>
          <a:noFill/>
        </p:spPr>
        <p:txBody>
          <a:bodyPr wrap="none" lIns="0" tIns="0" rIns="0" bIns="0" rtlCol="0" anchor="t"/>
          <a:lstStyle/>
          <a:p>
            <a:pPr marL="0" indent="0" algn="ctr">
              <a:lnSpc>
                <a:spcPct val="104000"/>
              </a:lnSpc>
              <a:buNone/>
            </a:pPr>
            <a:r>
              <a:rPr lang="en-US" sz="1200" b="1" kern="0" spc="96" dirty="0">
                <a:solidFill>
                  <a:srgbClr val="8A3FA8"/>
                </a:solidFill>
                <a:latin typeface="Funnel Sans Bold" pitchFamily="34" charset="0"/>
                <a:ea typeface="Funnel Sans Bold" pitchFamily="34" charset="-122"/>
                <a:cs typeface="Funnel Sans Bold" pitchFamily="34" charset="-120"/>
              </a:rPr>
              <a:t>PROJECT PROPOSAL</a:t>
            </a:r>
            <a:endParaRPr lang="en-US" sz="1200" dirty="0"/>
          </a:p>
        </p:txBody>
      </p:sp>
      <p:sp>
        <p:nvSpPr>
          <p:cNvPr id="6" name="Text 3"/>
          <p:cNvSpPr/>
          <p:nvPr/>
        </p:nvSpPr>
        <p:spPr>
          <a:xfrm>
            <a:off x="2616135" y="2867521"/>
            <a:ext cx="6959426" cy="1022945"/>
          </a:xfrm>
          <a:prstGeom prst="rect">
            <a:avLst/>
          </a:prstGeom>
          <a:noFill/>
        </p:spPr>
        <p:txBody>
          <a:bodyPr wrap="square" lIns="0" tIns="0" rIns="0" bIns="0" rtlCol="0" anchor="t">
            <a:normAutofit/>
          </a:bodyPr>
          <a:lstStyle/>
          <a:p>
            <a:pPr marL="0" indent="0" algn="ctr">
              <a:lnSpc>
                <a:spcPct val="88000"/>
              </a:lnSpc>
              <a:buNone/>
            </a:pPr>
            <a:r>
              <a:rPr lang="en-US" sz="3800" b="1" kern="0" spc="-38" dirty="0">
                <a:solidFill>
                  <a:srgbClr val="2B3541"/>
                </a:solidFill>
                <a:latin typeface="Funnel Display Bold" pitchFamily="34" charset="0"/>
                <a:ea typeface="Funnel Display Bold" pitchFamily="34" charset="-122"/>
                <a:cs typeface="Funnel Display Bold" pitchFamily="34" charset="-120"/>
              </a:rPr>
              <a:t>Video-based Six-Step</a:t>
            </a:r>
            <a:endParaRPr lang="en-US" sz="3800" dirty="0"/>
          </a:p>
          <a:p>
            <a:pPr marL="0" indent="0" algn="ctr">
              <a:lnSpc>
                <a:spcPct val="88000"/>
              </a:lnSpc>
              <a:buNone/>
            </a:pPr>
            <a:r>
              <a:rPr lang="en-US" sz="3800" b="1" kern="0" spc="-38" dirty="0">
                <a:solidFill>
                  <a:srgbClr val="2B3541"/>
                </a:solidFill>
                <a:latin typeface="Funnel Display Bold" pitchFamily="34" charset="0"/>
                <a:ea typeface="Funnel Display Bold" pitchFamily="34" charset="-122"/>
                <a:cs typeface="Funnel Display Bold" pitchFamily="34" charset="-120"/>
              </a:rPr>
              <a:t>Handwashing Assessment</a:t>
            </a:r>
            <a:endParaRPr lang="en-US" sz="3800" dirty="0"/>
          </a:p>
        </p:txBody>
      </p:sp>
      <p:sp>
        <p:nvSpPr>
          <p:cNvPr id="7" name="Text 4"/>
          <p:cNvSpPr/>
          <p:nvPr/>
        </p:nvSpPr>
        <p:spPr>
          <a:xfrm>
            <a:off x="2616135" y="4077791"/>
            <a:ext cx="6959426" cy="304800"/>
          </a:xfrm>
          <a:prstGeom prst="rect">
            <a:avLst/>
          </a:prstGeom>
          <a:noFill/>
        </p:spPr>
        <p:txBody>
          <a:bodyPr wrap="none" lIns="0" tIns="0" rIns="0" bIns="0" rtlCol="0" anchor="t"/>
          <a:lstStyle/>
          <a:p>
            <a:pPr marL="0" indent="0" algn="ctr">
              <a:lnSpc>
                <a:spcPct val="100000"/>
              </a:lnSpc>
              <a:buNone/>
            </a:pPr>
            <a:r>
              <a:rPr lang="en-US" sz="2000" kern="0" spc="-10" dirty="0">
                <a:solidFill>
                  <a:srgbClr val="4A5563"/>
                </a:solidFill>
                <a:latin typeface="Funnel Sans SemiBold" pitchFamily="34" charset="0"/>
                <a:ea typeface="Funnel Sans SemiBold" pitchFamily="34" charset="-122"/>
                <a:cs typeface="Funnel Sans SemiBold" pitchFamily="34" charset="-120"/>
              </a:rPr>
              <a:t>Recognizing handwashing actions and explaining the results</a:t>
            </a:r>
            <a:endParaRPr lang="en-US" sz="2000" dirty="0"/>
          </a:p>
        </p:txBody>
      </p:sp>
      <p:sp>
        <p:nvSpPr>
          <p:cNvPr id="8" name="Text 5"/>
          <p:cNvSpPr/>
          <p:nvPr/>
        </p:nvSpPr>
        <p:spPr>
          <a:xfrm>
            <a:off x="2311342" y="4560391"/>
            <a:ext cx="7569011" cy="214313"/>
          </a:xfrm>
          <a:prstGeom prst="rect">
            <a:avLst/>
          </a:prstGeom>
          <a:noFill/>
        </p:spPr>
        <p:txBody>
          <a:bodyPr wrap="none" lIns="0" tIns="0" rIns="0" bIns="0" rtlCol="0" anchor="t"/>
          <a:lstStyle/>
          <a:p>
            <a:pPr marL="0" indent="0" algn="ctr">
              <a:lnSpc>
                <a:spcPct val="112000"/>
              </a:lnSpc>
              <a:buNone/>
            </a:pPr>
            <a:r>
              <a:rPr lang="en-US" sz="1250" dirty="0">
                <a:solidFill>
                  <a:srgbClr val="4A5563"/>
                </a:solidFill>
                <a:latin typeface="Funnel Sans" pitchFamily="34" charset="0"/>
                <a:ea typeface="Funnel Sans" pitchFamily="34" charset="-122"/>
                <a:cs typeface="Funnel Sans" pitchFamily="34" charset="-120"/>
              </a:rPr>
              <a:t>Group 43 · October 2026</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5EB"/>
          </a:solidFill>
        </p:spPr>
      </p:sp>
      <p:sp>
        <p:nvSpPr>
          <p:cNvPr id="3" name="Text 1"/>
          <p:cNvSpPr/>
          <p:nvPr/>
        </p:nvSpPr>
        <p:spPr>
          <a:xfrm>
            <a:off x="685783" y="1457623"/>
            <a:ext cx="6629234" cy="190500"/>
          </a:xfrm>
          <a:prstGeom prst="rect">
            <a:avLst/>
          </a:prstGeom>
          <a:noFill/>
        </p:spPr>
        <p:txBody>
          <a:bodyPr wrap="none" lIns="0" tIns="0" rIns="0" bIns="0" rtlCol="0" anchor="t"/>
          <a:lstStyle/>
          <a:p>
            <a:pPr marL="0" indent="0" algn="l">
              <a:lnSpc>
                <a:spcPct val="104000"/>
              </a:lnSpc>
              <a:buNone/>
            </a:pPr>
            <a:r>
              <a:rPr lang="en-US" sz="1200" kern="0" spc="96" dirty="0">
                <a:solidFill>
                  <a:srgbClr val="8A3FA8"/>
                </a:solidFill>
                <a:latin typeface="Funnel Sans SemiBold" pitchFamily="34" charset="0"/>
                <a:ea typeface="Funnel Sans SemiBold" pitchFamily="34" charset="-122"/>
                <a:cs typeface="Funnel Sans SemiBold" pitchFamily="34" charset="-120"/>
              </a:rPr>
              <a:t>CLINICAL MOTIVATION</a:t>
            </a:r>
            <a:endParaRPr lang="en-US" sz="1200" dirty="0"/>
          </a:p>
        </p:txBody>
      </p:sp>
      <p:sp>
        <p:nvSpPr>
          <p:cNvPr id="4" name="Text 2"/>
          <p:cNvSpPr/>
          <p:nvPr/>
        </p:nvSpPr>
        <p:spPr>
          <a:xfrm>
            <a:off x="685783" y="1733848"/>
            <a:ext cx="6172046" cy="969169"/>
          </a:xfrm>
          <a:prstGeom prst="rect">
            <a:avLst/>
          </a:prstGeom>
          <a:noFill/>
        </p:spPr>
        <p:txBody>
          <a:bodyPr wrap="square" lIns="0" tIns="0" rIns="0" bIns="0" rtlCol="0" anchor="t">
            <a:normAutofit/>
          </a:bodyPr>
          <a:lstStyle/>
          <a:p>
            <a:pPr marL="0" indent="0" algn="l">
              <a:lnSpc>
                <a:spcPct val="88000"/>
              </a:lnSpc>
              <a:buNone/>
            </a:pPr>
            <a:r>
              <a:rPr lang="en-US" sz="3600" b="1" kern="0" spc="-36" dirty="0">
                <a:solidFill>
                  <a:srgbClr val="051D3A"/>
                </a:solidFill>
                <a:latin typeface="Funnel Display Bold" pitchFamily="34" charset="0"/>
                <a:ea typeface="Funnel Display Bold" pitchFamily="34" charset="-122"/>
                <a:cs typeface="Funnel Display Bold" pitchFamily="34" charset="-120"/>
              </a:rPr>
              <a:t>Why analyze the whole washing process?</a:t>
            </a:r>
            <a:endParaRPr lang="en-US" sz="3600" dirty="0"/>
          </a:p>
        </p:txBody>
      </p:sp>
      <p:sp>
        <p:nvSpPr>
          <p:cNvPr id="5" name="Shape 3"/>
          <p:cNvSpPr/>
          <p:nvPr/>
        </p:nvSpPr>
        <p:spPr>
          <a:xfrm>
            <a:off x="685783" y="2880816"/>
            <a:ext cx="6172046" cy="1854200"/>
          </a:xfrm>
          <a:prstGeom prst="roundRect">
            <a:avLst>
              <a:gd name="adj" fmla="val 4746"/>
            </a:avLst>
          </a:prstGeom>
          <a:solidFill>
            <a:srgbClr val="FFFCF6"/>
          </a:solidFill>
          <a:effectLst>
            <a:outerShdw blurRad="379730" dist="151130" dir="5400000" algn="bl" rotWithShape="0">
              <a:srgbClr val="6A4FC8">
                <a:alpha val="40000"/>
              </a:srgbClr>
            </a:outerShdw>
          </a:effectLst>
        </p:spPr>
      </p:sp>
      <p:sp>
        <p:nvSpPr>
          <p:cNvPr id="6" name="Text 4"/>
          <p:cNvSpPr/>
          <p:nvPr/>
        </p:nvSpPr>
        <p:spPr>
          <a:xfrm>
            <a:off x="990575" y="3134816"/>
            <a:ext cx="5562461" cy="1346200"/>
          </a:xfrm>
          <a:prstGeom prst="rect">
            <a:avLst/>
          </a:prstGeom>
          <a:noFill/>
        </p:spPr>
        <p:txBody>
          <a:bodyPr wrap="square" lIns="0" tIns="0" rIns="0" bIns="0" rtlCol="0" anchor="t">
            <a:normAutofit/>
          </a:bodyPr>
          <a:lstStyle/>
          <a:p>
            <a:pPr marL="0" indent="0" algn="l">
              <a:lnSpc>
                <a:spcPct val="88000"/>
              </a:lnSpc>
              <a:buNone/>
            </a:pPr>
            <a:r>
              <a:rPr lang="en-US" sz="2500" b="1" kern="0" spc="-25" dirty="0">
                <a:solidFill>
                  <a:srgbClr val="2B3541"/>
                </a:solidFill>
                <a:latin typeface="Funnel Display Bold" pitchFamily="34" charset="0"/>
                <a:ea typeface="Funnel Display Bold" pitchFamily="34" charset="-122"/>
                <a:cs typeface="Funnel Display Bold" pitchFamily="34" charset="-120"/>
              </a:rPr>
              <a:t>A useful review needs to show which actions happened, when they happened, and which steps were not detected.</a:t>
            </a:r>
            <a:endParaRPr lang="en-US" sz="2500" dirty="0"/>
          </a:p>
        </p:txBody>
      </p:sp>
      <p:sp>
        <p:nvSpPr>
          <p:cNvPr id="7" name="Text 5"/>
          <p:cNvSpPr/>
          <p:nvPr/>
        </p:nvSpPr>
        <p:spPr>
          <a:xfrm>
            <a:off x="685783" y="4938216"/>
            <a:ext cx="6172046" cy="563761"/>
          </a:xfrm>
          <a:prstGeom prst="rect">
            <a:avLst/>
          </a:prstGeom>
          <a:noFill/>
        </p:spPr>
        <p:txBody>
          <a:bodyPr wrap="square" lIns="0" tIns="0" rIns="0" bIns="0" rtlCol="0" anchor="t">
            <a:normAutofit/>
          </a:bodyPr>
          <a:lstStyle/>
          <a:p>
            <a:pPr marL="0" indent="0" algn="l">
              <a:lnSpc>
                <a:spcPct val="100000"/>
              </a:lnSpc>
              <a:buNone/>
            </a:pPr>
            <a:r>
              <a:rPr lang="en-US" sz="1850" kern="0" spc="-9" dirty="0">
                <a:solidFill>
                  <a:srgbClr val="051D3A"/>
                </a:solidFill>
                <a:latin typeface="Funnel Sans SemiBold" pitchFamily="34" charset="0"/>
                <a:ea typeface="Funnel Sans SemiBold" pitchFamily="34" charset="-122"/>
                <a:cs typeface="Funnel Sans SemiBold" pitchFamily="34" charset="-120"/>
              </a:rPr>
              <a:t>We propose a video-based tool that turns these observations into feedback a user can check.</a:t>
            </a:r>
            <a:endParaRPr lang="en-US" sz="1850" dirty="0"/>
          </a:p>
        </p:txBody>
      </p:sp>
      <p:sp>
        <p:nvSpPr>
          <p:cNvPr id="8" name="Shape 6"/>
          <p:cNvSpPr/>
          <p:nvPr/>
        </p:nvSpPr>
        <p:spPr>
          <a:xfrm>
            <a:off x="7594410" y="1121370"/>
            <a:ext cx="4038499" cy="2038747"/>
          </a:xfrm>
          <a:prstGeom prst="roundRect">
            <a:avLst>
              <a:gd name="adj" fmla="val 4317"/>
            </a:avLst>
          </a:prstGeom>
          <a:solidFill>
            <a:srgbClr val="FFFCF6"/>
          </a:solidFill>
          <a:effectLst>
            <a:outerShdw blurRad="379730" dist="151130" dir="5400000" algn="bl" rotWithShape="0">
              <a:srgbClr val="6A4FC8">
                <a:alpha val="40000"/>
              </a:srgbClr>
            </a:outerShdw>
          </a:effectLst>
        </p:spPr>
      </p:sp>
      <p:sp>
        <p:nvSpPr>
          <p:cNvPr id="9" name="Text 7"/>
          <p:cNvSpPr/>
          <p:nvPr/>
        </p:nvSpPr>
        <p:spPr>
          <a:xfrm>
            <a:off x="7899202" y="1400770"/>
            <a:ext cx="3733707" cy="190500"/>
          </a:xfrm>
          <a:prstGeom prst="rect">
            <a:avLst/>
          </a:prstGeom>
          <a:noFill/>
        </p:spPr>
        <p:txBody>
          <a:bodyPr wrap="none" lIns="0" tIns="0" rIns="0" bIns="0" rtlCol="0" anchor="t"/>
          <a:lstStyle/>
          <a:p>
            <a:pPr marL="0" indent="0" algn="l">
              <a:lnSpc>
                <a:spcPct val="104000"/>
              </a:lnSpc>
              <a:buNone/>
            </a:pPr>
            <a:r>
              <a:rPr lang="en-US" sz="1200" b="1" kern="0" spc="96" dirty="0">
                <a:solidFill>
                  <a:srgbClr val="B8367F"/>
                </a:solidFill>
                <a:latin typeface="Funnel Sans Bold" pitchFamily="34" charset="0"/>
                <a:ea typeface="Funnel Sans Bold" pitchFamily="34" charset="-122"/>
                <a:cs typeface="Funnel Sans Bold" pitchFamily="34" charset="-120"/>
              </a:rPr>
              <a:t>THE CHALLENGE</a:t>
            </a:r>
            <a:endParaRPr lang="en-US" sz="1200" dirty="0"/>
          </a:p>
        </p:txBody>
      </p:sp>
      <p:sp>
        <p:nvSpPr>
          <p:cNvPr id="10" name="Text 8"/>
          <p:cNvSpPr/>
          <p:nvPr/>
        </p:nvSpPr>
        <p:spPr>
          <a:xfrm>
            <a:off x="7899202" y="1676995"/>
            <a:ext cx="3428914" cy="579041"/>
          </a:xfrm>
          <a:prstGeom prst="rect">
            <a:avLst/>
          </a:prstGeom>
          <a:noFill/>
        </p:spPr>
        <p:txBody>
          <a:bodyPr wrap="square" lIns="0" tIns="0" rIns="0" bIns="0" rtlCol="0" anchor="t">
            <a:normAutofit/>
          </a:bodyPr>
          <a:lstStyle/>
          <a:p>
            <a:pPr marL="0" indent="0" algn="l">
              <a:lnSpc>
                <a:spcPct val="100000"/>
              </a:lnSpc>
              <a:buNone/>
            </a:pPr>
            <a:r>
              <a:rPr lang="en-US" sz="1900" kern="0" spc="-9" dirty="0">
                <a:solidFill>
                  <a:srgbClr val="2B3541"/>
                </a:solidFill>
                <a:latin typeface="Funnel Sans SemiBold" pitchFamily="34" charset="0"/>
                <a:ea typeface="Funnel Sans SemiBold" pitchFamily="34" charset="-122"/>
                <a:cs typeface="Funnel Sans SemiBold" pitchFamily="34" charset="-120"/>
              </a:rPr>
              <a:t>Similar hand movements can look almost identical.</a:t>
            </a:r>
            <a:endParaRPr lang="en-US" sz="1900" dirty="0"/>
          </a:p>
        </p:txBody>
      </p:sp>
      <p:sp>
        <p:nvSpPr>
          <p:cNvPr id="11" name="Text 9"/>
          <p:cNvSpPr/>
          <p:nvPr/>
        </p:nvSpPr>
        <p:spPr>
          <a:xfrm>
            <a:off x="7899202" y="2383036"/>
            <a:ext cx="3428914" cy="497681"/>
          </a:xfrm>
          <a:prstGeom prst="rect">
            <a:avLst/>
          </a:prstGeom>
          <a:noFill/>
        </p:spPr>
        <p:txBody>
          <a:bodyPr wrap="square" lIns="0" tIns="0" rIns="0" bIns="0" rtlCol="0" anchor="t">
            <a:normAutofit/>
          </a:bodyPr>
          <a:lstStyle/>
          <a:p>
            <a:pPr marL="0" indent="0" algn="l">
              <a:lnSpc>
                <a:spcPct val="117000"/>
              </a:lnSpc>
              <a:buNone/>
            </a:pPr>
            <a:r>
              <a:rPr lang="en-US" sz="1400" dirty="0">
                <a:solidFill>
                  <a:srgbClr val="2B3541"/>
                </a:solidFill>
                <a:latin typeface="Funnel Sans" pitchFamily="34" charset="0"/>
                <a:ea typeface="Funnel Sans" pitchFamily="34" charset="-122"/>
                <a:cs typeface="Funnel Sans" pitchFamily="34" charset="-120"/>
              </a:rPr>
              <a:t>Hands may overlap, and people may skip or repeat a step.</a:t>
            </a:r>
            <a:endParaRPr lang="en-US" sz="1400" dirty="0"/>
          </a:p>
        </p:txBody>
      </p:sp>
      <p:pic>
        <p:nvPicPr>
          <p:cNvPr id="12" name="Image 0" descr="preencoded.png"/>
          <p:cNvPicPr>
            <a:picLocks noChangeAspect="1"/>
          </p:cNvPicPr>
          <p:nvPr/>
        </p:nvPicPr>
        <p:blipFill>
          <a:blip r:embed="rId1"/>
          <a:stretch>
            <a:fillRect/>
          </a:stretch>
        </p:blipFill>
        <p:spPr>
          <a:xfrm>
            <a:off x="7594410" y="3464917"/>
            <a:ext cx="4038499" cy="2271713"/>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5EB"/>
          </a:solidFill>
        </p:spPr>
      </p:sp>
      <p:sp>
        <p:nvSpPr>
          <p:cNvPr id="3" name="Text 1"/>
          <p:cNvSpPr/>
          <p:nvPr/>
        </p:nvSpPr>
        <p:spPr>
          <a:xfrm>
            <a:off x="660383" y="508000"/>
            <a:ext cx="11480513" cy="190500"/>
          </a:xfrm>
          <a:prstGeom prst="rect">
            <a:avLst/>
          </a:prstGeom>
          <a:noFill/>
        </p:spPr>
        <p:txBody>
          <a:bodyPr wrap="none" lIns="0" tIns="0" rIns="0" bIns="0" rtlCol="0" anchor="t"/>
          <a:lstStyle/>
          <a:p>
            <a:pPr marL="0" indent="0" algn="l">
              <a:lnSpc>
                <a:spcPct val="104000"/>
              </a:lnSpc>
              <a:buNone/>
            </a:pPr>
            <a:r>
              <a:rPr lang="en-US" sz="1200" kern="0" spc="96" dirty="0">
                <a:solidFill>
                  <a:srgbClr val="8A3FA8"/>
                </a:solidFill>
                <a:latin typeface="Funnel Sans SemiBold" pitchFamily="34" charset="0"/>
                <a:ea typeface="Funnel Sans SemiBold" pitchFamily="34" charset="-122"/>
                <a:cs typeface="Funnel Sans SemiBold" pitchFamily="34" charset="-120"/>
              </a:rPr>
              <a:t>PROJECT SCOPE</a:t>
            </a:r>
            <a:endParaRPr lang="en-US" sz="1200" dirty="0"/>
          </a:p>
        </p:txBody>
      </p:sp>
      <p:sp>
        <p:nvSpPr>
          <p:cNvPr id="4" name="Text 2"/>
          <p:cNvSpPr/>
          <p:nvPr/>
        </p:nvSpPr>
        <p:spPr>
          <a:xfrm>
            <a:off x="660383" y="784225"/>
            <a:ext cx="10870928" cy="484584"/>
          </a:xfrm>
          <a:prstGeom prst="rect">
            <a:avLst/>
          </a:prstGeom>
          <a:noFill/>
        </p:spPr>
        <p:txBody>
          <a:bodyPr wrap="none" lIns="0" tIns="0" rIns="0" bIns="0" rtlCol="0" anchor="t"/>
          <a:lstStyle/>
          <a:p>
            <a:pPr marL="0" indent="0" algn="l">
              <a:lnSpc>
                <a:spcPct val="88000"/>
              </a:lnSpc>
              <a:buNone/>
            </a:pPr>
            <a:r>
              <a:rPr lang="en-US" sz="3600" b="1" kern="0" spc="-36" dirty="0">
                <a:solidFill>
                  <a:srgbClr val="051D3A"/>
                </a:solidFill>
                <a:latin typeface="Funnel Display Bold" pitchFamily="34" charset="0"/>
                <a:ea typeface="Funnel Display Bold" pitchFamily="34" charset="-122"/>
                <a:cs typeface="Funnel Display Bold" pitchFamily="34" charset="-120"/>
              </a:rPr>
              <a:t>What the project aims to deliver</a:t>
            </a:r>
            <a:endParaRPr lang="en-US" sz="3600" dirty="0"/>
          </a:p>
        </p:txBody>
      </p:sp>
      <p:sp>
        <p:nvSpPr>
          <p:cNvPr id="5" name="Shape 3"/>
          <p:cNvSpPr/>
          <p:nvPr/>
        </p:nvSpPr>
        <p:spPr>
          <a:xfrm>
            <a:off x="660383" y="1625203"/>
            <a:ext cx="5283068" cy="2343745"/>
          </a:xfrm>
          <a:prstGeom prst="roundRect">
            <a:avLst>
              <a:gd name="adj" fmla="val 3755"/>
            </a:avLst>
          </a:prstGeom>
          <a:solidFill>
            <a:srgbClr val="FFFCF6"/>
          </a:solidFill>
          <a:effectLst>
            <a:outerShdw blurRad="379730" dist="151130" dir="5400000" algn="bl" rotWithShape="0">
              <a:srgbClr val="6A4FC8">
                <a:alpha val="40000"/>
              </a:srgbClr>
            </a:outerShdw>
          </a:effectLst>
        </p:spPr>
      </p:sp>
      <p:sp>
        <p:nvSpPr>
          <p:cNvPr id="6" name="Text 4"/>
          <p:cNvSpPr/>
          <p:nvPr/>
        </p:nvSpPr>
        <p:spPr>
          <a:xfrm>
            <a:off x="1015975" y="1955403"/>
            <a:ext cx="4927477" cy="190500"/>
          </a:xfrm>
          <a:prstGeom prst="rect">
            <a:avLst/>
          </a:prstGeom>
          <a:noFill/>
        </p:spPr>
        <p:txBody>
          <a:bodyPr wrap="none" lIns="0" tIns="0" rIns="0" bIns="0" rtlCol="0" anchor="t"/>
          <a:lstStyle/>
          <a:p>
            <a:pPr marL="0" indent="0" algn="l">
              <a:lnSpc>
                <a:spcPct val="104000"/>
              </a:lnSpc>
              <a:buNone/>
            </a:pPr>
            <a:r>
              <a:rPr lang="en-US" sz="1200" kern="0" spc="96" dirty="0">
                <a:solidFill>
                  <a:srgbClr val="B8367F"/>
                </a:solidFill>
                <a:latin typeface="Funnel Sans SemiBold" pitchFamily="34" charset="0"/>
                <a:ea typeface="Funnel Sans SemiBold" pitchFamily="34" charset="-122"/>
                <a:cs typeface="Funnel Sans SemiBold" pitchFamily="34" charset="-120"/>
              </a:rPr>
              <a:t>CORE OUTPUT 01</a:t>
            </a:r>
            <a:endParaRPr lang="en-US" sz="1200" dirty="0"/>
          </a:p>
        </p:txBody>
      </p:sp>
      <p:sp>
        <p:nvSpPr>
          <p:cNvPr id="7" name="Text 5"/>
          <p:cNvSpPr/>
          <p:nvPr/>
        </p:nvSpPr>
        <p:spPr>
          <a:xfrm>
            <a:off x="1015975" y="2231628"/>
            <a:ext cx="4571886" cy="365720"/>
          </a:xfrm>
          <a:prstGeom prst="rect">
            <a:avLst/>
          </a:prstGeom>
          <a:noFill/>
        </p:spPr>
        <p:txBody>
          <a:bodyPr wrap="none" lIns="0" tIns="0" rIns="0" bIns="0" rtlCol="0" anchor="t"/>
          <a:lstStyle/>
          <a:p>
            <a:pPr marL="0" indent="0" algn="l">
              <a:lnSpc>
                <a:spcPct val="100000"/>
              </a:lnSpc>
              <a:buNone/>
            </a:pPr>
            <a:r>
              <a:rPr lang="en-US" sz="2400" b="1" kern="0" spc="-12" dirty="0">
                <a:solidFill>
                  <a:srgbClr val="2B3541"/>
                </a:solidFill>
                <a:latin typeface="Funnel Sans Bold" pitchFamily="34" charset="0"/>
                <a:ea typeface="Funnel Sans Bold" pitchFamily="34" charset="-122"/>
                <a:cs typeface="Funnel Sans Bold" pitchFamily="34" charset="-120"/>
              </a:rPr>
              <a:t>An action timeline</a:t>
            </a:r>
            <a:endParaRPr lang="en-US" sz="2400" dirty="0"/>
          </a:p>
        </p:txBody>
      </p:sp>
      <p:sp>
        <p:nvSpPr>
          <p:cNvPr id="8" name="Text 6"/>
          <p:cNvSpPr/>
          <p:nvPr/>
        </p:nvSpPr>
        <p:spPr>
          <a:xfrm>
            <a:off x="1015975" y="2724348"/>
            <a:ext cx="4571886" cy="609600"/>
          </a:xfrm>
          <a:prstGeom prst="rect">
            <a:avLst/>
          </a:prstGeom>
          <a:noFill/>
        </p:spPr>
        <p:txBody>
          <a:bodyPr wrap="square" lIns="0" tIns="0" rIns="0" bIns="0" rtlCol="0" anchor="t">
            <a:normAutofit/>
          </a:bodyPr>
          <a:lstStyle/>
          <a:p>
            <a:pPr marL="0" indent="0" algn="l">
              <a:lnSpc>
                <a:spcPct val="100000"/>
              </a:lnSpc>
              <a:buNone/>
            </a:pPr>
            <a:r>
              <a:rPr lang="en-US" sz="2000" kern="0" spc="-10" dirty="0">
                <a:solidFill>
                  <a:srgbClr val="2B3541"/>
                </a:solidFill>
                <a:latin typeface="Funnel Sans SemiBold" pitchFamily="34" charset="0"/>
                <a:ea typeface="Funnel Sans SemiBold" pitchFamily="34" charset="-122"/>
                <a:cs typeface="Funnel Sans SemiBold" pitchFamily="34" charset="-120"/>
              </a:rPr>
              <a:t>Identify each washing action and its start and end time.</a:t>
            </a:r>
            <a:endParaRPr lang="en-US" sz="2000" dirty="0"/>
          </a:p>
        </p:txBody>
      </p:sp>
      <p:sp>
        <p:nvSpPr>
          <p:cNvPr id="9" name="Shape 7"/>
          <p:cNvSpPr/>
          <p:nvPr/>
        </p:nvSpPr>
        <p:spPr>
          <a:xfrm>
            <a:off x="6248244" y="1625203"/>
            <a:ext cx="5283068" cy="2343745"/>
          </a:xfrm>
          <a:prstGeom prst="roundRect">
            <a:avLst>
              <a:gd name="adj" fmla="val 3755"/>
            </a:avLst>
          </a:prstGeom>
          <a:solidFill>
            <a:srgbClr val="FFFCF6"/>
          </a:solidFill>
          <a:effectLst>
            <a:outerShdw blurRad="379730" dist="151130" dir="5400000" algn="bl" rotWithShape="0">
              <a:srgbClr val="6A4FC8">
                <a:alpha val="40000"/>
              </a:srgbClr>
            </a:outerShdw>
          </a:effectLst>
        </p:spPr>
      </p:sp>
      <p:sp>
        <p:nvSpPr>
          <p:cNvPr id="10" name="Text 8"/>
          <p:cNvSpPr/>
          <p:nvPr/>
        </p:nvSpPr>
        <p:spPr>
          <a:xfrm>
            <a:off x="6603835" y="1955403"/>
            <a:ext cx="4927477" cy="190500"/>
          </a:xfrm>
          <a:prstGeom prst="rect">
            <a:avLst/>
          </a:prstGeom>
          <a:noFill/>
        </p:spPr>
        <p:txBody>
          <a:bodyPr wrap="none" lIns="0" tIns="0" rIns="0" bIns="0" rtlCol="0" anchor="t"/>
          <a:lstStyle/>
          <a:p>
            <a:pPr marL="0" indent="0" algn="l">
              <a:lnSpc>
                <a:spcPct val="104000"/>
              </a:lnSpc>
              <a:buNone/>
            </a:pPr>
            <a:r>
              <a:rPr lang="en-US" sz="1200" kern="0" spc="96" dirty="0">
                <a:solidFill>
                  <a:srgbClr val="B8367F"/>
                </a:solidFill>
                <a:latin typeface="Funnel Sans SemiBold" pitchFamily="34" charset="0"/>
                <a:ea typeface="Funnel Sans SemiBold" pitchFamily="34" charset="-122"/>
                <a:cs typeface="Funnel Sans SemiBold" pitchFamily="34" charset="-120"/>
              </a:rPr>
              <a:t>CORE OUTPUT 02</a:t>
            </a:r>
            <a:endParaRPr lang="en-US" sz="1200" dirty="0"/>
          </a:p>
        </p:txBody>
      </p:sp>
      <p:sp>
        <p:nvSpPr>
          <p:cNvPr id="11" name="Text 9"/>
          <p:cNvSpPr/>
          <p:nvPr/>
        </p:nvSpPr>
        <p:spPr>
          <a:xfrm>
            <a:off x="6603835" y="2231628"/>
            <a:ext cx="4571886" cy="365720"/>
          </a:xfrm>
          <a:prstGeom prst="rect">
            <a:avLst/>
          </a:prstGeom>
          <a:noFill/>
        </p:spPr>
        <p:txBody>
          <a:bodyPr wrap="none" lIns="0" tIns="0" rIns="0" bIns="0" rtlCol="0" anchor="t"/>
          <a:lstStyle/>
          <a:p>
            <a:pPr marL="0" indent="0" algn="l">
              <a:lnSpc>
                <a:spcPct val="100000"/>
              </a:lnSpc>
              <a:buNone/>
            </a:pPr>
            <a:r>
              <a:rPr lang="en-US" sz="2400" b="1" kern="0" spc="-12" dirty="0">
                <a:solidFill>
                  <a:srgbClr val="2B3541"/>
                </a:solidFill>
                <a:latin typeface="Funnel Sans Bold" pitchFamily="34" charset="0"/>
                <a:ea typeface="Funnel Sans Bold" pitchFamily="34" charset="-122"/>
                <a:cs typeface="Funnel Sans Bold" pitchFamily="34" charset="-120"/>
              </a:rPr>
              <a:t>A clear explanation</a:t>
            </a:r>
            <a:endParaRPr lang="en-US" sz="2400" dirty="0"/>
          </a:p>
        </p:txBody>
      </p:sp>
      <p:sp>
        <p:nvSpPr>
          <p:cNvPr id="12" name="Text 10"/>
          <p:cNvSpPr/>
          <p:nvPr/>
        </p:nvSpPr>
        <p:spPr>
          <a:xfrm>
            <a:off x="6603835" y="2724348"/>
            <a:ext cx="4571886" cy="914400"/>
          </a:xfrm>
          <a:prstGeom prst="rect">
            <a:avLst/>
          </a:prstGeom>
          <a:noFill/>
        </p:spPr>
        <p:txBody>
          <a:bodyPr wrap="square" lIns="0" tIns="0" rIns="0" bIns="0" rtlCol="0" anchor="t">
            <a:normAutofit/>
          </a:bodyPr>
          <a:lstStyle/>
          <a:p>
            <a:pPr marL="0" indent="0" algn="l">
              <a:lnSpc>
                <a:spcPct val="100000"/>
              </a:lnSpc>
              <a:buNone/>
            </a:pPr>
            <a:r>
              <a:rPr lang="en-US" sz="2000" kern="0" spc="-10" dirty="0">
                <a:solidFill>
                  <a:srgbClr val="2B3541"/>
                </a:solidFill>
                <a:latin typeface="Funnel Sans SemiBold" pitchFamily="34" charset="0"/>
                <a:ea typeface="Funnel Sans SemiBold" pitchFamily="34" charset="-122"/>
                <a:cs typeface="Funnel Sans SemiBold" pitchFamily="34" charset="-120"/>
              </a:rPr>
              <a:t>Show step coverage and duration. Answer questions with references to the relevant video intervals.</a:t>
            </a:r>
            <a:endParaRPr lang="en-US" sz="2000" dirty="0"/>
          </a:p>
        </p:txBody>
      </p:sp>
      <p:sp>
        <p:nvSpPr>
          <p:cNvPr id="13" name="Shape 11"/>
          <p:cNvSpPr/>
          <p:nvPr/>
        </p:nvSpPr>
        <p:spPr>
          <a:xfrm>
            <a:off x="660383" y="4197548"/>
            <a:ext cx="10870928" cy="1796058"/>
          </a:xfrm>
          <a:prstGeom prst="roundRect">
            <a:avLst>
              <a:gd name="adj" fmla="val 4900"/>
            </a:avLst>
          </a:prstGeom>
          <a:solidFill>
            <a:srgbClr val="FFFCF6"/>
          </a:solidFill>
          <a:effectLst>
            <a:outerShdw blurRad="379730" dist="151130" dir="5400000" algn="bl" rotWithShape="0">
              <a:srgbClr val="6A4FC8">
                <a:alpha val="40000"/>
              </a:srgbClr>
            </a:outerShdw>
          </a:effectLst>
        </p:spPr>
      </p:sp>
      <p:sp>
        <p:nvSpPr>
          <p:cNvPr id="14" name="Text 12"/>
          <p:cNvSpPr/>
          <p:nvPr/>
        </p:nvSpPr>
        <p:spPr>
          <a:xfrm>
            <a:off x="1015975" y="4451548"/>
            <a:ext cx="10515337" cy="190500"/>
          </a:xfrm>
          <a:prstGeom prst="rect">
            <a:avLst/>
          </a:prstGeom>
          <a:noFill/>
        </p:spPr>
        <p:txBody>
          <a:bodyPr wrap="none" lIns="0" tIns="0" rIns="0" bIns="0" rtlCol="0" anchor="t"/>
          <a:lstStyle/>
          <a:p>
            <a:pPr marL="0" indent="0" algn="l">
              <a:lnSpc>
                <a:spcPct val="104000"/>
              </a:lnSpc>
              <a:buNone/>
            </a:pPr>
            <a:r>
              <a:rPr lang="en-US" sz="1200" b="1" kern="0" spc="96" dirty="0">
                <a:solidFill>
                  <a:srgbClr val="B8367F"/>
                </a:solidFill>
                <a:latin typeface="Funnel Sans Bold" pitchFamily="34" charset="0"/>
                <a:ea typeface="Funnel Sans Bold" pitchFamily="34" charset="-122"/>
                <a:cs typeface="Funnel Sans Bold" pitchFamily="34" charset="-120"/>
              </a:rPr>
              <a:t>THE RESEARCH QUESTION</a:t>
            </a:r>
            <a:endParaRPr lang="en-US" sz="1200" dirty="0"/>
          </a:p>
        </p:txBody>
      </p:sp>
      <p:sp>
        <p:nvSpPr>
          <p:cNvPr id="15" name="Text 13"/>
          <p:cNvSpPr/>
          <p:nvPr/>
        </p:nvSpPr>
        <p:spPr>
          <a:xfrm>
            <a:off x="1015975" y="4727773"/>
            <a:ext cx="10159746" cy="670520"/>
          </a:xfrm>
          <a:prstGeom prst="rect">
            <a:avLst/>
          </a:prstGeom>
          <a:noFill/>
        </p:spPr>
        <p:txBody>
          <a:bodyPr wrap="square" lIns="0" tIns="0" rIns="0" bIns="0" rtlCol="0" anchor="t">
            <a:normAutofit/>
          </a:bodyPr>
          <a:lstStyle/>
          <a:p>
            <a:pPr marL="0" indent="0" algn="l">
              <a:lnSpc>
                <a:spcPct val="100000"/>
              </a:lnSpc>
              <a:buNone/>
            </a:pPr>
            <a:r>
              <a:rPr lang="en-US" sz="2200" kern="0" spc="-11" dirty="0">
                <a:solidFill>
                  <a:srgbClr val="2B3541"/>
                </a:solidFill>
                <a:latin typeface="Funnel Sans SemiBold" pitchFamily="34" charset="0"/>
                <a:ea typeface="Funnel Sans SemiBold" pitchFamily="34" charset="-122"/>
                <a:cs typeface="Funnel Sans SemiBold" pitchFamily="34" charset="-120"/>
              </a:rPr>
              <a:t>Can temporal context make fine-grained action recognition more reliable, including in a different recording setting?</a:t>
            </a:r>
            <a:endParaRPr lang="en-US" sz="2200" dirty="0"/>
          </a:p>
        </p:txBody>
      </p:sp>
      <p:sp>
        <p:nvSpPr>
          <p:cNvPr id="16" name="Text 14"/>
          <p:cNvSpPr/>
          <p:nvPr/>
        </p:nvSpPr>
        <p:spPr>
          <a:xfrm>
            <a:off x="1015975" y="5525294"/>
            <a:ext cx="10515337" cy="214313"/>
          </a:xfrm>
          <a:prstGeom prst="rect">
            <a:avLst/>
          </a:prstGeom>
          <a:noFill/>
        </p:spPr>
        <p:txBody>
          <a:bodyPr wrap="none" lIns="0" tIns="0" rIns="0" bIns="0" rtlCol="0" anchor="t"/>
          <a:lstStyle/>
          <a:p>
            <a:pPr marL="0" indent="0" algn="l">
              <a:lnSpc>
                <a:spcPct val="112000"/>
              </a:lnSpc>
              <a:buNone/>
            </a:pPr>
            <a:r>
              <a:rPr lang="en-US" sz="1250" dirty="0">
                <a:solidFill>
                  <a:srgbClr val="4A5563"/>
                </a:solidFill>
                <a:latin typeface="Funnel Sans" pitchFamily="34" charset="0"/>
                <a:ea typeface="Funnel Sans" pitchFamily="34" charset="-122"/>
                <a:cs typeface="Funnel Sans" pitchFamily="34" charset="-120"/>
              </a:rPr>
              <a:t>Recognition target: Macro-F1 ≥ 0.80 on held-out PSKUS videos. This is a goal, not a result.</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5EB"/>
          </a:solidFill>
        </p:spPr>
      </p:sp>
      <p:pic>
        <p:nvPicPr>
          <p:cNvPr id="3" name="Image 0" descr="preencoded.png"/>
          <p:cNvPicPr>
            <a:picLocks noChangeAspect="1"/>
          </p:cNvPicPr>
          <p:nvPr/>
        </p:nvPicPr>
        <p:blipFill>
          <a:blip r:embed="rId1"/>
          <a:stretch>
            <a:fillRect/>
          </a:stretch>
        </p:blipFill>
        <p:spPr>
          <a:xfrm>
            <a:off x="0" y="0"/>
            <a:ext cx="3566130" cy="6858000"/>
          </a:xfrm>
          <a:prstGeom prst="rect">
            <a:avLst/>
          </a:prstGeom>
        </p:spPr>
      </p:pic>
      <p:sp>
        <p:nvSpPr>
          <p:cNvPr id="4" name="Text 1"/>
          <p:cNvSpPr/>
          <p:nvPr/>
        </p:nvSpPr>
        <p:spPr>
          <a:xfrm>
            <a:off x="4404210" y="731937"/>
            <a:ext cx="7787485" cy="190500"/>
          </a:xfrm>
          <a:prstGeom prst="rect">
            <a:avLst/>
          </a:prstGeom>
          <a:noFill/>
        </p:spPr>
        <p:txBody>
          <a:bodyPr wrap="none" lIns="0" tIns="0" rIns="0" bIns="0" rtlCol="0" anchor="t"/>
          <a:lstStyle/>
          <a:p>
            <a:pPr marL="0" indent="0" algn="l">
              <a:lnSpc>
                <a:spcPct val="104000"/>
              </a:lnSpc>
              <a:buNone/>
            </a:pPr>
            <a:r>
              <a:rPr lang="en-US" sz="1200" kern="0" spc="96" dirty="0">
                <a:solidFill>
                  <a:srgbClr val="8A3FA8"/>
                </a:solidFill>
                <a:latin typeface="Funnel Sans SemiBold" pitchFamily="34" charset="0"/>
                <a:ea typeface="Funnel Sans SemiBold" pitchFamily="34" charset="-122"/>
                <a:cs typeface="Funnel Sans SemiBold" pitchFamily="34" charset="-120"/>
              </a:rPr>
              <a:t>BENCHMARK DATASETS</a:t>
            </a:r>
            <a:endParaRPr lang="en-US" sz="1200" dirty="0"/>
          </a:p>
        </p:txBody>
      </p:sp>
      <p:sp>
        <p:nvSpPr>
          <p:cNvPr id="5" name="Text 2"/>
          <p:cNvSpPr/>
          <p:nvPr/>
        </p:nvSpPr>
        <p:spPr>
          <a:xfrm>
            <a:off x="4404210" y="1008162"/>
            <a:ext cx="7330296" cy="969169"/>
          </a:xfrm>
          <a:prstGeom prst="rect">
            <a:avLst/>
          </a:prstGeom>
          <a:noFill/>
        </p:spPr>
        <p:txBody>
          <a:bodyPr wrap="square" lIns="0" tIns="0" rIns="0" bIns="0" rtlCol="0" anchor="t">
            <a:normAutofit/>
          </a:bodyPr>
          <a:lstStyle/>
          <a:p>
            <a:pPr marL="0" indent="0" algn="l">
              <a:lnSpc>
                <a:spcPct val="88000"/>
              </a:lnSpc>
              <a:buNone/>
            </a:pPr>
            <a:r>
              <a:rPr lang="en-US" sz="3600" b="1" kern="0" spc="-36" dirty="0">
                <a:solidFill>
                  <a:srgbClr val="051D3A"/>
                </a:solidFill>
                <a:latin typeface="Funnel Display Bold" pitchFamily="34" charset="0"/>
                <a:ea typeface="Funnel Display Bold" pitchFamily="34" charset="-122"/>
                <a:cs typeface="Funnel Display Bold" pitchFamily="34" charset="-120"/>
              </a:rPr>
              <a:t>Data for learning and independent testing</a:t>
            </a:r>
            <a:endParaRPr lang="en-US" sz="3600" dirty="0"/>
          </a:p>
        </p:txBody>
      </p:sp>
      <p:sp>
        <p:nvSpPr>
          <p:cNvPr id="6" name="Shape 3"/>
          <p:cNvSpPr/>
          <p:nvPr/>
        </p:nvSpPr>
        <p:spPr>
          <a:xfrm>
            <a:off x="4404210" y="2183705"/>
            <a:ext cx="3512752" cy="3942358"/>
          </a:xfrm>
          <a:prstGeom prst="roundRect">
            <a:avLst>
              <a:gd name="adj" fmla="val 2505"/>
            </a:avLst>
          </a:prstGeom>
          <a:solidFill>
            <a:srgbClr val="FFFCF6"/>
          </a:solidFill>
          <a:effectLst>
            <a:outerShdw blurRad="379730" dist="151130" dir="5400000" algn="bl" rotWithShape="0">
              <a:srgbClr val="6A4FC8">
                <a:alpha val="40000"/>
              </a:srgbClr>
            </a:outerShdw>
          </a:effectLst>
        </p:spPr>
      </p:sp>
      <p:sp>
        <p:nvSpPr>
          <p:cNvPr id="7" name="Text 4"/>
          <p:cNvSpPr/>
          <p:nvPr/>
        </p:nvSpPr>
        <p:spPr>
          <a:xfrm>
            <a:off x="4632804" y="2386905"/>
            <a:ext cx="3055563" cy="670520"/>
          </a:xfrm>
          <a:prstGeom prst="rect">
            <a:avLst/>
          </a:prstGeom>
          <a:noFill/>
        </p:spPr>
        <p:txBody>
          <a:bodyPr wrap="square" lIns="0" tIns="0" rIns="0" bIns="0" rtlCol="0" anchor="t">
            <a:normAutofit/>
          </a:bodyPr>
          <a:lstStyle/>
          <a:p>
            <a:pPr marL="0" indent="0" algn="l">
              <a:lnSpc>
                <a:spcPct val="100000"/>
              </a:lnSpc>
              <a:buNone/>
            </a:pPr>
            <a:r>
              <a:rPr lang="en-US" sz="2200" b="1" kern="0" spc="-11" dirty="0">
                <a:solidFill>
                  <a:srgbClr val="B8367F"/>
                </a:solidFill>
                <a:latin typeface="Funnel Sans Bold" pitchFamily="34" charset="0"/>
                <a:ea typeface="Funnel Sans Bold" pitchFamily="34" charset="-122"/>
                <a:cs typeface="Funnel Sans Bold" pitchFamily="34" charset="-120"/>
              </a:rPr>
              <a:t>Learn from hospital routines</a:t>
            </a:r>
            <a:endParaRPr lang="en-US" sz="2200" dirty="0"/>
          </a:p>
        </p:txBody>
      </p:sp>
      <p:sp>
        <p:nvSpPr>
          <p:cNvPr id="8" name="Text 5"/>
          <p:cNvSpPr/>
          <p:nvPr/>
        </p:nvSpPr>
        <p:spPr>
          <a:xfrm>
            <a:off x="4632804" y="3206651"/>
            <a:ext cx="3055563" cy="1759744"/>
          </a:xfrm>
          <a:prstGeom prst="rect">
            <a:avLst/>
          </a:prstGeom>
          <a:noFill/>
        </p:spPr>
        <p:txBody>
          <a:bodyPr wrap="square" lIns="0" tIns="0" rIns="0" bIns="0" rtlCol="0" anchor="t">
            <a:normAutofit/>
          </a:bodyPr>
          <a:lstStyle/>
          <a:p>
            <a:pPr marL="0" indent="0" algn="l">
              <a:lnSpc>
                <a:spcPct val="117000"/>
              </a:lnSpc>
              <a:buNone/>
            </a:pPr>
            <a:r>
              <a:rPr lang="en-US" sz="1650" dirty="0">
                <a:solidFill>
                  <a:srgbClr val="2B3541"/>
                </a:solidFill>
                <a:latin typeface="Funnel Sans" pitchFamily="34" charset="0"/>
                <a:ea typeface="Funnel Sans" pitchFamily="34" charset="-122"/>
                <a:cs typeface="Funnel Sans" pitchFamily="34" charset="-120"/>
              </a:rPr>
              <a:t>PSKUS provides real hospital videos with action labels for individual frames. We will use it to train the model and check performance on videos excluded from training.</a:t>
            </a:r>
            <a:endParaRPr lang="en-US" sz="1650" dirty="0"/>
          </a:p>
        </p:txBody>
      </p:sp>
      <p:sp>
        <p:nvSpPr>
          <p:cNvPr id="9" name="Text 6"/>
          <p:cNvSpPr/>
          <p:nvPr/>
        </p:nvSpPr>
        <p:spPr>
          <a:xfrm>
            <a:off x="4632804" y="5153720"/>
            <a:ext cx="3055563" cy="348456"/>
          </a:xfrm>
          <a:prstGeom prst="rect">
            <a:avLst/>
          </a:prstGeom>
          <a:noFill/>
        </p:spPr>
        <p:txBody>
          <a:bodyPr wrap="none" lIns="0" tIns="0" rIns="0" bIns="0" rtlCol="0" anchor="t"/>
          <a:lstStyle/>
          <a:p>
            <a:pPr marL="0" indent="0" algn="l">
              <a:lnSpc>
                <a:spcPct val="82000"/>
              </a:lnSpc>
              <a:buNone/>
            </a:pPr>
            <a:r>
              <a:rPr lang="en-US" sz="2800" kern="0" spc="-70" dirty="0">
                <a:solidFill>
                  <a:srgbClr val="051D3A"/>
                </a:solidFill>
                <a:latin typeface="Funnel Display Medium" pitchFamily="34" charset="0"/>
                <a:ea typeface="Funnel Display Medium" pitchFamily="34" charset="-122"/>
                <a:cs typeface="Funnel Display Medium" pitchFamily="34" charset="-120"/>
              </a:rPr>
              <a:t>3,185</a:t>
            </a:r>
            <a:endParaRPr lang="en-US" sz="2800" dirty="0"/>
          </a:p>
        </p:txBody>
      </p:sp>
      <p:sp>
        <p:nvSpPr>
          <p:cNvPr id="10" name="Text 7"/>
          <p:cNvSpPr/>
          <p:nvPr/>
        </p:nvSpPr>
        <p:spPr>
          <a:xfrm>
            <a:off x="4632804" y="5708551"/>
            <a:ext cx="3284158" cy="214313"/>
          </a:xfrm>
          <a:prstGeom prst="rect">
            <a:avLst/>
          </a:prstGeom>
          <a:noFill/>
        </p:spPr>
        <p:txBody>
          <a:bodyPr wrap="none" lIns="0" tIns="0" rIns="0" bIns="0" rtlCol="0" anchor="t"/>
          <a:lstStyle/>
          <a:p>
            <a:pPr marL="0" indent="0" algn="l">
              <a:lnSpc>
                <a:spcPct val="112000"/>
              </a:lnSpc>
              <a:buNone/>
            </a:pPr>
            <a:r>
              <a:rPr lang="en-US" sz="1250" dirty="0">
                <a:solidFill>
                  <a:srgbClr val="2B3541"/>
                </a:solidFill>
                <a:latin typeface="Funnel Sans" pitchFamily="34" charset="0"/>
                <a:ea typeface="Funnel Sans" pitchFamily="34" charset="-122"/>
                <a:cs typeface="Funnel Sans" pitchFamily="34" charset="-120"/>
              </a:rPr>
              <a:t>PSKUS: 3,185 videos</a:t>
            </a:r>
            <a:endParaRPr lang="en-US" sz="1250" dirty="0"/>
          </a:p>
        </p:txBody>
      </p:sp>
      <p:sp>
        <p:nvSpPr>
          <p:cNvPr id="11" name="Shape 8"/>
          <p:cNvSpPr/>
          <p:nvPr/>
        </p:nvSpPr>
        <p:spPr>
          <a:xfrm>
            <a:off x="8221754" y="2183705"/>
            <a:ext cx="3512752" cy="3942358"/>
          </a:xfrm>
          <a:prstGeom prst="roundRect">
            <a:avLst>
              <a:gd name="adj" fmla="val 2505"/>
            </a:avLst>
          </a:prstGeom>
          <a:solidFill>
            <a:srgbClr val="FFFCF6"/>
          </a:solidFill>
          <a:effectLst>
            <a:outerShdw blurRad="379730" dist="151130" dir="5400000" algn="bl" rotWithShape="0">
              <a:srgbClr val="6A4FC8">
                <a:alpha val="40000"/>
              </a:srgbClr>
            </a:outerShdw>
          </a:effectLst>
        </p:spPr>
      </p:sp>
      <p:sp>
        <p:nvSpPr>
          <p:cNvPr id="12" name="Text 9"/>
          <p:cNvSpPr/>
          <p:nvPr/>
        </p:nvSpPr>
        <p:spPr>
          <a:xfrm>
            <a:off x="8450349" y="2386905"/>
            <a:ext cx="3055563" cy="670520"/>
          </a:xfrm>
          <a:prstGeom prst="rect">
            <a:avLst/>
          </a:prstGeom>
          <a:noFill/>
        </p:spPr>
        <p:txBody>
          <a:bodyPr wrap="square" lIns="0" tIns="0" rIns="0" bIns="0" rtlCol="0" anchor="t">
            <a:normAutofit/>
          </a:bodyPr>
          <a:lstStyle/>
          <a:p>
            <a:pPr marL="0" indent="0" algn="l">
              <a:lnSpc>
                <a:spcPct val="100000"/>
              </a:lnSpc>
              <a:buNone/>
            </a:pPr>
            <a:r>
              <a:rPr lang="en-US" sz="2200" b="1" kern="0" spc="-11" dirty="0">
                <a:solidFill>
                  <a:srgbClr val="B8367F"/>
                </a:solidFill>
                <a:latin typeface="Funnel Sans Bold" pitchFamily="34" charset="0"/>
                <a:ea typeface="Funnel Sans Bold" pitchFamily="34" charset="-122"/>
                <a:cs typeface="Funnel Sans Bold" pitchFamily="34" charset="-120"/>
              </a:rPr>
              <a:t>Test in a different setting</a:t>
            </a:r>
            <a:endParaRPr lang="en-US" sz="2200" dirty="0"/>
          </a:p>
        </p:txBody>
      </p:sp>
      <p:sp>
        <p:nvSpPr>
          <p:cNvPr id="13" name="Text 10"/>
          <p:cNvSpPr/>
          <p:nvPr/>
        </p:nvSpPr>
        <p:spPr>
          <a:xfrm>
            <a:off x="8450349" y="3206651"/>
            <a:ext cx="3055563" cy="1759744"/>
          </a:xfrm>
          <a:prstGeom prst="rect">
            <a:avLst/>
          </a:prstGeom>
          <a:noFill/>
        </p:spPr>
        <p:txBody>
          <a:bodyPr wrap="square" lIns="0" tIns="0" rIns="0" bIns="0" rtlCol="0" anchor="t">
            <a:normAutofit/>
          </a:bodyPr>
          <a:lstStyle/>
          <a:p>
            <a:pPr marL="0" indent="0" algn="l">
              <a:lnSpc>
                <a:spcPct val="117000"/>
              </a:lnSpc>
              <a:buNone/>
            </a:pPr>
            <a:r>
              <a:rPr lang="en-US" sz="1650" dirty="0">
                <a:solidFill>
                  <a:srgbClr val="2B3541"/>
                </a:solidFill>
                <a:latin typeface="Funnel Sans" pitchFamily="34" charset="0"/>
                <a:ea typeface="Funnel Sans" pitchFamily="34" charset="-122"/>
                <a:cs typeface="Funnel Sans" pitchFamily="34" charset="-120"/>
              </a:rPr>
              <a:t>METC records a laboratory setting. It will test whether the model transfers beyond the training environment. We will align the label definitions before comparing results.</a:t>
            </a:r>
            <a:endParaRPr lang="en-US" sz="1650" dirty="0"/>
          </a:p>
        </p:txBody>
      </p:sp>
      <p:sp>
        <p:nvSpPr>
          <p:cNvPr id="14" name="Text 11"/>
          <p:cNvSpPr/>
          <p:nvPr/>
        </p:nvSpPr>
        <p:spPr>
          <a:xfrm>
            <a:off x="8450349" y="5153720"/>
            <a:ext cx="3055563" cy="348456"/>
          </a:xfrm>
          <a:prstGeom prst="rect">
            <a:avLst/>
          </a:prstGeom>
          <a:noFill/>
        </p:spPr>
        <p:txBody>
          <a:bodyPr wrap="none" lIns="0" tIns="0" rIns="0" bIns="0" rtlCol="0" anchor="t"/>
          <a:lstStyle/>
          <a:p>
            <a:pPr marL="0" indent="0" algn="l">
              <a:lnSpc>
                <a:spcPct val="82000"/>
              </a:lnSpc>
              <a:buNone/>
            </a:pPr>
            <a:r>
              <a:rPr lang="en-US" sz="2800" kern="0" spc="-70" dirty="0">
                <a:solidFill>
                  <a:srgbClr val="051D3A"/>
                </a:solidFill>
                <a:latin typeface="Funnel Display Medium" pitchFamily="34" charset="0"/>
                <a:ea typeface="Funnel Display Medium" pitchFamily="34" charset="-122"/>
                <a:cs typeface="Funnel Display Medium" pitchFamily="34" charset="-120"/>
              </a:rPr>
              <a:t>212</a:t>
            </a:r>
            <a:endParaRPr lang="en-US" sz="2800" dirty="0"/>
          </a:p>
        </p:txBody>
      </p:sp>
      <p:sp>
        <p:nvSpPr>
          <p:cNvPr id="15" name="Text 12"/>
          <p:cNvSpPr/>
          <p:nvPr/>
        </p:nvSpPr>
        <p:spPr>
          <a:xfrm>
            <a:off x="8450349" y="5708551"/>
            <a:ext cx="3284158" cy="214313"/>
          </a:xfrm>
          <a:prstGeom prst="rect">
            <a:avLst/>
          </a:prstGeom>
          <a:noFill/>
        </p:spPr>
        <p:txBody>
          <a:bodyPr wrap="none" lIns="0" tIns="0" rIns="0" bIns="0" rtlCol="0" anchor="t"/>
          <a:lstStyle/>
          <a:p>
            <a:pPr marL="0" indent="0" algn="l">
              <a:lnSpc>
                <a:spcPct val="112000"/>
              </a:lnSpc>
              <a:buNone/>
            </a:pPr>
            <a:r>
              <a:rPr lang="en-US" sz="1250" dirty="0">
                <a:solidFill>
                  <a:srgbClr val="2B3541"/>
                </a:solidFill>
                <a:latin typeface="Funnel Sans" pitchFamily="34" charset="0"/>
                <a:ea typeface="Funnel Sans" pitchFamily="34" charset="-122"/>
                <a:cs typeface="Funnel Sans" pitchFamily="34" charset="-120"/>
              </a:rPr>
              <a:t>METC: 212 videos</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5EB"/>
          </a:solidFill>
        </p:spPr>
      </p:sp>
      <p:sp>
        <p:nvSpPr>
          <p:cNvPr id="3" name="Text 1"/>
          <p:cNvSpPr/>
          <p:nvPr/>
        </p:nvSpPr>
        <p:spPr>
          <a:xfrm>
            <a:off x="660383" y="508000"/>
            <a:ext cx="11480513" cy="190500"/>
          </a:xfrm>
          <a:prstGeom prst="rect">
            <a:avLst/>
          </a:prstGeom>
          <a:noFill/>
        </p:spPr>
        <p:txBody>
          <a:bodyPr wrap="none" lIns="0" tIns="0" rIns="0" bIns="0" rtlCol="0" anchor="t"/>
          <a:lstStyle/>
          <a:p>
            <a:pPr marL="0" indent="0" algn="l">
              <a:lnSpc>
                <a:spcPct val="104000"/>
              </a:lnSpc>
              <a:buNone/>
            </a:pPr>
            <a:r>
              <a:rPr lang="en-US" sz="1200" kern="0" spc="96" dirty="0">
                <a:solidFill>
                  <a:srgbClr val="8A3FA8"/>
                </a:solidFill>
                <a:latin typeface="Funnel Sans SemiBold" pitchFamily="34" charset="0"/>
                <a:ea typeface="Funnel Sans SemiBold" pitchFamily="34" charset="-122"/>
                <a:cs typeface="Funnel Sans SemiBold" pitchFamily="34" charset="-120"/>
              </a:rPr>
              <a:t>DATA INTEGRITY</a:t>
            </a:r>
            <a:endParaRPr lang="en-US" sz="1200" dirty="0"/>
          </a:p>
        </p:txBody>
      </p:sp>
      <p:sp>
        <p:nvSpPr>
          <p:cNvPr id="4" name="Text 2"/>
          <p:cNvSpPr/>
          <p:nvPr/>
        </p:nvSpPr>
        <p:spPr>
          <a:xfrm>
            <a:off x="660383" y="784225"/>
            <a:ext cx="10870928" cy="484584"/>
          </a:xfrm>
          <a:prstGeom prst="rect">
            <a:avLst/>
          </a:prstGeom>
          <a:noFill/>
        </p:spPr>
        <p:txBody>
          <a:bodyPr wrap="none" lIns="0" tIns="0" rIns="0" bIns="0" rtlCol="0" anchor="t"/>
          <a:lstStyle/>
          <a:p>
            <a:pPr marL="0" indent="0" algn="l">
              <a:lnSpc>
                <a:spcPct val="88000"/>
              </a:lnSpc>
              <a:buNone/>
            </a:pPr>
            <a:r>
              <a:rPr lang="en-US" sz="3600" b="1" kern="0" spc="-36" dirty="0">
                <a:solidFill>
                  <a:srgbClr val="051D3A"/>
                </a:solidFill>
                <a:latin typeface="Funnel Display Bold" pitchFamily="34" charset="0"/>
                <a:ea typeface="Funnel Display Bold" pitchFamily="34" charset="-122"/>
                <a:cs typeface="Funnel Display Bold" pitchFamily="34" charset="-120"/>
              </a:rPr>
              <a:t>Reliable training starts with reliable labels</a:t>
            </a:r>
            <a:endParaRPr lang="en-US" sz="3600" dirty="0"/>
          </a:p>
        </p:txBody>
      </p:sp>
      <p:sp>
        <p:nvSpPr>
          <p:cNvPr id="5" name="Shape 3"/>
          <p:cNvSpPr/>
          <p:nvPr/>
        </p:nvSpPr>
        <p:spPr>
          <a:xfrm>
            <a:off x="660383" y="1635522"/>
            <a:ext cx="3420382" cy="2112566"/>
          </a:xfrm>
          <a:prstGeom prst="roundRect">
            <a:avLst>
              <a:gd name="adj" fmla="val 4166"/>
            </a:avLst>
          </a:prstGeom>
          <a:solidFill>
            <a:srgbClr val="FFFCF6"/>
          </a:solidFill>
          <a:effectLst>
            <a:outerShdw blurRad="379730" dist="151130" dir="5400000" algn="bl" rotWithShape="0">
              <a:srgbClr val="6A4FC8">
                <a:alpha val="40000"/>
              </a:srgbClr>
            </a:outerShdw>
          </a:effectLst>
        </p:spPr>
      </p:sp>
      <p:sp>
        <p:nvSpPr>
          <p:cNvPr id="6" name="Shape 4"/>
          <p:cNvSpPr/>
          <p:nvPr/>
        </p:nvSpPr>
        <p:spPr>
          <a:xfrm>
            <a:off x="914377" y="1889522"/>
            <a:ext cx="584185" cy="584200"/>
          </a:xfrm>
          <a:prstGeom prst="ellipse">
            <a:avLst/>
          </a:prstGeom>
          <a:solidFill>
            <a:srgbClr val="7FD6D2"/>
          </a:solidFill>
          <a:effectLst>
            <a:outerShdw blurRad="125730" dist="127" dir="16200000" algn="bl" rotWithShape="0">
              <a:srgbClr val="6A4FC8">
                <a:alpha val="20000"/>
              </a:srgbClr>
            </a:outerShdw>
          </a:effectLst>
        </p:spPr>
      </p:sp>
      <p:pic>
        <p:nvPicPr>
          <p:cNvPr id="7" name="Image 0" descr="preencoded.png"/>
          <p:cNvPicPr>
            <a:picLocks noChangeAspect="1"/>
          </p:cNvPicPr>
          <p:nvPr/>
        </p:nvPicPr>
        <p:blipFill>
          <a:blip r:embed="rId1"/>
          <a:stretch>
            <a:fillRect/>
          </a:stretch>
        </p:blipFill>
        <p:spPr>
          <a:xfrm>
            <a:off x="914377" y="1889522"/>
            <a:ext cx="584185" cy="584200"/>
          </a:xfrm>
          <a:prstGeom prst="rect">
            <a:avLst/>
          </a:prstGeom>
        </p:spPr>
      </p:pic>
      <p:sp>
        <p:nvSpPr>
          <p:cNvPr id="8" name="Text 5"/>
          <p:cNvSpPr/>
          <p:nvPr/>
        </p:nvSpPr>
        <p:spPr>
          <a:xfrm>
            <a:off x="1053081" y="2048272"/>
            <a:ext cx="916361" cy="266700"/>
          </a:xfrm>
          <a:prstGeom prst="rect">
            <a:avLst/>
          </a:prstGeom>
          <a:noFill/>
        </p:spPr>
        <p:txBody>
          <a:bodyPr wrap="none" lIns="0" tIns="0" rIns="0" bIns="0" rtlCol="0" anchor="t"/>
          <a:lstStyle/>
          <a:p>
            <a:pPr marL="0" indent="0" algn="l">
              <a:lnSpc>
                <a:spcPct val="83000"/>
              </a:lnSpc>
              <a:buNone/>
            </a:pPr>
            <a:r>
              <a:rPr lang="en-US" sz="2100" dirty="0">
                <a:solidFill>
                  <a:srgbClr val="051D3A"/>
                </a:solidFill>
                <a:latin typeface="Funnel Display SemiBold" pitchFamily="34" charset="0"/>
                <a:ea typeface="Funnel Display SemiBold" pitchFamily="34" charset="-122"/>
                <a:cs typeface="Funnel Display SemiBold" pitchFamily="34" charset="-120"/>
              </a:rPr>
              <a:t>01</a:t>
            </a:r>
            <a:endParaRPr lang="en-US" sz="2100" dirty="0"/>
          </a:p>
        </p:txBody>
      </p:sp>
      <p:sp>
        <p:nvSpPr>
          <p:cNvPr id="9" name="Shape 6"/>
          <p:cNvSpPr/>
          <p:nvPr/>
        </p:nvSpPr>
        <p:spPr>
          <a:xfrm>
            <a:off x="914377" y="2557562"/>
            <a:ext cx="2912394" cy="19050"/>
          </a:xfrm>
          <a:prstGeom prst="rect">
            <a:avLst/>
          </a:prstGeom>
          <a:solidFill>
            <a:srgbClr val="B8367F"/>
          </a:solidFill>
        </p:spPr>
      </p:sp>
      <p:sp>
        <p:nvSpPr>
          <p:cNvPr id="10" name="Text 7"/>
          <p:cNvSpPr/>
          <p:nvPr/>
        </p:nvSpPr>
        <p:spPr>
          <a:xfrm>
            <a:off x="914377" y="2702322"/>
            <a:ext cx="2912394" cy="304800"/>
          </a:xfrm>
          <a:prstGeom prst="rect">
            <a:avLst/>
          </a:prstGeom>
          <a:noFill/>
        </p:spPr>
        <p:txBody>
          <a:bodyPr wrap="none" lIns="0" tIns="0" rIns="0" bIns="0" rtlCol="0" anchor="t"/>
          <a:lstStyle/>
          <a:p>
            <a:pPr marL="0" indent="0" algn="l">
              <a:lnSpc>
                <a:spcPct val="100000"/>
              </a:lnSpc>
              <a:buNone/>
            </a:pPr>
            <a:r>
              <a:rPr lang="en-US" sz="2000" kern="0" spc="-10" dirty="0">
                <a:solidFill>
                  <a:srgbClr val="2B3541"/>
                </a:solidFill>
                <a:latin typeface="Funnel Sans SemiBold" pitchFamily="34" charset="0"/>
                <a:ea typeface="Funnel Sans SemiBold" pitchFamily="34" charset="-122"/>
                <a:cs typeface="Funnel Sans SemiBold" pitchFamily="34" charset="-120"/>
              </a:rPr>
              <a:t>Separate the videos</a:t>
            </a:r>
            <a:endParaRPr lang="en-US" sz="2000" dirty="0"/>
          </a:p>
        </p:txBody>
      </p:sp>
      <p:sp>
        <p:nvSpPr>
          <p:cNvPr id="11" name="Text 8"/>
          <p:cNvSpPr/>
          <p:nvPr/>
        </p:nvSpPr>
        <p:spPr>
          <a:xfrm>
            <a:off x="914377" y="3156347"/>
            <a:ext cx="3166388" cy="337741"/>
          </a:xfrm>
          <a:prstGeom prst="rect">
            <a:avLst/>
          </a:prstGeom>
          <a:noFill/>
        </p:spPr>
        <p:txBody>
          <a:bodyPr wrap="none" lIns="0" tIns="0" rIns="0" bIns="0" rtlCol="0" anchor="t"/>
          <a:lstStyle/>
          <a:p>
            <a:pPr marL="0" indent="0" algn="l">
              <a:lnSpc>
                <a:spcPct val="117000"/>
              </a:lnSpc>
              <a:buNone/>
            </a:pPr>
            <a:r>
              <a:rPr lang="en-US" sz="1900" dirty="0">
                <a:solidFill>
                  <a:srgbClr val="2B3541"/>
                </a:solidFill>
                <a:latin typeface="Funnel Sans" pitchFamily="34" charset="0"/>
                <a:ea typeface="Funnel Sans" pitchFamily="34" charset="-122"/>
                <a:cs typeface="Funnel Sans" pitchFamily="34" charset="-120"/>
              </a:rPr>
              <a:t>Training and testing</a:t>
            </a:r>
            <a:endParaRPr lang="en-US" sz="1900" dirty="0"/>
          </a:p>
        </p:txBody>
      </p:sp>
      <p:sp>
        <p:nvSpPr>
          <p:cNvPr id="12" name="Shape 9"/>
          <p:cNvSpPr/>
          <p:nvPr/>
        </p:nvSpPr>
        <p:spPr>
          <a:xfrm>
            <a:off x="4385557" y="1635522"/>
            <a:ext cx="3420481" cy="2112566"/>
          </a:xfrm>
          <a:prstGeom prst="roundRect">
            <a:avLst>
              <a:gd name="adj" fmla="val 4166"/>
            </a:avLst>
          </a:prstGeom>
          <a:solidFill>
            <a:srgbClr val="FFFCF6"/>
          </a:solidFill>
          <a:effectLst>
            <a:outerShdw blurRad="379730" dist="151130" dir="5400000" algn="bl" rotWithShape="0">
              <a:srgbClr val="6A4FC8">
                <a:alpha val="40000"/>
              </a:srgbClr>
            </a:outerShdw>
          </a:effectLst>
        </p:spPr>
      </p:sp>
      <p:sp>
        <p:nvSpPr>
          <p:cNvPr id="13" name="Shape 10"/>
          <p:cNvSpPr/>
          <p:nvPr/>
        </p:nvSpPr>
        <p:spPr>
          <a:xfrm>
            <a:off x="4639551" y="1889522"/>
            <a:ext cx="584185" cy="584200"/>
          </a:xfrm>
          <a:prstGeom prst="ellipse">
            <a:avLst/>
          </a:prstGeom>
          <a:solidFill>
            <a:srgbClr val="7FD6D2"/>
          </a:solidFill>
          <a:effectLst>
            <a:outerShdw blurRad="125730" dist="127" dir="16200000" algn="bl" rotWithShape="0">
              <a:srgbClr val="6A4FC8">
                <a:alpha val="20000"/>
              </a:srgbClr>
            </a:outerShdw>
          </a:effectLst>
        </p:spPr>
      </p:sp>
      <p:pic>
        <p:nvPicPr>
          <p:cNvPr id="14" name="Image 1" descr="preencoded.png"/>
          <p:cNvPicPr>
            <a:picLocks noChangeAspect="1"/>
          </p:cNvPicPr>
          <p:nvPr/>
        </p:nvPicPr>
        <p:blipFill>
          <a:blip r:embed="rId1"/>
          <a:stretch>
            <a:fillRect/>
          </a:stretch>
        </p:blipFill>
        <p:spPr>
          <a:xfrm>
            <a:off x="4639551" y="1889522"/>
            <a:ext cx="584185" cy="584200"/>
          </a:xfrm>
          <a:prstGeom prst="rect">
            <a:avLst/>
          </a:prstGeom>
        </p:spPr>
      </p:pic>
      <p:sp>
        <p:nvSpPr>
          <p:cNvPr id="15" name="Text 11"/>
          <p:cNvSpPr/>
          <p:nvPr/>
        </p:nvSpPr>
        <p:spPr>
          <a:xfrm>
            <a:off x="4778255" y="2048272"/>
            <a:ext cx="916361" cy="266700"/>
          </a:xfrm>
          <a:prstGeom prst="rect">
            <a:avLst/>
          </a:prstGeom>
          <a:noFill/>
        </p:spPr>
        <p:txBody>
          <a:bodyPr wrap="none" lIns="0" tIns="0" rIns="0" bIns="0" rtlCol="0" anchor="t"/>
          <a:lstStyle/>
          <a:p>
            <a:pPr marL="0" indent="0" algn="l">
              <a:lnSpc>
                <a:spcPct val="83000"/>
              </a:lnSpc>
              <a:buNone/>
            </a:pPr>
            <a:r>
              <a:rPr lang="en-US" sz="2100" dirty="0">
                <a:solidFill>
                  <a:srgbClr val="051D3A"/>
                </a:solidFill>
                <a:latin typeface="Funnel Display SemiBold" pitchFamily="34" charset="0"/>
                <a:ea typeface="Funnel Display SemiBold" pitchFamily="34" charset="-122"/>
                <a:cs typeface="Funnel Display SemiBold" pitchFamily="34" charset="-120"/>
              </a:rPr>
              <a:t>02</a:t>
            </a:r>
            <a:endParaRPr lang="en-US" sz="2100" dirty="0"/>
          </a:p>
        </p:txBody>
      </p:sp>
      <p:sp>
        <p:nvSpPr>
          <p:cNvPr id="16" name="Shape 12"/>
          <p:cNvSpPr/>
          <p:nvPr/>
        </p:nvSpPr>
        <p:spPr>
          <a:xfrm>
            <a:off x="4639551" y="2557562"/>
            <a:ext cx="2912394" cy="19050"/>
          </a:xfrm>
          <a:prstGeom prst="rect">
            <a:avLst/>
          </a:prstGeom>
          <a:solidFill>
            <a:srgbClr val="B8367F"/>
          </a:solidFill>
        </p:spPr>
      </p:sp>
      <p:sp>
        <p:nvSpPr>
          <p:cNvPr id="17" name="Text 13"/>
          <p:cNvSpPr/>
          <p:nvPr/>
        </p:nvSpPr>
        <p:spPr>
          <a:xfrm>
            <a:off x="4639551" y="2702322"/>
            <a:ext cx="2912494" cy="304800"/>
          </a:xfrm>
          <a:prstGeom prst="rect">
            <a:avLst/>
          </a:prstGeom>
          <a:noFill/>
        </p:spPr>
        <p:txBody>
          <a:bodyPr wrap="none" lIns="0" tIns="0" rIns="0" bIns="0" rtlCol="0" anchor="t"/>
          <a:lstStyle/>
          <a:p>
            <a:pPr marL="0" indent="0" algn="l">
              <a:lnSpc>
                <a:spcPct val="100000"/>
              </a:lnSpc>
              <a:buNone/>
            </a:pPr>
            <a:r>
              <a:rPr lang="en-US" sz="2000" kern="0" spc="-10" dirty="0">
                <a:solidFill>
                  <a:srgbClr val="2B3541"/>
                </a:solidFill>
                <a:latin typeface="Funnel Sans SemiBold" pitchFamily="34" charset="0"/>
                <a:ea typeface="Funnel Sans SemiBold" pitchFamily="34" charset="-122"/>
                <a:cs typeface="Funnel Sans SemiBold" pitchFamily="34" charset="-120"/>
              </a:rPr>
              <a:t>Match frames to labels</a:t>
            </a:r>
            <a:endParaRPr lang="en-US" sz="2000" dirty="0"/>
          </a:p>
        </p:txBody>
      </p:sp>
      <p:sp>
        <p:nvSpPr>
          <p:cNvPr id="18" name="Text 14"/>
          <p:cNvSpPr/>
          <p:nvPr/>
        </p:nvSpPr>
        <p:spPr>
          <a:xfrm>
            <a:off x="4639551" y="3156347"/>
            <a:ext cx="3166487" cy="337741"/>
          </a:xfrm>
          <a:prstGeom prst="rect">
            <a:avLst/>
          </a:prstGeom>
          <a:noFill/>
        </p:spPr>
        <p:txBody>
          <a:bodyPr wrap="none" lIns="0" tIns="0" rIns="0" bIns="0" rtlCol="0" anchor="t"/>
          <a:lstStyle/>
          <a:p>
            <a:pPr marL="0" indent="0" algn="l">
              <a:lnSpc>
                <a:spcPct val="117000"/>
              </a:lnSpc>
              <a:buNone/>
            </a:pPr>
            <a:r>
              <a:rPr lang="en-US" sz="1900" dirty="0">
                <a:solidFill>
                  <a:srgbClr val="2B3541"/>
                </a:solidFill>
                <a:latin typeface="Funnel Sans" pitchFamily="34" charset="0"/>
                <a:ea typeface="Funnel Sans" pitchFamily="34" charset="-122"/>
                <a:cs typeface="Funnel Sans" pitchFamily="34" charset="-120"/>
              </a:rPr>
              <a:t>Keep the real timestamps</a:t>
            </a:r>
            <a:endParaRPr lang="en-US" sz="1900" dirty="0"/>
          </a:p>
        </p:txBody>
      </p:sp>
      <p:sp>
        <p:nvSpPr>
          <p:cNvPr id="19" name="Shape 15"/>
          <p:cNvSpPr/>
          <p:nvPr/>
        </p:nvSpPr>
        <p:spPr>
          <a:xfrm>
            <a:off x="8110831" y="1635522"/>
            <a:ext cx="3420481" cy="2112566"/>
          </a:xfrm>
          <a:prstGeom prst="roundRect">
            <a:avLst>
              <a:gd name="adj" fmla="val 4166"/>
            </a:avLst>
          </a:prstGeom>
          <a:solidFill>
            <a:srgbClr val="FFFCF6"/>
          </a:solidFill>
          <a:effectLst>
            <a:outerShdw blurRad="379730" dist="151130" dir="5400000" algn="bl" rotWithShape="0">
              <a:srgbClr val="6A4FC8">
                <a:alpha val="40000"/>
              </a:srgbClr>
            </a:outerShdw>
          </a:effectLst>
        </p:spPr>
      </p:sp>
      <p:sp>
        <p:nvSpPr>
          <p:cNvPr id="20" name="Shape 16"/>
          <p:cNvSpPr/>
          <p:nvPr/>
        </p:nvSpPr>
        <p:spPr>
          <a:xfrm>
            <a:off x="8364824" y="1889522"/>
            <a:ext cx="584185" cy="584200"/>
          </a:xfrm>
          <a:prstGeom prst="ellipse">
            <a:avLst/>
          </a:prstGeom>
          <a:solidFill>
            <a:srgbClr val="7FD6D2"/>
          </a:solidFill>
          <a:effectLst>
            <a:outerShdw blurRad="125730" dist="127" dir="16200000" algn="bl" rotWithShape="0">
              <a:srgbClr val="6A4FC8">
                <a:alpha val="20000"/>
              </a:srgbClr>
            </a:outerShdw>
          </a:effectLst>
        </p:spPr>
      </p:sp>
      <p:pic>
        <p:nvPicPr>
          <p:cNvPr id="21" name="Image 2" descr="preencoded.png"/>
          <p:cNvPicPr>
            <a:picLocks noChangeAspect="1"/>
          </p:cNvPicPr>
          <p:nvPr/>
        </p:nvPicPr>
        <p:blipFill>
          <a:blip r:embed="rId1"/>
          <a:stretch>
            <a:fillRect/>
          </a:stretch>
        </p:blipFill>
        <p:spPr>
          <a:xfrm>
            <a:off x="8364824" y="1889522"/>
            <a:ext cx="584185" cy="584200"/>
          </a:xfrm>
          <a:prstGeom prst="rect">
            <a:avLst/>
          </a:prstGeom>
        </p:spPr>
      </p:pic>
      <p:sp>
        <p:nvSpPr>
          <p:cNvPr id="22" name="Text 17"/>
          <p:cNvSpPr/>
          <p:nvPr/>
        </p:nvSpPr>
        <p:spPr>
          <a:xfrm>
            <a:off x="8503529" y="2048272"/>
            <a:ext cx="916361" cy="266700"/>
          </a:xfrm>
          <a:prstGeom prst="rect">
            <a:avLst/>
          </a:prstGeom>
          <a:noFill/>
        </p:spPr>
        <p:txBody>
          <a:bodyPr wrap="none" lIns="0" tIns="0" rIns="0" bIns="0" rtlCol="0" anchor="t"/>
          <a:lstStyle/>
          <a:p>
            <a:pPr marL="0" indent="0" algn="l">
              <a:lnSpc>
                <a:spcPct val="83000"/>
              </a:lnSpc>
              <a:buNone/>
            </a:pPr>
            <a:r>
              <a:rPr lang="en-US" sz="2100" dirty="0">
                <a:solidFill>
                  <a:srgbClr val="051D3A"/>
                </a:solidFill>
                <a:latin typeface="Funnel Display SemiBold" pitchFamily="34" charset="0"/>
                <a:ea typeface="Funnel Display SemiBold" pitchFamily="34" charset="-122"/>
                <a:cs typeface="Funnel Display SemiBold" pitchFamily="34" charset="-120"/>
              </a:rPr>
              <a:t>03</a:t>
            </a:r>
            <a:endParaRPr lang="en-US" sz="2100" dirty="0"/>
          </a:p>
        </p:txBody>
      </p:sp>
      <p:sp>
        <p:nvSpPr>
          <p:cNvPr id="23" name="Shape 18"/>
          <p:cNvSpPr/>
          <p:nvPr/>
        </p:nvSpPr>
        <p:spPr>
          <a:xfrm>
            <a:off x="8364824" y="2557562"/>
            <a:ext cx="2912394" cy="19050"/>
          </a:xfrm>
          <a:prstGeom prst="rect">
            <a:avLst/>
          </a:prstGeom>
          <a:solidFill>
            <a:srgbClr val="B8367F"/>
          </a:solidFill>
        </p:spPr>
      </p:sp>
      <p:sp>
        <p:nvSpPr>
          <p:cNvPr id="24" name="Text 19"/>
          <p:cNvSpPr/>
          <p:nvPr/>
        </p:nvSpPr>
        <p:spPr>
          <a:xfrm>
            <a:off x="8364824" y="2702322"/>
            <a:ext cx="2912494" cy="304800"/>
          </a:xfrm>
          <a:prstGeom prst="rect">
            <a:avLst/>
          </a:prstGeom>
          <a:noFill/>
        </p:spPr>
        <p:txBody>
          <a:bodyPr wrap="none" lIns="0" tIns="0" rIns="0" bIns="0" rtlCol="0" anchor="t"/>
          <a:lstStyle/>
          <a:p>
            <a:pPr marL="0" indent="0" algn="l">
              <a:lnSpc>
                <a:spcPct val="100000"/>
              </a:lnSpc>
              <a:buNone/>
            </a:pPr>
            <a:r>
              <a:rPr lang="en-US" sz="2000" kern="0" spc="-10" dirty="0">
                <a:solidFill>
                  <a:srgbClr val="2B3541"/>
                </a:solidFill>
                <a:latin typeface="Funnel Sans SemiBold" pitchFamily="34" charset="0"/>
                <a:ea typeface="Funnel Sans SemiBold" pitchFamily="34" charset="-122"/>
                <a:cs typeface="Funnel Sans SemiBold" pitchFamily="34" charset="-120"/>
              </a:rPr>
              <a:t>Build short sequences</a:t>
            </a:r>
            <a:endParaRPr lang="en-US" sz="2000" dirty="0"/>
          </a:p>
        </p:txBody>
      </p:sp>
      <p:sp>
        <p:nvSpPr>
          <p:cNvPr id="25" name="Text 20"/>
          <p:cNvSpPr/>
          <p:nvPr/>
        </p:nvSpPr>
        <p:spPr>
          <a:xfrm>
            <a:off x="8364824" y="3156347"/>
            <a:ext cx="3166487" cy="337741"/>
          </a:xfrm>
          <a:prstGeom prst="rect">
            <a:avLst/>
          </a:prstGeom>
          <a:noFill/>
        </p:spPr>
        <p:txBody>
          <a:bodyPr wrap="none" lIns="0" tIns="0" rIns="0" bIns="0" rtlCol="0" anchor="t"/>
          <a:lstStyle/>
          <a:p>
            <a:pPr marL="0" indent="0" algn="l">
              <a:lnSpc>
                <a:spcPct val="117000"/>
              </a:lnSpc>
              <a:buNone/>
            </a:pPr>
            <a:r>
              <a:rPr lang="en-US" sz="1900" dirty="0">
                <a:solidFill>
                  <a:srgbClr val="2B3541"/>
                </a:solidFill>
                <a:latin typeface="Funnel Sans" pitchFamily="34" charset="0"/>
                <a:ea typeface="Funnel Sans" pitchFamily="34" charset="-122"/>
                <a:cs typeface="Funnel Sans" pitchFamily="34" charset="-120"/>
              </a:rPr>
              <a:t>Preserve action changes</a:t>
            </a:r>
            <a:endParaRPr lang="en-US" sz="1900" dirty="0"/>
          </a:p>
        </p:txBody>
      </p:sp>
      <p:sp>
        <p:nvSpPr>
          <p:cNvPr id="26" name="Shape 21"/>
          <p:cNvSpPr/>
          <p:nvPr/>
        </p:nvSpPr>
        <p:spPr>
          <a:xfrm>
            <a:off x="660383" y="4002088"/>
            <a:ext cx="10870928" cy="1981200"/>
          </a:xfrm>
          <a:prstGeom prst="roundRect">
            <a:avLst>
              <a:gd name="adj" fmla="val 4442"/>
            </a:avLst>
          </a:prstGeom>
          <a:solidFill>
            <a:srgbClr val="FFFCF6"/>
          </a:solidFill>
          <a:effectLst>
            <a:outerShdw blurRad="379730" dist="151130" dir="5400000" algn="bl" rotWithShape="0">
              <a:srgbClr val="6A4FC8">
                <a:alpha val="40000"/>
              </a:srgbClr>
            </a:outerShdw>
          </a:effectLst>
        </p:spPr>
      </p:sp>
      <p:sp>
        <p:nvSpPr>
          <p:cNvPr id="27" name="Text 22"/>
          <p:cNvSpPr/>
          <p:nvPr/>
        </p:nvSpPr>
        <p:spPr>
          <a:xfrm>
            <a:off x="1015975" y="4281488"/>
            <a:ext cx="10159746" cy="381000"/>
          </a:xfrm>
          <a:prstGeom prst="rect">
            <a:avLst/>
          </a:prstGeom>
          <a:noFill/>
        </p:spPr>
        <p:txBody>
          <a:bodyPr wrap="none" lIns="0" tIns="0" rIns="0" bIns="0" rtlCol="0" anchor="t"/>
          <a:lstStyle/>
          <a:p>
            <a:pPr marL="0" indent="0" algn="l">
              <a:lnSpc>
                <a:spcPct val="100000"/>
              </a:lnSpc>
              <a:buNone/>
            </a:pPr>
            <a:r>
              <a:rPr lang="en-US" sz="2500" b="1" kern="0" spc="-12" dirty="0">
                <a:solidFill>
                  <a:srgbClr val="2B3541"/>
                </a:solidFill>
                <a:latin typeface="Funnel Sans Bold" pitchFamily="34" charset="0"/>
                <a:ea typeface="Funnel Sans Bold" pitchFamily="34" charset="-122"/>
                <a:cs typeface="Funnel Sans Bold" pitchFamily="34" charset="-120"/>
              </a:rPr>
              <a:t>Every sampled frame needs its own action label.</a:t>
            </a:r>
            <a:endParaRPr lang="en-US" sz="2500" dirty="0"/>
          </a:p>
        </p:txBody>
      </p:sp>
      <p:sp>
        <p:nvSpPr>
          <p:cNvPr id="28" name="Text 23"/>
          <p:cNvSpPr/>
          <p:nvPr/>
        </p:nvSpPr>
        <p:spPr>
          <a:xfrm>
            <a:off x="1015975" y="4789488"/>
            <a:ext cx="10159746" cy="914400"/>
          </a:xfrm>
          <a:prstGeom prst="rect">
            <a:avLst/>
          </a:prstGeom>
          <a:noFill/>
        </p:spPr>
        <p:txBody>
          <a:bodyPr wrap="square" lIns="0" tIns="0" rIns="0" bIns="0" rtlCol="0" anchor="t">
            <a:normAutofit/>
          </a:bodyPr>
          <a:lstStyle/>
          <a:p>
            <a:pPr marL="0" indent="0" algn="l">
              <a:lnSpc>
                <a:spcPct val="100000"/>
              </a:lnSpc>
              <a:buNone/>
            </a:pPr>
            <a:r>
              <a:rPr lang="en-US" sz="2000" kern="0" spc="-10" dirty="0">
                <a:solidFill>
                  <a:srgbClr val="2B3541"/>
                </a:solidFill>
                <a:latin typeface="Funnel Sans SemiBold" pitchFamily="34" charset="0"/>
                <a:ea typeface="Funnel Sans SemiBold" pitchFamily="34" charset="-122"/>
                <a:cs typeface="Funnel Sans SemiBold" pitchFamily="34" charset="-120"/>
              </a:rPr>
              <a:t>The same source video must never appear in both training and testing.</a:t>
            </a:r>
            <a:endParaRPr lang="en-US" sz="2000" dirty="0"/>
          </a:p>
          <a:p>
            <a:pPr marL="0" indent="0" algn="l">
              <a:lnSpc>
                <a:spcPct val="100000"/>
              </a:lnSpc>
              <a:buNone/>
            </a:pPr>
            <a:r>
              <a:rPr lang="en-US" sz="2000" kern="0" spc="-10" dirty="0">
                <a:solidFill>
                  <a:srgbClr val="2B3541"/>
                </a:solidFill>
                <a:latin typeface="Funnel Sans SemiBold" pitchFamily="34" charset="0"/>
                <a:ea typeface="Funnel Sans SemiBold" pitchFamily="34" charset="-122"/>
                <a:cs typeface="Funnel Sans SemiBold" pitchFamily="34" charset="-120"/>
              </a:rPr>
              <a:t>We will inspect action changes by hand and evaluate complete videos, including the last action.</a:t>
            </a:r>
            <a:endParaRPr lang="en-US" sz="2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5EB"/>
          </a:solidFill>
        </p:spPr>
      </p:sp>
      <p:sp>
        <p:nvSpPr>
          <p:cNvPr id="3" name="Text 1"/>
          <p:cNvSpPr/>
          <p:nvPr/>
        </p:nvSpPr>
        <p:spPr>
          <a:xfrm>
            <a:off x="609585" y="482600"/>
            <a:ext cx="11582110" cy="190500"/>
          </a:xfrm>
          <a:prstGeom prst="rect">
            <a:avLst/>
          </a:prstGeom>
          <a:noFill/>
        </p:spPr>
        <p:txBody>
          <a:bodyPr wrap="none" lIns="0" tIns="0" rIns="0" bIns="0" rtlCol="0" anchor="t"/>
          <a:lstStyle/>
          <a:p>
            <a:pPr marL="0" indent="0" algn="l">
              <a:lnSpc>
                <a:spcPct val="104000"/>
              </a:lnSpc>
              <a:buNone/>
            </a:pPr>
            <a:r>
              <a:rPr lang="en-US" sz="1200" kern="0" spc="96" dirty="0">
                <a:solidFill>
                  <a:srgbClr val="8A3FA8"/>
                </a:solidFill>
                <a:latin typeface="Funnel Sans SemiBold" pitchFamily="34" charset="0"/>
                <a:ea typeface="Funnel Sans SemiBold" pitchFamily="34" charset="-122"/>
                <a:cs typeface="Funnel Sans SemiBold" pitchFamily="34" charset="-120"/>
              </a:rPr>
              <a:t>SYSTEM ARCHITECTURE</a:t>
            </a:r>
            <a:endParaRPr lang="en-US" sz="1200" dirty="0"/>
          </a:p>
        </p:txBody>
      </p:sp>
      <p:sp>
        <p:nvSpPr>
          <p:cNvPr id="4" name="Text 2"/>
          <p:cNvSpPr/>
          <p:nvPr/>
        </p:nvSpPr>
        <p:spPr>
          <a:xfrm>
            <a:off x="609585" y="758825"/>
            <a:ext cx="10972526" cy="484584"/>
          </a:xfrm>
          <a:prstGeom prst="rect">
            <a:avLst/>
          </a:prstGeom>
          <a:noFill/>
        </p:spPr>
        <p:txBody>
          <a:bodyPr wrap="none" lIns="0" tIns="0" rIns="0" bIns="0" rtlCol="0" anchor="t"/>
          <a:lstStyle/>
          <a:p>
            <a:pPr marL="0" indent="0" algn="l">
              <a:lnSpc>
                <a:spcPct val="88000"/>
              </a:lnSpc>
              <a:buNone/>
            </a:pPr>
            <a:r>
              <a:rPr lang="en-US" sz="3600" b="1" kern="0" spc="-36" dirty="0">
                <a:solidFill>
                  <a:srgbClr val="051D3A"/>
                </a:solidFill>
                <a:latin typeface="Funnel Display Bold" pitchFamily="34" charset="0"/>
                <a:ea typeface="Funnel Display Bold" pitchFamily="34" charset="-122"/>
                <a:cs typeface="Funnel Display Bold" pitchFamily="34" charset="-120"/>
              </a:rPr>
              <a:t>How the proposed model works</a:t>
            </a:r>
            <a:endParaRPr lang="en-US" sz="3600" dirty="0"/>
          </a:p>
        </p:txBody>
      </p:sp>
      <p:sp>
        <p:nvSpPr>
          <p:cNvPr id="5" name="Shape 3"/>
          <p:cNvSpPr/>
          <p:nvPr/>
        </p:nvSpPr>
        <p:spPr>
          <a:xfrm>
            <a:off x="609585" y="1758652"/>
            <a:ext cx="10972526" cy="1702296"/>
          </a:xfrm>
          <a:prstGeom prst="roundRect">
            <a:avLst>
              <a:gd name="adj" fmla="val 5170"/>
            </a:avLst>
          </a:prstGeom>
          <a:solidFill>
            <a:srgbClr val="FFFCF6"/>
          </a:solidFill>
          <a:effectLst>
            <a:outerShdw blurRad="379730" dist="151130" dir="5400000" algn="bl" rotWithShape="0">
              <a:srgbClr val="6A4FC8">
                <a:alpha val="40000"/>
              </a:srgbClr>
            </a:outerShdw>
          </a:effectLst>
        </p:spPr>
      </p:sp>
      <p:sp>
        <p:nvSpPr>
          <p:cNvPr id="6" name="Text 4"/>
          <p:cNvSpPr/>
          <p:nvPr/>
        </p:nvSpPr>
        <p:spPr>
          <a:xfrm>
            <a:off x="888978" y="1961852"/>
            <a:ext cx="10693132" cy="190500"/>
          </a:xfrm>
          <a:prstGeom prst="rect">
            <a:avLst/>
          </a:prstGeom>
          <a:noFill/>
        </p:spPr>
        <p:txBody>
          <a:bodyPr wrap="none" lIns="0" tIns="0" rIns="0" bIns="0" rtlCol="0" anchor="t"/>
          <a:lstStyle/>
          <a:p>
            <a:pPr marL="0" indent="0" algn="l">
              <a:lnSpc>
                <a:spcPct val="104000"/>
              </a:lnSpc>
              <a:buNone/>
            </a:pPr>
            <a:r>
              <a:rPr lang="en-US" sz="1200" kern="0" spc="96" dirty="0">
                <a:solidFill>
                  <a:srgbClr val="B8367F"/>
                </a:solidFill>
                <a:latin typeface="Funnel Sans SemiBold" pitchFamily="34" charset="0"/>
                <a:ea typeface="Funnel Sans SemiBold" pitchFamily="34" charset="-122"/>
                <a:cs typeface="Funnel Sans SemiBold" pitchFamily="34" charset="-120"/>
              </a:rPr>
              <a:t>STAGE 1 · RECOGNIZE THE ACTION</a:t>
            </a:r>
            <a:endParaRPr lang="en-US" sz="1200" dirty="0"/>
          </a:p>
        </p:txBody>
      </p:sp>
      <p:sp>
        <p:nvSpPr>
          <p:cNvPr id="7" name="Shape 5"/>
          <p:cNvSpPr/>
          <p:nvPr/>
        </p:nvSpPr>
        <p:spPr>
          <a:xfrm>
            <a:off x="888978" y="2273002"/>
            <a:ext cx="3267985" cy="984746"/>
          </a:xfrm>
          <a:prstGeom prst="rect">
            <a:avLst/>
          </a:prstGeom>
          <a:solidFill>
            <a:srgbClr val="E4DBF8"/>
          </a:solidFill>
        </p:spPr>
      </p:sp>
      <p:sp>
        <p:nvSpPr>
          <p:cNvPr id="8" name="Text 6"/>
          <p:cNvSpPr/>
          <p:nvPr/>
        </p:nvSpPr>
        <p:spPr>
          <a:xfrm>
            <a:off x="1066773" y="2425402"/>
            <a:ext cx="2912394" cy="281880"/>
          </a:xfrm>
          <a:prstGeom prst="rect">
            <a:avLst/>
          </a:prstGeom>
          <a:noFill/>
        </p:spPr>
        <p:txBody>
          <a:bodyPr wrap="none" lIns="0" tIns="0" rIns="0" bIns="0" rtlCol="0" anchor="t"/>
          <a:lstStyle/>
          <a:p>
            <a:pPr marL="0" indent="0" algn="l">
              <a:lnSpc>
                <a:spcPct val="100000"/>
              </a:lnSpc>
              <a:buNone/>
            </a:pPr>
            <a:r>
              <a:rPr lang="en-US" sz="1850" kern="0" spc="-9" dirty="0">
                <a:solidFill>
                  <a:srgbClr val="000000"/>
                </a:solidFill>
                <a:latin typeface="Funnel Sans SemiBold" pitchFamily="34" charset="0"/>
                <a:ea typeface="Funnel Sans SemiBold" pitchFamily="34" charset="-122"/>
                <a:cs typeface="Funnel Sans SemiBold" pitchFamily="34" charset="-120"/>
              </a:rPr>
              <a:t>Sample video frames</a:t>
            </a:r>
            <a:endParaRPr lang="en-US" sz="1850" dirty="0"/>
          </a:p>
        </p:txBody>
      </p:sp>
      <p:sp>
        <p:nvSpPr>
          <p:cNvPr id="9" name="Text 7"/>
          <p:cNvSpPr/>
          <p:nvPr/>
        </p:nvSpPr>
        <p:spPr>
          <a:xfrm>
            <a:off x="1066773" y="2856508"/>
            <a:ext cx="3090190" cy="248841"/>
          </a:xfrm>
          <a:prstGeom prst="rect">
            <a:avLst/>
          </a:prstGeom>
          <a:noFill/>
        </p:spPr>
        <p:txBody>
          <a:bodyPr wrap="none" lIns="0" tIns="0" rIns="0" bIns="0" rtlCol="0" anchor="t"/>
          <a:lstStyle/>
          <a:p>
            <a:pPr marL="0" indent="0" algn="l">
              <a:lnSpc>
                <a:spcPct val="117000"/>
              </a:lnSpc>
              <a:buNone/>
            </a:pPr>
            <a:r>
              <a:rPr lang="en-US" sz="1400" dirty="0">
                <a:solidFill>
                  <a:srgbClr val="000000"/>
                </a:solidFill>
                <a:latin typeface="Funnel Sans" pitchFamily="34" charset="0"/>
                <a:ea typeface="Funnel Sans" pitchFamily="34" charset="-122"/>
                <a:cs typeface="Funnel Sans" pitchFamily="34" charset="-120"/>
              </a:rPr>
              <a:t>Keep their timestamps</a:t>
            </a:r>
            <a:endParaRPr lang="en-US" sz="1400" dirty="0"/>
          </a:p>
        </p:txBody>
      </p:sp>
      <p:sp>
        <p:nvSpPr>
          <p:cNvPr id="10" name="Shape 8"/>
          <p:cNvSpPr/>
          <p:nvPr/>
        </p:nvSpPr>
        <p:spPr>
          <a:xfrm>
            <a:off x="4461756" y="2273002"/>
            <a:ext cx="3268085" cy="984746"/>
          </a:xfrm>
          <a:prstGeom prst="rect">
            <a:avLst/>
          </a:prstGeom>
          <a:solidFill>
            <a:srgbClr val="E4DBF8"/>
          </a:solidFill>
        </p:spPr>
      </p:sp>
      <p:sp>
        <p:nvSpPr>
          <p:cNvPr id="11" name="Text 9"/>
          <p:cNvSpPr/>
          <p:nvPr/>
        </p:nvSpPr>
        <p:spPr>
          <a:xfrm>
            <a:off x="4639551" y="2425402"/>
            <a:ext cx="2912494" cy="281880"/>
          </a:xfrm>
          <a:prstGeom prst="rect">
            <a:avLst/>
          </a:prstGeom>
          <a:noFill/>
        </p:spPr>
        <p:txBody>
          <a:bodyPr wrap="none" lIns="0" tIns="0" rIns="0" bIns="0" rtlCol="0" anchor="t"/>
          <a:lstStyle/>
          <a:p>
            <a:pPr marL="0" indent="0" algn="l">
              <a:lnSpc>
                <a:spcPct val="100000"/>
              </a:lnSpc>
              <a:buNone/>
            </a:pPr>
            <a:r>
              <a:rPr lang="en-US" sz="1850" kern="0" spc="-9" dirty="0">
                <a:solidFill>
                  <a:srgbClr val="000000"/>
                </a:solidFill>
                <a:latin typeface="Funnel Sans SemiBold" pitchFamily="34" charset="0"/>
                <a:ea typeface="Funnel Sans SemiBold" pitchFamily="34" charset="-122"/>
                <a:cs typeface="Funnel Sans SemiBold" pitchFamily="34" charset="-120"/>
              </a:rPr>
              <a:t>MobileNetV2</a:t>
            </a:r>
            <a:endParaRPr lang="en-US" sz="1850" dirty="0"/>
          </a:p>
        </p:txBody>
      </p:sp>
      <p:sp>
        <p:nvSpPr>
          <p:cNvPr id="12" name="Text 10"/>
          <p:cNvSpPr/>
          <p:nvPr/>
        </p:nvSpPr>
        <p:spPr>
          <a:xfrm>
            <a:off x="4639551" y="2856508"/>
            <a:ext cx="3090289" cy="248841"/>
          </a:xfrm>
          <a:prstGeom prst="rect">
            <a:avLst/>
          </a:prstGeom>
          <a:noFill/>
        </p:spPr>
        <p:txBody>
          <a:bodyPr wrap="none" lIns="0" tIns="0" rIns="0" bIns="0" rtlCol="0" anchor="t"/>
          <a:lstStyle/>
          <a:p>
            <a:pPr marL="0" indent="0" algn="l">
              <a:lnSpc>
                <a:spcPct val="117000"/>
              </a:lnSpc>
              <a:buNone/>
            </a:pPr>
            <a:r>
              <a:rPr lang="en-US" sz="1400" dirty="0">
                <a:solidFill>
                  <a:srgbClr val="000000"/>
                </a:solidFill>
                <a:latin typeface="Funnel Sans" pitchFamily="34" charset="0"/>
                <a:ea typeface="Funnel Sans" pitchFamily="34" charset="-122"/>
                <a:cs typeface="Funnel Sans" pitchFamily="34" charset="-120"/>
              </a:rPr>
              <a:t>Extract visual features</a:t>
            </a:r>
            <a:endParaRPr lang="en-US" sz="1400" dirty="0"/>
          </a:p>
        </p:txBody>
      </p:sp>
      <p:sp>
        <p:nvSpPr>
          <p:cNvPr id="13" name="Shape 11"/>
          <p:cNvSpPr/>
          <p:nvPr/>
        </p:nvSpPr>
        <p:spPr>
          <a:xfrm>
            <a:off x="8034633" y="2273002"/>
            <a:ext cx="3268085" cy="984746"/>
          </a:xfrm>
          <a:prstGeom prst="rect">
            <a:avLst/>
          </a:prstGeom>
          <a:solidFill>
            <a:srgbClr val="E4DBF8"/>
          </a:solidFill>
        </p:spPr>
      </p:sp>
      <p:sp>
        <p:nvSpPr>
          <p:cNvPr id="14" name="Text 12"/>
          <p:cNvSpPr/>
          <p:nvPr/>
        </p:nvSpPr>
        <p:spPr>
          <a:xfrm>
            <a:off x="8212428" y="2425402"/>
            <a:ext cx="2912494" cy="281880"/>
          </a:xfrm>
          <a:prstGeom prst="rect">
            <a:avLst/>
          </a:prstGeom>
          <a:noFill/>
        </p:spPr>
        <p:txBody>
          <a:bodyPr wrap="none" lIns="0" tIns="0" rIns="0" bIns="0" rtlCol="0" anchor="t"/>
          <a:lstStyle/>
          <a:p>
            <a:pPr marL="0" indent="0" algn="l">
              <a:lnSpc>
                <a:spcPct val="100000"/>
              </a:lnSpc>
              <a:buNone/>
            </a:pPr>
            <a:r>
              <a:rPr lang="en-US" sz="1850" kern="0" spc="-9" dirty="0">
                <a:solidFill>
                  <a:srgbClr val="000000"/>
                </a:solidFill>
                <a:latin typeface="Funnel Sans SemiBold" pitchFamily="34" charset="0"/>
                <a:ea typeface="Funnel Sans SemiBold" pitchFamily="34" charset="-122"/>
                <a:cs typeface="Funnel Sans SemiBold" pitchFamily="34" charset="-120"/>
              </a:rPr>
              <a:t>Simple TCN</a:t>
            </a:r>
            <a:endParaRPr lang="en-US" sz="1850" dirty="0"/>
          </a:p>
        </p:txBody>
      </p:sp>
      <p:sp>
        <p:nvSpPr>
          <p:cNvPr id="15" name="Text 13"/>
          <p:cNvSpPr/>
          <p:nvPr/>
        </p:nvSpPr>
        <p:spPr>
          <a:xfrm>
            <a:off x="8212428" y="2856508"/>
            <a:ext cx="3090289" cy="248841"/>
          </a:xfrm>
          <a:prstGeom prst="rect">
            <a:avLst/>
          </a:prstGeom>
          <a:noFill/>
        </p:spPr>
        <p:txBody>
          <a:bodyPr wrap="none" lIns="0" tIns="0" rIns="0" bIns="0" rtlCol="0" anchor="t"/>
          <a:lstStyle/>
          <a:p>
            <a:pPr marL="0" indent="0" algn="l">
              <a:lnSpc>
                <a:spcPct val="117000"/>
              </a:lnSpc>
              <a:buNone/>
            </a:pPr>
            <a:r>
              <a:rPr lang="en-US" sz="1400" dirty="0">
                <a:solidFill>
                  <a:srgbClr val="000000"/>
                </a:solidFill>
                <a:latin typeface="Funnel Sans" pitchFamily="34" charset="0"/>
                <a:ea typeface="Funnel Sans" pitchFamily="34" charset="-122"/>
                <a:cs typeface="Funnel Sans" pitchFamily="34" charset="-120"/>
              </a:rPr>
              <a:t>Use consecutive frames</a:t>
            </a:r>
            <a:endParaRPr lang="en-US" sz="1400" dirty="0"/>
          </a:p>
        </p:txBody>
      </p:sp>
      <p:sp>
        <p:nvSpPr>
          <p:cNvPr id="16" name="Shape 14"/>
          <p:cNvSpPr/>
          <p:nvPr/>
        </p:nvSpPr>
        <p:spPr>
          <a:xfrm>
            <a:off x="609585" y="3765748"/>
            <a:ext cx="10972526" cy="1702296"/>
          </a:xfrm>
          <a:prstGeom prst="roundRect">
            <a:avLst>
              <a:gd name="adj" fmla="val 5170"/>
            </a:avLst>
          </a:prstGeom>
          <a:solidFill>
            <a:srgbClr val="FFFCF6"/>
          </a:solidFill>
          <a:effectLst>
            <a:outerShdw blurRad="379730" dist="151130" dir="5400000" algn="bl" rotWithShape="0">
              <a:srgbClr val="6A4FC8">
                <a:alpha val="40000"/>
              </a:srgbClr>
            </a:outerShdw>
          </a:effectLst>
        </p:spPr>
      </p:sp>
      <p:sp>
        <p:nvSpPr>
          <p:cNvPr id="17" name="Text 15"/>
          <p:cNvSpPr/>
          <p:nvPr/>
        </p:nvSpPr>
        <p:spPr>
          <a:xfrm>
            <a:off x="888978" y="3968948"/>
            <a:ext cx="10693132" cy="190500"/>
          </a:xfrm>
          <a:prstGeom prst="rect">
            <a:avLst/>
          </a:prstGeom>
          <a:noFill/>
        </p:spPr>
        <p:txBody>
          <a:bodyPr wrap="none" lIns="0" tIns="0" rIns="0" bIns="0" rtlCol="0" anchor="t"/>
          <a:lstStyle/>
          <a:p>
            <a:pPr marL="0" indent="0" algn="l">
              <a:lnSpc>
                <a:spcPct val="104000"/>
              </a:lnSpc>
              <a:buNone/>
            </a:pPr>
            <a:r>
              <a:rPr lang="en-US" sz="1200" kern="0" spc="96" dirty="0">
                <a:solidFill>
                  <a:srgbClr val="B8367F"/>
                </a:solidFill>
                <a:latin typeface="Funnel Sans SemiBold" pitchFamily="34" charset="0"/>
                <a:ea typeface="Funnel Sans SemiBold" pitchFamily="34" charset="-122"/>
                <a:cs typeface="Funnel Sans SemiBold" pitchFamily="34" charset="-120"/>
              </a:rPr>
              <a:t>STAGE 2 · EXPLAIN THE RESULT</a:t>
            </a:r>
            <a:endParaRPr lang="en-US" sz="1200" dirty="0"/>
          </a:p>
        </p:txBody>
      </p:sp>
      <p:sp>
        <p:nvSpPr>
          <p:cNvPr id="18" name="Shape 16"/>
          <p:cNvSpPr/>
          <p:nvPr/>
        </p:nvSpPr>
        <p:spPr>
          <a:xfrm>
            <a:off x="888978" y="4280098"/>
            <a:ext cx="3267985" cy="984746"/>
          </a:xfrm>
          <a:prstGeom prst="rect">
            <a:avLst/>
          </a:prstGeom>
          <a:solidFill>
            <a:srgbClr val="D3F0ED"/>
          </a:solidFill>
        </p:spPr>
      </p:sp>
      <p:sp>
        <p:nvSpPr>
          <p:cNvPr id="19" name="Text 17"/>
          <p:cNvSpPr/>
          <p:nvPr/>
        </p:nvSpPr>
        <p:spPr>
          <a:xfrm>
            <a:off x="1066773" y="4432498"/>
            <a:ext cx="2912394" cy="281880"/>
          </a:xfrm>
          <a:prstGeom prst="rect">
            <a:avLst/>
          </a:prstGeom>
          <a:noFill/>
        </p:spPr>
        <p:txBody>
          <a:bodyPr wrap="none" lIns="0" tIns="0" rIns="0" bIns="0" rtlCol="0" anchor="t"/>
          <a:lstStyle/>
          <a:p>
            <a:pPr marL="0" indent="0" algn="l">
              <a:lnSpc>
                <a:spcPct val="100000"/>
              </a:lnSpc>
              <a:buNone/>
            </a:pPr>
            <a:r>
              <a:rPr lang="en-US" sz="1850" kern="0" spc="-9" dirty="0">
                <a:solidFill>
                  <a:srgbClr val="000000"/>
                </a:solidFill>
                <a:latin typeface="Funnel Sans SemiBold" pitchFamily="34" charset="0"/>
                <a:ea typeface="Funnel Sans SemiBold" pitchFamily="34" charset="-122"/>
                <a:cs typeface="Funnel Sans SemiBold" pitchFamily="34" charset="-120"/>
              </a:rPr>
              <a:t>Action timeline</a:t>
            </a:r>
            <a:endParaRPr lang="en-US" sz="1850" dirty="0"/>
          </a:p>
        </p:txBody>
      </p:sp>
      <p:sp>
        <p:nvSpPr>
          <p:cNvPr id="20" name="Text 18"/>
          <p:cNvSpPr/>
          <p:nvPr/>
        </p:nvSpPr>
        <p:spPr>
          <a:xfrm>
            <a:off x="1066773" y="4863604"/>
            <a:ext cx="3090190" cy="248841"/>
          </a:xfrm>
          <a:prstGeom prst="rect">
            <a:avLst/>
          </a:prstGeom>
          <a:noFill/>
        </p:spPr>
        <p:txBody>
          <a:bodyPr wrap="none" lIns="0" tIns="0" rIns="0" bIns="0" rtlCol="0" anchor="t"/>
          <a:lstStyle/>
          <a:p>
            <a:pPr marL="0" indent="0" algn="l">
              <a:lnSpc>
                <a:spcPct val="117000"/>
              </a:lnSpc>
              <a:buNone/>
            </a:pPr>
            <a:r>
              <a:rPr lang="en-US" sz="1400" dirty="0">
                <a:solidFill>
                  <a:srgbClr val="000000"/>
                </a:solidFill>
                <a:latin typeface="Funnel Sans" pitchFamily="34" charset="0"/>
                <a:ea typeface="Funnel Sans" pitchFamily="34" charset="-122"/>
                <a:cs typeface="Funnel Sans" pitchFamily="34" charset="-120"/>
              </a:rPr>
              <a:t>Label each time interval</a:t>
            </a:r>
            <a:endParaRPr lang="en-US" sz="1400" dirty="0"/>
          </a:p>
        </p:txBody>
      </p:sp>
      <p:sp>
        <p:nvSpPr>
          <p:cNvPr id="21" name="Shape 19"/>
          <p:cNvSpPr/>
          <p:nvPr/>
        </p:nvSpPr>
        <p:spPr>
          <a:xfrm>
            <a:off x="4461756" y="4280098"/>
            <a:ext cx="3268085" cy="984746"/>
          </a:xfrm>
          <a:prstGeom prst="rect">
            <a:avLst/>
          </a:prstGeom>
          <a:solidFill>
            <a:srgbClr val="D3F0ED"/>
          </a:solidFill>
        </p:spPr>
      </p:sp>
      <p:sp>
        <p:nvSpPr>
          <p:cNvPr id="22" name="Text 20"/>
          <p:cNvSpPr/>
          <p:nvPr/>
        </p:nvSpPr>
        <p:spPr>
          <a:xfrm>
            <a:off x="4639551" y="4432498"/>
            <a:ext cx="2912494" cy="281880"/>
          </a:xfrm>
          <a:prstGeom prst="rect">
            <a:avLst/>
          </a:prstGeom>
          <a:noFill/>
        </p:spPr>
        <p:txBody>
          <a:bodyPr wrap="none" lIns="0" tIns="0" rIns="0" bIns="0" rtlCol="0" anchor="t"/>
          <a:lstStyle/>
          <a:p>
            <a:pPr marL="0" indent="0" algn="l">
              <a:lnSpc>
                <a:spcPct val="100000"/>
              </a:lnSpc>
              <a:buNone/>
            </a:pPr>
            <a:r>
              <a:rPr lang="en-US" sz="1850" kern="0" spc="-9" dirty="0">
                <a:solidFill>
                  <a:srgbClr val="000000"/>
                </a:solidFill>
                <a:latin typeface="Funnel Sans SemiBold" pitchFamily="34" charset="0"/>
                <a:ea typeface="Funnel Sans SemiBold" pitchFamily="34" charset="-122"/>
                <a:cs typeface="Funnel Sans SemiBold" pitchFamily="34" charset="-120"/>
              </a:rPr>
              <a:t>Procedure statistics</a:t>
            </a:r>
            <a:endParaRPr lang="en-US" sz="1850" dirty="0"/>
          </a:p>
        </p:txBody>
      </p:sp>
      <p:sp>
        <p:nvSpPr>
          <p:cNvPr id="23" name="Text 21"/>
          <p:cNvSpPr/>
          <p:nvPr/>
        </p:nvSpPr>
        <p:spPr>
          <a:xfrm>
            <a:off x="4639551" y="4863604"/>
            <a:ext cx="3090289" cy="248841"/>
          </a:xfrm>
          <a:prstGeom prst="rect">
            <a:avLst/>
          </a:prstGeom>
          <a:noFill/>
        </p:spPr>
        <p:txBody>
          <a:bodyPr wrap="none" lIns="0" tIns="0" rIns="0" bIns="0" rtlCol="0" anchor="t"/>
          <a:lstStyle/>
          <a:p>
            <a:pPr marL="0" indent="0" algn="l">
              <a:lnSpc>
                <a:spcPct val="117000"/>
              </a:lnSpc>
              <a:buNone/>
            </a:pPr>
            <a:r>
              <a:rPr lang="en-US" sz="1400" dirty="0">
                <a:solidFill>
                  <a:srgbClr val="000000"/>
                </a:solidFill>
                <a:latin typeface="Funnel Sans" pitchFamily="34" charset="0"/>
                <a:ea typeface="Funnel Sans" pitchFamily="34" charset="-122"/>
                <a:cs typeface="Funnel Sans" pitchFamily="34" charset="-120"/>
              </a:rPr>
              <a:t>Coverage and duration</a:t>
            </a:r>
            <a:endParaRPr lang="en-US" sz="1400" dirty="0"/>
          </a:p>
        </p:txBody>
      </p:sp>
      <p:sp>
        <p:nvSpPr>
          <p:cNvPr id="24" name="Shape 22"/>
          <p:cNvSpPr/>
          <p:nvPr/>
        </p:nvSpPr>
        <p:spPr>
          <a:xfrm>
            <a:off x="8034633" y="4280098"/>
            <a:ext cx="3268085" cy="984746"/>
          </a:xfrm>
          <a:prstGeom prst="rect">
            <a:avLst/>
          </a:prstGeom>
          <a:solidFill>
            <a:srgbClr val="D3F0ED"/>
          </a:solidFill>
        </p:spPr>
      </p:sp>
      <p:sp>
        <p:nvSpPr>
          <p:cNvPr id="25" name="Text 23"/>
          <p:cNvSpPr/>
          <p:nvPr/>
        </p:nvSpPr>
        <p:spPr>
          <a:xfrm>
            <a:off x="8212428" y="4432498"/>
            <a:ext cx="2912494" cy="281880"/>
          </a:xfrm>
          <a:prstGeom prst="rect">
            <a:avLst/>
          </a:prstGeom>
          <a:noFill/>
        </p:spPr>
        <p:txBody>
          <a:bodyPr wrap="none" lIns="0" tIns="0" rIns="0" bIns="0" rtlCol="0" anchor="t"/>
          <a:lstStyle/>
          <a:p>
            <a:pPr marL="0" indent="0" algn="l">
              <a:lnSpc>
                <a:spcPct val="100000"/>
              </a:lnSpc>
              <a:buNone/>
            </a:pPr>
            <a:r>
              <a:rPr lang="en-US" sz="1850" kern="0" spc="-9" dirty="0">
                <a:solidFill>
                  <a:srgbClr val="000000"/>
                </a:solidFill>
                <a:latin typeface="Funnel Sans SemiBold" pitchFamily="34" charset="0"/>
                <a:ea typeface="Funnel Sans SemiBold" pitchFamily="34" charset="-122"/>
                <a:cs typeface="Funnel Sans SemiBold" pitchFamily="34" charset="-120"/>
              </a:rPr>
              <a:t>Language model</a:t>
            </a:r>
            <a:endParaRPr lang="en-US" sz="1850" dirty="0"/>
          </a:p>
        </p:txBody>
      </p:sp>
      <p:sp>
        <p:nvSpPr>
          <p:cNvPr id="26" name="Text 24"/>
          <p:cNvSpPr/>
          <p:nvPr/>
        </p:nvSpPr>
        <p:spPr>
          <a:xfrm>
            <a:off x="8212428" y="4863604"/>
            <a:ext cx="3090289" cy="248841"/>
          </a:xfrm>
          <a:prstGeom prst="rect">
            <a:avLst/>
          </a:prstGeom>
          <a:noFill/>
        </p:spPr>
        <p:txBody>
          <a:bodyPr wrap="none" lIns="0" tIns="0" rIns="0" bIns="0" rtlCol="0" anchor="t"/>
          <a:lstStyle/>
          <a:p>
            <a:pPr marL="0" indent="0" algn="l">
              <a:lnSpc>
                <a:spcPct val="117000"/>
              </a:lnSpc>
              <a:buNone/>
            </a:pPr>
            <a:r>
              <a:rPr lang="en-US" sz="1400" dirty="0">
                <a:solidFill>
                  <a:srgbClr val="000000"/>
                </a:solidFill>
                <a:latin typeface="Funnel Sans" pitchFamily="34" charset="0"/>
                <a:ea typeface="Funnel Sans" pitchFamily="34" charset="-122"/>
                <a:cs typeface="Funnel Sans" pitchFamily="34" charset="-120"/>
              </a:rPr>
              <a:t>Explain with video evidence</a:t>
            </a:r>
            <a:endParaRPr lang="en-US" sz="1400" dirty="0"/>
          </a:p>
        </p:txBody>
      </p:sp>
      <p:sp>
        <p:nvSpPr>
          <p:cNvPr id="27" name="Text 25"/>
          <p:cNvSpPr/>
          <p:nvPr/>
        </p:nvSpPr>
        <p:spPr>
          <a:xfrm>
            <a:off x="609585" y="5645845"/>
            <a:ext cx="11582110" cy="214313"/>
          </a:xfrm>
          <a:prstGeom prst="rect">
            <a:avLst/>
          </a:prstGeom>
          <a:noFill/>
        </p:spPr>
        <p:txBody>
          <a:bodyPr wrap="none" lIns="0" tIns="0" rIns="0" bIns="0" rtlCol="0" anchor="t"/>
          <a:lstStyle/>
          <a:p>
            <a:pPr marL="0" indent="0" algn="l">
              <a:lnSpc>
                <a:spcPct val="112000"/>
              </a:lnSpc>
              <a:buNone/>
            </a:pPr>
            <a:r>
              <a:rPr lang="en-US" sz="1250" dirty="0">
                <a:solidFill>
                  <a:srgbClr val="4A5563"/>
                </a:solidFill>
                <a:latin typeface="Funnel Sans" pitchFamily="34" charset="0"/>
                <a:ea typeface="Funnel Sans" pitchFamily="34" charset="-122"/>
                <a:cs typeface="Funnel Sans" pitchFamily="34" charset="-120"/>
              </a:rPr>
              <a:t>First delivery: analyze a recorded video. More complex models remain optional upgrades.</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5EB"/>
          </a:solidFill>
        </p:spPr>
      </p:sp>
      <p:sp>
        <p:nvSpPr>
          <p:cNvPr id="3" name="Text 1"/>
          <p:cNvSpPr/>
          <p:nvPr/>
        </p:nvSpPr>
        <p:spPr>
          <a:xfrm>
            <a:off x="609585" y="457200"/>
            <a:ext cx="11582110" cy="190500"/>
          </a:xfrm>
          <a:prstGeom prst="rect">
            <a:avLst/>
          </a:prstGeom>
          <a:noFill/>
        </p:spPr>
        <p:txBody>
          <a:bodyPr wrap="none" lIns="0" tIns="0" rIns="0" bIns="0" rtlCol="0" anchor="t"/>
          <a:lstStyle/>
          <a:p>
            <a:pPr marL="0" indent="0" algn="l">
              <a:lnSpc>
                <a:spcPct val="104000"/>
              </a:lnSpc>
              <a:buNone/>
            </a:pPr>
            <a:r>
              <a:rPr lang="en-US" sz="1200" kern="0" spc="96" dirty="0">
                <a:solidFill>
                  <a:srgbClr val="8A3FA8"/>
                </a:solidFill>
                <a:latin typeface="Funnel Sans SemiBold" pitchFamily="34" charset="0"/>
                <a:ea typeface="Funnel Sans SemiBold" pitchFamily="34" charset="-122"/>
                <a:cs typeface="Funnel Sans SemiBold" pitchFamily="34" charset="-120"/>
              </a:rPr>
              <a:t>INTERACTION DESIGN</a:t>
            </a:r>
            <a:endParaRPr lang="en-US" sz="1200" dirty="0"/>
          </a:p>
        </p:txBody>
      </p:sp>
      <p:sp>
        <p:nvSpPr>
          <p:cNvPr id="4" name="Text 2"/>
          <p:cNvSpPr/>
          <p:nvPr/>
        </p:nvSpPr>
        <p:spPr>
          <a:xfrm>
            <a:off x="609585" y="733425"/>
            <a:ext cx="10972526" cy="484584"/>
          </a:xfrm>
          <a:prstGeom prst="rect">
            <a:avLst/>
          </a:prstGeom>
          <a:noFill/>
        </p:spPr>
        <p:txBody>
          <a:bodyPr wrap="none" lIns="0" tIns="0" rIns="0" bIns="0" rtlCol="0" anchor="t"/>
          <a:lstStyle/>
          <a:p>
            <a:pPr marL="0" indent="0" algn="l">
              <a:lnSpc>
                <a:spcPct val="88000"/>
              </a:lnSpc>
              <a:buNone/>
            </a:pPr>
            <a:r>
              <a:rPr lang="en-US" sz="3600" b="1" kern="0" spc="-36" dirty="0">
                <a:solidFill>
                  <a:srgbClr val="051D3A"/>
                </a:solidFill>
                <a:latin typeface="Funnel Display Bold" pitchFamily="34" charset="0"/>
                <a:ea typeface="Funnel Display Bold" pitchFamily="34" charset="-122"/>
                <a:cs typeface="Funnel Display Bold" pitchFamily="34" charset="-120"/>
              </a:rPr>
              <a:t>What the user will see</a:t>
            </a:r>
            <a:endParaRPr lang="en-US" sz="3600" dirty="0"/>
          </a:p>
        </p:txBody>
      </p:sp>
      <p:sp>
        <p:nvSpPr>
          <p:cNvPr id="5" name="Text 3"/>
          <p:cNvSpPr/>
          <p:nvPr/>
        </p:nvSpPr>
        <p:spPr>
          <a:xfrm>
            <a:off x="609585" y="1424384"/>
            <a:ext cx="11582110" cy="214313"/>
          </a:xfrm>
          <a:prstGeom prst="rect">
            <a:avLst/>
          </a:prstGeom>
          <a:noFill/>
        </p:spPr>
        <p:txBody>
          <a:bodyPr wrap="none" lIns="0" tIns="0" rIns="0" bIns="0" rtlCol="0" anchor="t"/>
          <a:lstStyle/>
          <a:p>
            <a:pPr marL="0" indent="0" algn="l">
              <a:lnSpc>
                <a:spcPct val="112000"/>
              </a:lnSpc>
              <a:buNone/>
            </a:pPr>
            <a:r>
              <a:rPr lang="en-US" sz="1250" dirty="0">
                <a:solidFill>
                  <a:srgbClr val="4A5563"/>
                </a:solidFill>
                <a:latin typeface="Funnel Sans" pitchFamily="34" charset="0"/>
                <a:ea typeface="Funnel Sans" pitchFamily="34" charset="-122"/>
                <a:cs typeface="Funnel Sans" pitchFamily="34" charset="-120"/>
              </a:rPr>
              <a:t>Illustrative example, not an experimental result</a:t>
            </a:r>
            <a:endParaRPr lang="en-US" sz="1250" dirty="0"/>
          </a:p>
        </p:txBody>
      </p:sp>
      <p:sp>
        <p:nvSpPr>
          <p:cNvPr id="6" name="Shape 4"/>
          <p:cNvSpPr/>
          <p:nvPr/>
        </p:nvSpPr>
        <p:spPr>
          <a:xfrm>
            <a:off x="609585" y="2153940"/>
            <a:ext cx="10972526" cy="3339604"/>
          </a:xfrm>
          <a:prstGeom prst="roundRect">
            <a:avLst>
              <a:gd name="adj" fmla="val 2635"/>
            </a:avLst>
          </a:prstGeom>
          <a:solidFill>
            <a:srgbClr val="FFFCF6"/>
          </a:solidFill>
          <a:effectLst>
            <a:outerShdw blurRad="379730" dist="151130" dir="5400000" algn="bl" rotWithShape="0">
              <a:srgbClr val="6A4FC8">
                <a:alpha val="40000"/>
              </a:srgbClr>
            </a:outerShdw>
          </a:effectLst>
        </p:spPr>
      </p:sp>
      <p:sp>
        <p:nvSpPr>
          <p:cNvPr id="7" name="Shape 5"/>
          <p:cNvSpPr/>
          <p:nvPr/>
        </p:nvSpPr>
        <p:spPr>
          <a:xfrm>
            <a:off x="914377" y="2407940"/>
            <a:ext cx="1280088" cy="1320998"/>
          </a:xfrm>
          <a:prstGeom prst="rect">
            <a:avLst/>
          </a:prstGeom>
          <a:solidFill>
            <a:srgbClr val="E4DBF8"/>
          </a:solidFill>
        </p:spPr>
      </p:sp>
      <p:sp>
        <p:nvSpPr>
          <p:cNvPr id="8" name="Text 6"/>
          <p:cNvSpPr/>
          <p:nvPr/>
        </p:nvSpPr>
        <p:spPr>
          <a:xfrm>
            <a:off x="1313127" y="2585740"/>
            <a:ext cx="881338" cy="214313"/>
          </a:xfrm>
          <a:prstGeom prst="rect">
            <a:avLst/>
          </a:prstGeom>
          <a:noFill/>
        </p:spPr>
        <p:txBody>
          <a:bodyPr wrap="none" lIns="0" tIns="0" rIns="0" bIns="0" rtlCol="0" anchor="t"/>
          <a:lstStyle/>
          <a:p>
            <a:pPr marL="0" indent="0" algn="l">
              <a:lnSpc>
                <a:spcPct val="112000"/>
              </a:lnSpc>
              <a:buNone/>
            </a:pPr>
            <a:r>
              <a:rPr lang="en-US" sz="1250" dirty="0">
                <a:solidFill>
                  <a:srgbClr val="000000"/>
                </a:solidFill>
                <a:latin typeface="Funnel Sans" pitchFamily="34" charset="0"/>
                <a:ea typeface="Funnel Sans" pitchFamily="34" charset="-122"/>
                <a:cs typeface="Funnel Sans" pitchFamily="34" charset="-120"/>
              </a:rPr>
              <a:t>0s – 3s</a:t>
            </a:r>
            <a:endParaRPr lang="en-US" sz="1250" dirty="0"/>
          </a:p>
        </p:txBody>
      </p:sp>
      <p:sp>
        <p:nvSpPr>
          <p:cNvPr id="9" name="Text 7"/>
          <p:cNvSpPr/>
          <p:nvPr/>
        </p:nvSpPr>
        <p:spPr>
          <a:xfrm>
            <a:off x="1252109" y="2987377"/>
            <a:ext cx="604624" cy="281880"/>
          </a:xfrm>
          <a:prstGeom prst="rect">
            <a:avLst/>
          </a:prstGeom>
          <a:noFill/>
        </p:spPr>
        <p:txBody>
          <a:bodyPr wrap="none" lIns="0" tIns="0" rIns="0" bIns="0" rtlCol="0" anchor="t"/>
          <a:lstStyle/>
          <a:p>
            <a:pPr marL="0" indent="0" algn="l">
              <a:lnSpc>
                <a:spcPct val="100000"/>
              </a:lnSpc>
              <a:buNone/>
            </a:pPr>
            <a:r>
              <a:rPr lang="en-US" sz="1850" kern="0" spc="-9" dirty="0">
                <a:solidFill>
                  <a:srgbClr val="000000"/>
                </a:solidFill>
                <a:latin typeface="Funnel Sans SemiBold" pitchFamily="34" charset="0"/>
                <a:ea typeface="Funnel Sans SemiBold" pitchFamily="34" charset="-122"/>
                <a:cs typeface="Funnel Sans SemiBold" pitchFamily="34" charset="-120"/>
              </a:rPr>
              <a:t>Other</a:t>
            </a:r>
            <a:endParaRPr lang="en-US" sz="1850" dirty="0"/>
          </a:p>
        </p:txBody>
      </p:sp>
      <p:sp>
        <p:nvSpPr>
          <p:cNvPr id="10" name="Shape 8"/>
          <p:cNvSpPr/>
          <p:nvPr/>
        </p:nvSpPr>
        <p:spPr>
          <a:xfrm>
            <a:off x="2346862" y="2407940"/>
            <a:ext cx="1600160" cy="1320998"/>
          </a:xfrm>
          <a:prstGeom prst="rect">
            <a:avLst/>
          </a:prstGeom>
          <a:solidFill>
            <a:srgbClr val="D3F0ED"/>
          </a:solidFill>
        </p:spPr>
      </p:sp>
      <p:sp>
        <p:nvSpPr>
          <p:cNvPr id="11" name="Text 9"/>
          <p:cNvSpPr/>
          <p:nvPr/>
        </p:nvSpPr>
        <p:spPr>
          <a:xfrm>
            <a:off x="2905648" y="2585740"/>
            <a:ext cx="1041374" cy="214313"/>
          </a:xfrm>
          <a:prstGeom prst="rect">
            <a:avLst/>
          </a:prstGeom>
          <a:noFill/>
        </p:spPr>
        <p:txBody>
          <a:bodyPr wrap="none" lIns="0" tIns="0" rIns="0" bIns="0" rtlCol="0" anchor="t"/>
          <a:lstStyle/>
          <a:p>
            <a:pPr marL="0" indent="0" algn="l">
              <a:lnSpc>
                <a:spcPct val="112000"/>
              </a:lnSpc>
              <a:buNone/>
            </a:pPr>
            <a:r>
              <a:rPr lang="en-US" sz="1250" dirty="0">
                <a:solidFill>
                  <a:srgbClr val="000000"/>
                </a:solidFill>
                <a:latin typeface="Funnel Sans" pitchFamily="34" charset="0"/>
                <a:ea typeface="Funnel Sans" pitchFamily="34" charset="-122"/>
                <a:cs typeface="Funnel Sans" pitchFamily="34" charset="-120"/>
              </a:rPr>
              <a:t>3s – 8s</a:t>
            </a:r>
            <a:endParaRPr lang="en-US" sz="1250" dirty="0"/>
          </a:p>
        </p:txBody>
      </p:sp>
      <p:sp>
        <p:nvSpPr>
          <p:cNvPr id="12" name="Text 10"/>
          <p:cNvSpPr/>
          <p:nvPr/>
        </p:nvSpPr>
        <p:spPr>
          <a:xfrm>
            <a:off x="2458281" y="2987377"/>
            <a:ext cx="1377221" cy="281880"/>
          </a:xfrm>
          <a:prstGeom prst="rect">
            <a:avLst/>
          </a:prstGeom>
          <a:noFill/>
        </p:spPr>
        <p:txBody>
          <a:bodyPr wrap="none" lIns="0" tIns="0" rIns="0" bIns="0" rtlCol="0" anchor="t"/>
          <a:lstStyle/>
          <a:p>
            <a:pPr marL="0" indent="0" algn="l">
              <a:lnSpc>
                <a:spcPct val="100000"/>
              </a:lnSpc>
              <a:buNone/>
            </a:pPr>
            <a:r>
              <a:rPr lang="en-US" sz="1850" kern="0" spc="-9" dirty="0">
                <a:solidFill>
                  <a:srgbClr val="000000"/>
                </a:solidFill>
                <a:latin typeface="Funnel Sans SemiBold" pitchFamily="34" charset="0"/>
                <a:ea typeface="Funnel Sans SemiBold" pitchFamily="34" charset="-122"/>
                <a:cs typeface="Funnel Sans SemiBold" pitchFamily="34" charset="-120"/>
              </a:rPr>
              <a:t>Palm to palm</a:t>
            </a:r>
            <a:endParaRPr lang="en-US" sz="1850" dirty="0"/>
          </a:p>
        </p:txBody>
      </p:sp>
      <p:sp>
        <p:nvSpPr>
          <p:cNvPr id="13" name="Shape 11"/>
          <p:cNvSpPr/>
          <p:nvPr/>
        </p:nvSpPr>
        <p:spPr>
          <a:xfrm>
            <a:off x="4099418" y="2407940"/>
            <a:ext cx="1600160" cy="1320998"/>
          </a:xfrm>
          <a:prstGeom prst="rect">
            <a:avLst/>
          </a:prstGeom>
          <a:solidFill>
            <a:srgbClr val="E4DBF8"/>
          </a:solidFill>
        </p:spPr>
      </p:sp>
      <p:sp>
        <p:nvSpPr>
          <p:cNvPr id="14" name="Text 12"/>
          <p:cNvSpPr/>
          <p:nvPr/>
        </p:nvSpPr>
        <p:spPr>
          <a:xfrm>
            <a:off x="4614549" y="2585740"/>
            <a:ext cx="1085029" cy="214313"/>
          </a:xfrm>
          <a:prstGeom prst="rect">
            <a:avLst/>
          </a:prstGeom>
          <a:noFill/>
        </p:spPr>
        <p:txBody>
          <a:bodyPr wrap="none" lIns="0" tIns="0" rIns="0" bIns="0" rtlCol="0" anchor="t"/>
          <a:lstStyle/>
          <a:p>
            <a:pPr marL="0" indent="0" algn="l">
              <a:lnSpc>
                <a:spcPct val="112000"/>
              </a:lnSpc>
              <a:buNone/>
            </a:pPr>
            <a:r>
              <a:rPr lang="en-US" sz="1250" dirty="0">
                <a:solidFill>
                  <a:srgbClr val="000000"/>
                </a:solidFill>
                <a:latin typeface="Funnel Sans" pitchFamily="34" charset="0"/>
                <a:ea typeface="Funnel Sans" pitchFamily="34" charset="-122"/>
                <a:cs typeface="Funnel Sans" pitchFamily="34" charset="-120"/>
              </a:rPr>
              <a:t>8s – 13s</a:t>
            </a:r>
            <a:endParaRPr lang="en-US" sz="1250" dirty="0"/>
          </a:p>
        </p:txBody>
      </p:sp>
      <p:sp>
        <p:nvSpPr>
          <p:cNvPr id="15" name="Text 13"/>
          <p:cNvSpPr/>
          <p:nvPr/>
        </p:nvSpPr>
        <p:spPr>
          <a:xfrm>
            <a:off x="4201015" y="2987377"/>
            <a:ext cx="1396965" cy="563761"/>
          </a:xfrm>
          <a:prstGeom prst="rect">
            <a:avLst/>
          </a:prstGeom>
          <a:noFill/>
        </p:spPr>
        <p:txBody>
          <a:bodyPr wrap="square" lIns="0" tIns="0" rIns="0" bIns="0" rtlCol="0" anchor="t">
            <a:normAutofit/>
          </a:bodyPr>
          <a:lstStyle/>
          <a:p>
            <a:pPr marL="0" indent="0" algn="l">
              <a:lnSpc>
                <a:spcPct val="100000"/>
              </a:lnSpc>
              <a:buNone/>
            </a:pPr>
            <a:r>
              <a:rPr lang="en-US" sz="1850" kern="0" spc="-9" dirty="0">
                <a:solidFill>
                  <a:srgbClr val="000000"/>
                </a:solidFill>
                <a:latin typeface="Funnel Sans SemiBold" pitchFamily="34" charset="0"/>
                <a:ea typeface="Funnel Sans SemiBold" pitchFamily="34" charset="-122"/>
                <a:cs typeface="Funnel Sans SemiBold" pitchFamily="34" charset="-120"/>
              </a:rPr>
              <a:t>Palm over dorsum</a:t>
            </a:r>
            <a:endParaRPr lang="en-US" sz="1850" dirty="0"/>
          </a:p>
        </p:txBody>
      </p:sp>
      <p:sp>
        <p:nvSpPr>
          <p:cNvPr id="16" name="Shape 14"/>
          <p:cNvSpPr/>
          <p:nvPr/>
        </p:nvSpPr>
        <p:spPr>
          <a:xfrm>
            <a:off x="5851974" y="2407940"/>
            <a:ext cx="1600160" cy="1320998"/>
          </a:xfrm>
          <a:prstGeom prst="rect">
            <a:avLst/>
          </a:prstGeom>
          <a:solidFill>
            <a:srgbClr val="D3F0ED"/>
          </a:solidFill>
        </p:spPr>
      </p:sp>
      <p:sp>
        <p:nvSpPr>
          <p:cNvPr id="17" name="Text 15"/>
          <p:cNvSpPr/>
          <p:nvPr/>
        </p:nvSpPr>
        <p:spPr>
          <a:xfrm>
            <a:off x="6323450" y="2585740"/>
            <a:ext cx="1128684" cy="214313"/>
          </a:xfrm>
          <a:prstGeom prst="rect">
            <a:avLst/>
          </a:prstGeom>
          <a:noFill/>
        </p:spPr>
        <p:txBody>
          <a:bodyPr wrap="none" lIns="0" tIns="0" rIns="0" bIns="0" rtlCol="0" anchor="t"/>
          <a:lstStyle/>
          <a:p>
            <a:pPr marL="0" indent="0" algn="l">
              <a:lnSpc>
                <a:spcPct val="112000"/>
              </a:lnSpc>
              <a:buNone/>
            </a:pPr>
            <a:r>
              <a:rPr lang="en-US" sz="1250" dirty="0">
                <a:solidFill>
                  <a:srgbClr val="000000"/>
                </a:solidFill>
                <a:latin typeface="Funnel Sans" pitchFamily="34" charset="0"/>
                <a:ea typeface="Funnel Sans" pitchFamily="34" charset="-122"/>
                <a:cs typeface="Funnel Sans" pitchFamily="34" charset="-120"/>
              </a:rPr>
              <a:t>13s – 18s</a:t>
            </a:r>
            <a:endParaRPr lang="en-US" sz="1250" dirty="0"/>
          </a:p>
        </p:txBody>
      </p:sp>
      <p:sp>
        <p:nvSpPr>
          <p:cNvPr id="18" name="Text 16"/>
          <p:cNvSpPr/>
          <p:nvPr/>
        </p:nvSpPr>
        <p:spPr>
          <a:xfrm>
            <a:off x="5953571" y="2987377"/>
            <a:ext cx="1396965" cy="563761"/>
          </a:xfrm>
          <a:prstGeom prst="rect">
            <a:avLst/>
          </a:prstGeom>
          <a:noFill/>
        </p:spPr>
        <p:txBody>
          <a:bodyPr wrap="square" lIns="0" tIns="0" rIns="0" bIns="0" rtlCol="0" anchor="t">
            <a:normAutofit/>
          </a:bodyPr>
          <a:lstStyle/>
          <a:p>
            <a:pPr marL="0" indent="0" algn="l">
              <a:lnSpc>
                <a:spcPct val="100000"/>
              </a:lnSpc>
              <a:buNone/>
            </a:pPr>
            <a:r>
              <a:rPr lang="en-US" sz="1850" kern="0" spc="-9" dirty="0">
                <a:solidFill>
                  <a:srgbClr val="000000"/>
                </a:solidFill>
                <a:latin typeface="Funnel Sans SemiBold" pitchFamily="34" charset="0"/>
                <a:ea typeface="Funnel Sans SemiBold" pitchFamily="34" charset="-122"/>
                <a:cs typeface="Funnel Sans SemiBold" pitchFamily="34" charset="-120"/>
              </a:rPr>
              <a:t>Interlaced fingers</a:t>
            </a:r>
            <a:endParaRPr lang="en-US" sz="1850" dirty="0"/>
          </a:p>
        </p:txBody>
      </p:sp>
      <p:sp>
        <p:nvSpPr>
          <p:cNvPr id="19" name="Shape 17"/>
          <p:cNvSpPr/>
          <p:nvPr/>
        </p:nvSpPr>
        <p:spPr>
          <a:xfrm>
            <a:off x="7604530" y="2407940"/>
            <a:ext cx="1760196" cy="1320998"/>
          </a:xfrm>
          <a:prstGeom prst="rect">
            <a:avLst/>
          </a:prstGeom>
          <a:solidFill>
            <a:srgbClr val="6A4FC8"/>
          </a:solidFill>
        </p:spPr>
      </p:sp>
      <p:sp>
        <p:nvSpPr>
          <p:cNvPr id="20" name="Text 18"/>
          <p:cNvSpPr/>
          <p:nvPr/>
        </p:nvSpPr>
        <p:spPr>
          <a:xfrm>
            <a:off x="8155974" y="2585740"/>
            <a:ext cx="1208752" cy="214313"/>
          </a:xfrm>
          <a:prstGeom prst="rect">
            <a:avLst/>
          </a:prstGeom>
          <a:noFill/>
        </p:spPr>
        <p:txBody>
          <a:bodyPr wrap="none" lIns="0" tIns="0" rIns="0" bIns="0" rtlCol="0" anchor="t"/>
          <a:lstStyle/>
          <a:p>
            <a:pPr marL="0" indent="0" algn="l">
              <a:lnSpc>
                <a:spcPct val="112000"/>
              </a:lnSpc>
              <a:buNone/>
            </a:pPr>
            <a:r>
              <a:rPr lang="en-US" sz="1250" dirty="0">
                <a:solidFill>
                  <a:srgbClr val="FFFFFF"/>
                </a:solidFill>
                <a:latin typeface="Funnel Sans" pitchFamily="34" charset="0"/>
                <a:ea typeface="Funnel Sans" pitchFamily="34" charset="-122"/>
                <a:cs typeface="Funnel Sans" pitchFamily="34" charset="-120"/>
              </a:rPr>
              <a:t>18s – 23s</a:t>
            </a:r>
            <a:endParaRPr lang="en-US" sz="1250" dirty="0"/>
          </a:p>
        </p:txBody>
      </p:sp>
      <p:sp>
        <p:nvSpPr>
          <p:cNvPr id="21" name="Text 19"/>
          <p:cNvSpPr/>
          <p:nvPr/>
        </p:nvSpPr>
        <p:spPr>
          <a:xfrm>
            <a:off x="7706128" y="2987377"/>
            <a:ext cx="1557001" cy="563761"/>
          </a:xfrm>
          <a:prstGeom prst="rect">
            <a:avLst/>
          </a:prstGeom>
          <a:noFill/>
        </p:spPr>
        <p:txBody>
          <a:bodyPr wrap="square" lIns="0" tIns="0" rIns="0" bIns="0" rtlCol="0" anchor="t">
            <a:normAutofit/>
          </a:bodyPr>
          <a:lstStyle/>
          <a:p>
            <a:pPr marL="0" indent="0" algn="l">
              <a:lnSpc>
                <a:spcPct val="100000"/>
              </a:lnSpc>
              <a:buNone/>
            </a:pPr>
            <a:r>
              <a:rPr lang="en-US" sz="1850" kern="0" spc="-9" dirty="0">
                <a:solidFill>
                  <a:srgbClr val="FFFFFF"/>
                </a:solidFill>
                <a:latin typeface="Funnel Sans SemiBold" pitchFamily="34" charset="0"/>
                <a:ea typeface="Funnel Sans SemiBold" pitchFamily="34" charset="-122"/>
                <a:cs typeface="Funnel Sans SemiBold" pitchFamily="34" charset="-120"/>
              </a:rPr>
              <a:t>Thumb rubbing</a:t>
            </a:r>
            <a:endParaRPr lang="en-US" sz="1850" dirty="0"/>
          </a:p>
        </p:txBody>
      </p:sp>
      <p:sp>
        <p:nvSpPr>
          <p:cNvPr id="22" name="Shape 20"/>
          <p:cNvSpPr/>
          <p:nvPr/>
        </p:nvSpPr>
        <p:spPr>
          <a:xfrm>
            <a:off x="9517122" y="2407940"/>
            <a:ext cx="1760196" cy="1320998"/>
          </a:xfrm>
          <a:prstGeom prst="rect">
            <a:avLst/>
          </a:prstGeom>
          <a:solidFill>
            <a:srgbClr val="157C78"/>
          </a:solidFill>
        </p:spPr>
      </p:sp>
      <p:sp>
        <p:nvSpPr>
          <p:cNvPr id="23" name="Text 21"/>
          <p:cNvSpPr/>
          <p:nvPr/>
        </p:nvSpPr>
        <p:spPr>
          <a:xfrm>
            <a:off x="10068566" y="2585740"/>
            <a:ext cx="1208752" cy="214313"/>
          </a:xfrm>
          <a:prstGeom prst="rect">
            <a:avLst/>
          </a:prstGeom>
          <a:noFill/>
        </p:spPr>
        <p:txBody>
          <a:bodyPr wrap="none" lIns="0" tIns="0" rIns="0" bIns="0" rtlCol="0" anchor="t"/>
          <a:lstStyle/>
          <a:p>
            <a:pPr marL="0" indent="0" algn="l">
              <a:lnSpc>
                <a:spcPct val="112000"/>
              </a:lnSpc>
              <a:buNone/>
            </a:pPr>
            <a:r>
              <a:rPr lang="en-US" sz="1250" dirty="0">
                <a:solidFill>
                  <a:srgbClr val="FFFFFF"/>
                </a:solidFill>
                <a:latin typeface="Funnel Sans" pitchFamily="34" charset="0"/>
                <a:ea typeface="Funnel Sans" pitchFamily="34" charset="-122"/>
                <a:cs typeface="Funnel Sans" pitchFamily="34" charset="-120"/>
              </a:rPr>
              <a:t>23s – 28s</a:t>
            </a:r>
            <a:endParaRPr lang="en-US" sz="1250" dirty="0"/>
          </a:p>
        </p:txBody>
      </p:sp>
      <p:sp>
        <p:nvSpPr>
          <p:cNvPr id="24" name="Text 22"/>
          <p:cNvSpPr/>
          <p:nvPr/>
        </p:nvSpPr>
        <p:spPr>
          <a:xfrm>
            <a:off x="9618720" y="2987377"/>
            <a:ext cx="1557001" cy="563761"/>
          </a:xfrm>
          <a:prstGeom prst="rect">
            <a:avLst/>
          </a:prstGeom>
          <a:noFill/>
        </p:spPr>
        <p:txBody>
          <a:bodyPr wrap="square" lIns="0" tIns="0" rIns="0" bIns="0" rtlCol="0" anchor="t">
            <a:normAutofit/>
          </a:bodyPr>
          <a:lstStyle/>
          <a:p>
            <a:pPr marL="0" indent="0" algn="l">
              <a:lnSpc>
                <a:spcPct val="100000"/>
              </a:lnSpc>
              <a:buNone/>
            </a:pPr>
            <a:r>
              <a:rPr lang="en-US" sz="1850" kern="0" spc="-9" dirty="0">
                <a:solidFill>
                  <a:srgbClr val="FFFFFF"/>
                </a:solidFill>
                <a:latin typeface="Funnel Sans SemiBold" pitchFamily="34" charset="0"/>
                <a:ea typeface="Funnel Sans SemiBold" pitchFamily="34" charset="-122"/>
                <a:cs typeface="Funnel Sans SemiBold" pitchFamily="34" charset="-120"/>
              </a:rPr>
              <a:t>Fingertips to palm</a:t>
            </a:r>
            <a:endParaRPr lang="en-US" sz="1850" dirty="0"/>
          </a:p>
        </p:txBody>
      </p:sp>
      <p:sp>
        <p:nvSpPr>
          <p:cNvPr id="25" name="Text 23"/>
          <p:cNvSpPr/>
          <p:nvPr/>
        </p:nvSpPr>
        <p:spPr>
          <a:xfrm>
            <a:off x="914377" y="4277519"/>
            <a:ext cx="4693822" cy="190500"/>
          </a:xfrm>
          <a:prstGeom prst="rect">
            <a:avLst/>
          </a:prstGeom>
          <a:noFill/>
        </p:spPr>
        <p:txBody>
          <a:bodyPr wrap="none" lIns="0" tIns="0" rIns="0" bIns="0" rtlCol="0" anchor="t"/>
          <a:lstStyle/>
          <a:p>
            <a:pPr marL="0" indent="0" algn="l">
              <a:lnSpc>
                <a:spcPct val="104000"/>
              </a:lnSpc>
              <a:buNone/>
            </a:pPr>
            <a:r>
              <a:rPr lang="en-US" sz="1200" kern="0" spc="96" dirty="0">
                <a:solidFill>
                  <a:srgbClr val="B8367F"/>
                </a:solidFill>
                <a:latin typeface="Funnel Sans SemiBold" pitchFamily="34" charset="0"/>
                <a:ea typeface="Funnel Sans SemiBold" pitchFamily="34" charset="-122"/>
                <a:cs typeface="Funnel Sans SemiBold" pitchFamily="34" charset="-120"/>
              </a:rPr>
              <a:t>USER QUERY</a:t>
            </a:r>
            <a:endParaRPr lang="en-US" sz="1200" dirty="0"/>
          </a:p>
        </p:txBody>
      </p:sp>
      <p:sp>
        <p:nvSpPr>
          <p:cNvPr id="26" name="Text 24"/>
          <p:cNvSpPr/>
          <p:nvPr/>
        </p:nvSpPr>
        <p:spPr>
          <a:xfrm>
            <a:off x="914377" y="4553744"/>
            <a:ext cx="4693822" cy="365720"/>
          </a:xfrm>
          <a:prstGeom prst="rect">
            <a:avLst/>
          </a:prstGeom>
          <a:noFill/>
        </p:spPr>
        <p:txBody>
          <a:bodyPr wrap="none" lIns="0" tIns="0" rIns="0" bIns="0" rtlCol="0" anchor="t"/>
          <a:lstStyle/>
          <a:p>
            <a:pPr marL="0" indent="0" algn="l">
              <a:lnSpc>
                <a:spcPct val="100000"/>
              </a:lnSpc>
              <a:buNone/>
            </a:pPr>
            <a:r>
              <a:rPr lang="en-US" sz="2400" b="1" kern="0" spc="-12" dirty="0">
                <a:solidFill>
                  <a:srgbClr val="2B3541"/>
                </a:solidFill>
                <a:latin typeface="Funnel Sans Bold" pitchFamily="34" charset="0"/>
                <a:ea typeface="Funnel Sans Bold" pitchFamily="34" charset="-122"/>
                <a:cs typeface="Funnel Sans Bold" pitchFamily="34" charset="-120"/>
              </a:rPr>
              <a:t>“Did I complete every step?”</a:t>
            </a:r>
            <a:endParaRPr lang="en-US" sz="2400" dirty="0"/>
          </a:p>
        </p:txBody>
      </p:sp>
      <p:sp>
        <p:nvSpPr>
          <p:cNvPr id="27" name="Text 25"/>
          <p:cNvSpPr/>
          <p:nvPr/>
        </p:nvSpPr>
        <p:spPr>
          <a:xfrm>
            <a:off x="6192286" y="3957538"/>
            <a:ext cx="5085032" cy="190500"/>
          </a:xfrm>
          <a:prstGeom prst="rect">
            <a:avLst/>
          </a:prstGeom>
          <a:noFill/>
        </p:spPr>
        <p:txBody>
          <a:bodyPr wrap="none" lIns="0" tIns="0" rIns="0" bIns="0" rtlCol="0" anchor="t"/>
          <a:lstStyle/>
          <a:p>
            <a:pPr marL="0" indent="0" algn="l">
              <a:lnSpc>
                <a:spcPct val="104000"/>
              </a:lnSpc>
              <a:buNone/>
            </a:pPr>
            <a:r>
              <a:rPr lang="en-US" sz="1200" kern="0" spc="96" dirty="0">
                <a:solidFill>
                  <a:srgbClr val="2B3541"/>
                </a:solidFill>
                <a:latin typeface="Funnel Sans SemiBold" pitchFamily="34" charset="0"/>
                <a:ea typeface="Funnel Sans SemiBold" pitchFamily="34" charset="-122"/>
                <a:cs typeface="Funnel Sans SemiBold" pitchFamily="34" charset="-120"/>
              </a:rPr>
              <a:t>SYSTEM RESPONSE</a:t>
            </a:r>
            <a:endParaRPr lang="en-US" sz="1200" dirty="0"/>
          </a:p>
        </p:txBody>
      </p:sp>
      <p:sp>
        <p:nvSpPr>
          <p:cNvPr id="28" name="Text 26"/>
          <p:cNvSpPr/>
          <p:nvPr/>
        </p:nvSpPr>
        <p:spPr>
          <a:xfrm>
            <a:off x="6192286" y="4233763"/>
            <a:ext cx="5085032" cy="1005780"/>
          </a:xfrm>
          <a:prstGeom prst="rect">
            <a:avLst/>
          </a:prstGeom>
          <a:noFill/>
        </p:spPr>
        <p:txBody>
          <a:bodyPr wrap="square" lIns="0" tIns="0" rIns="0" bIns="0" rtlCol="0" anchor="t">
            <a:normAutofit/>
          </a:bodyPr>
          <a:lstStyle/>
          <a:p>
            <a:pPr marL="0" indent="0" algn="l">
              <a:lnSpc>
                <a:spcPct val="100000"/>
              </a:lnSpc>
              <a:buNone/>
            </a:pPr>
            <a:r>
              <a:rPr lang="en-US" sz="2200" kern="0" spc="-11" dirty="0">
                <a:solidFill>
                  <a:srgbClr val="2B3541"/>
                </a:solidFill>
                <a:latin typeface="Funnel Sans SemiBold" pitchFamily="34" charset="0"/>
                <a:ea typeface="Funnel Sans SemiBold" pitchFamily="34" charset="-122"/>
                <a:cs typeface="Funnel Sans SemiBold" pitchFamily="34" charset="-120"/>
              </a:rPr>
              <a:t>“Step 4 was not detected. Thumb rubbing was detected from 18 to 23 seconds.”</a:t>
            </a:r>
            <a:endParaRPr lang="en-US" sz="2200" dirty="0"/>
          </a:p>
        </p:txBody>
      </p:sp>
      <p:sp>
        <p:nvSpPr>
          <p:cNvPr id="29" name="Text 27"/>
          <p:cNvSpPr/>
          <p:nvPr/>
        </p:nvSpPr>
        <p:spPr>
          <a:xfrm>
            <a:off x="609585" y="5671344"/>
            <a:ext cx="11582110" cy="214313"/>
          </a:xfrm>
          <a:prstGeom prst="rect">
            <a:avLst/>
          </a:prstGeom>
          <a:noFill/>
        </p:spPr>
        <p:txBody>
          <a:bodyPr wrap="none" lIns="0" tIns="0" rIns="0" bIns="0" rtlCol="0" anchor="t"/>
          <a:lstStyle/>
          <a:p>
            <a:pPr marL="0" indent="0" algn="l">
              <a:lnSpc>
                <a:spcPct val="112000"/>
              </a:lnSpc>
              <a:buNone/>
            </a:pPr>
            <a:r>
              <a:rPr lang="en-US" sz="1250" dirty="0">
                <a:solidFill>
                  <a:srgbClr val="4A5563"/>
                </a:solidFill>
                <a:latin typeface="Funnel Sans" pitchFamily="34" charset="0"/>
                <a:ea typeface="Funnel Sans" pitchFamily="34" charset="-122"/>
                <a:cs typeface="Funnel Sans" pitchFamily="34" charset="-120"/>
              </a:rPr>
              <a:t>If the video is unclear, the system should say that it cannot confirm an action.</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5EB"/>
          </a:solidFill>
        </p:spPr>
      </p:sp>
      <p:sp>
        <p:nvSpPr>
          <p:cNvPr id="3" name="Text 1"/>
          <p:cNvSpPr/>
          <p:nvPr/>
        </p:nvSpPr>
        <p:spPr>
          <a:xfrm>
            <a:off x="634984" y="533400"/>
            <a:ext cx="7086423" cy="190500"/>
          </a:xfrm>
          <a:prstGeom prst="rect">
            <a:avLst/>
          </a:prstGeom>
          <a:noFill/>
        </p:spPr>
        <p:txBody>
          <a:bodyPr wrap="none" lIns="0" tIns="0" rIns="0" bIns="0" rtlCol="0" anchor="t"/>
          <a:lstStyle/>
          <a:p>
            <a:pPr marL="0" indent="0" algn="l">
              <a:lnSpc>
                <a:spcPct val="104000"/>
              </a:lnSpc>
              <a:buNone/>
            </a:pPr>
            <a:r>
              <a:rPr lang="en-US" sz="1200" kern="0" spc="96" dirty="0">
                <a:solidFill>
                  <a:srgbClr val="8A3FA8"/>
                </a:solidFill>
                <a:latin typeface="Funnel Sans SemiBold" pitchFamily="34" charset="0"/>
                <a:ea typeface="Funnel Sans SemiBold" pitchFamily="34" charset="-122"/>
                <a:cs typeface="Funnel Sans SemiBold" pitchFamily="34" charset="-120"/>
              </a:rPr>
              <a:t>ABLATION STRATEGY</a:t>
            </a:r>
            <a:endParaRPr lang="en-US" sz="1200" dirty="0"/>
          </a:p>
        </p:txBody>
      </p:sp>
      <p:sp>
        <p:nvSpPr>
          <p:cNvPr id="4" name="Text 2"/>
          <p:cNvSpPr/>
          <p:nvPr/>
        </p:nvSpPr>
        <p:spPr>
          <a:xfrm>
            <a:off x="634984" y="809625"/>
            <a:ext cx="6629234" cy="969169"/>
          </a:xfrm>
          <a:prstGeom prst="rect">
            <a:avLst/>
          </a:prstGeom>
          <a:noFill/>
        </p:spPr>
        <p:txBody>
          <a:bodyPr wrap="square" lIns="0" tIns="0" rIns="0" bIns="0" rtlCol="0" anchor="t">
            <a:normAutofit/>
          </a:bodyPr>
          <a:lstStyle/>
          <a:p>
            <a:pPr marL="0" indent="0" algn="l">
              <a:lnSpc>
                <a:spcPct val="88000"/>
              </a:lnSpc>
              <a:buNone/>
            </a:pPr>
            <a:r>
              <a:rPr lang="en-US" sz="3600" b="1" kern="0" spc="-36" dirty="0">
                <a:solidFill>
                  <a:srgbClr val="051D3A"/>
                </a:solidFill>
                <a:latin typeface="Funnel Display Bold" pitchFamily="34" charset="0"/>
                <a:ea typeface="Funnel Display Bold" pitchFamily="34" charset="-122"/>
                <a:cs typeface="Funnel Display Bold" pitchFamily="34" charset="-120"/>
              </a:rPr>
              <a:t>Improvements will follow the evidence</a:t>
            </a:r>
            <a:endParaRPr lang="en-US" sz="3600" dirty="0"/>
          </a:p>
        </p:txBody>
      </p:sp>
      <p:sp>
        <p:nvSpPr>
          <p:cNvPr id="5" name="Shape 3"/>
          <p:cNvSpPr/>
          <p:nvPr/>
        </p:nvSpPr>
        <p:spPr>
          <a:xfrm>
            <a:off x="634984" y="2116435"/>
            <a:ext cx="6629234" cy="2039938"/>
          </a:xfrm>
          <a:prstGeom prst="roundRect">
            <a:avLst>
              <a:gd name="adj" fmla="val 4314"/>
            </a:avLst>
          </a:prstGeom>
          <a:solidFill>
            <a:srgbClr val="FFFCF6"/>
          </a:solidFill>
          <a:effectLst>
            <a:outerShdw blurRad="379730" dist="151130" dir="5400000" algn="bl" rotWithShape="0">
              <a:srgbClr val="6A4FC8">
                <a:alpha val="40000"/>
              </a:srgbClr>
            </a:outerShdw>
          </a:effectLst>
        </p:spPr>
      </p:sp>
      <p:sp>
        <p:nvSpPr>
          <p:cNvPr id="6" name="Text 4"/>
          <p:cNvSpPr/>
          <p:nvPr/>
        </p:nvSpPr>
        <p:spPr>
          <a:xfrm>
            <a:off x="939776" y="2370435"/>
            <a:ext cx="6324442" cy="190500"/>
          </a:xfrm>
          <a:prstGeom prst="rect">
            <a:avLst/>
          </a:prstGeom>
          <a:noFill/>
        </p:spPr>
        <p:txBody>
          <a:bodyPr wrap="none" lIns="0" tIns="0" rIns="0" bIns="0" rtlCol="0" anchor="t"/>
          <a:lstStyle/>
          <a:p>
            <a:pPr marL="0" indent="0" algn="l">
              <a:lnSpc>
                <a:spcPct val="104000"/>
              </a:lnSpc>
              <a:buNone/>
            </a:pPr>
            <a:r>
              <a:rPr lang="en-US" sz="1200" b="1" kern="0" spc="96" dirty="0">
                <a:solidFill>
                  <a:srgbClr val="B8367F"/>
                </a:solidFill>
                <a:latin typeface="Funnel Sans Bold" pitchFamily="34" charset="0"/>
                <a:ea typeface="Funnel Sans Bold" pitchFamily="34" charset="-122"/>
                <a:cs typeface="Funnel Sans Bold" pitchFamily="34" charset="-120"/>
              </a:rPr>
              <a:t>A DEPENDABLE BASELINE COMES FIRST</a:t>
            </a:r>
            <a:endParaRPr lang="en-US" sz="1200" dirty="0"/>
          </a:p>
        </p:txBody>
      </p:sp>
      <p:sp>
        <p:nvSpPr>
          <p:cNvPr id="7" name="Text 5"/>
          <p:cNvSpPr/>
          <p:nvPr/>
        </p:nvSpPr>
        <p:spPr>
          <a:xfrm>
            <a:off x="939776" y="2646660"/>
            <a:ext cx="6019649" cy="914400"/>
          </a:xfrm>
          <a:prstGeom prst="rect">
            <a:avLst/>
          </a:prstGeom>
          <a:noFill/>
        </p:spPr>
        <p:txBody>
          <a:bodyPr wrap="square" lIns="0" tIns="0" rIns="0" bIns="0" rtlCol="0" anchor="t">
            <a:normAutofit/>
          </a:bodyPr>
          <a:lstStyle/>
          <a:p>
            <a:pPr marL="0" indent="0" algn="l">
              <a:lnSpc>
                <a:spcPct val="100000"/>
              </a:lnSpc>
              <a:buNone/>
            </a:pPr>
            <a:r>
              <a:rPr lang="en-US" sz="2000" kern="0" spc="-10" dirty="0">
                <a:solidFill>
                  <a:srgbClr val="2B3541"/>
                </a:solidFill>
                <a:latin typeface="Funnel Sans SemiBold" pitchFamily="34" charset="0"/>
                <a:ea typeface="Funnel Sans SemiBold" pitchFamily="34" charset="-122"/>
                <a:cs typeface="Funnel Sans SemiBold" pitchFamily="34" charset="-120"/>
              </a:rPr>
              <a:t>Compare the TCN with single-frame predictions and simple smoothing. Then test whether a better visual encoder or temporal model adds value.</a:t>
            </a:r>
            <a:endParaRPr lang="en-US" sz="2000" dirty="0"/>
          </a:p>
        </p:txBody>
      </p:sp>
      <p:sp>
        <p:nvSpPr>
          <p:cNvPr id="8" name="Text 6"/>
          <p:cNvSpPr/>
          <p:nvPr/>
        </p:nvSpPr>
        <p:spPr>
          <a:xfrm>
            <a:off x="939776" y="3688060"/>
            <a:ext cx="6324442" cy="214313"/>
          </a:xfrm>
          <a:prstGeom prst="rect">
            <a:avLst/>
          </a:prstGeom>
          <a:noFill/>
        </p:spPr>
        <p:txBody>
          <a:bodyPr wrap="none" lIns="0" tIns="0" rIns="0" bIns="0" rtlCol="0" anchor="t"/>
          <a:lstStyle/>
          <a:p>
            <a:pPr marL="0" indent="0" algn="l">
              <a:lnSpc>
                <a:spcPct val="112000"/>
              </a:lnSpc>
              <a:buNone/>
            </a:pPr>
            <a:r>
              <a:rPr lang="en-US" sz="1250" dirty="0">
                <a:solidFill>
                  <a:srgbClr val="4A5563"/>
                </a:solidFill>
                <a:latin typeface="Funnel Sans" pitchFamily="34" charset="0"/>
                <a:ea typeface="Funnel Sans" pitchFamily="34" charset="-122"/>
                <a:cs typeface="Funnel Sans" pitchFamily="34" charset="-120"/>
              </a:rPr>
              <a:t>PE and MS-TCN++ are candidates, not commitments.</a:t>
            </a:r>
            <a:endParaRPr lang="en-US" sz="1250" dirty="0"/>
          </a:p>
        </p:txBody>
      </p:sp>
      <p:sp>
        <p:nvSpPr>
          <p:cNvPr id="9" name="Shape 7"/>
          <p:cNvSpPr/>
          <p:nvPr/>
        </p:nvSpPr>
        <p:spPr>
          <a:xfrm>
            <a:off x="634984" y="4334173"/>
            <a:ext cx="6629234" cy="1652786"/>
          </a:xfrm>
          <a:prstGeom prst="roundRect">
            <a:avLst>
              <a:gd name="adj" fmla="val 5325"/>
            </a:avLst>
          </a:prstGeom>
          <a:solidFill>
            <a:srgbClr val="FFFCF6"/>
          </a:solidFill>
          <a:effectLst>
            <a:outerShdw blurRad="379730" dist="151130" dir="5400000" algn="bl" rotWithShape="0">
              <a:srgbClr val="6A4FC8">
                <a:alpha val="40000"/>
              </a:srgbClr>
            </a:outerShdw>
          </a:effectLst>
        </p:spPr>
      </p:sp>
      <p:sp>
        <p:nvSpPr>
          <p:cNvPr id="10" name="Text 8"/>
          <p:cNvSpPr/>
          <p:nvPr/>
        </p:nvSpPr>
        <p:spPr>
          <a:xfrm>
            <a:off x="939776" y="4588173"/>
            <a:ext cx="6324442" cy="190500"/>
          </a:xfrm>
          <a:prstGeom prst="rect">
            <a:avLst/>
          </a:prstGeom>
          <a:noFill/>
        </p:spPr>
        <p:txBody>
          <a:bodyPr wrap="none" lIns="0" tIns="0" rIns="0" bIns="0" rtlCol="0" anchor="t"/>
          <a:lstStyle/>
          <a:p>
            <a:pPr marL="0" indent="0" algn="l">
              <a:lnSpc>
                <a:spcPct val="104000"/>
              </a:lnSpc>
              <a:buNone/>
            </a:pPr>
            <a:r>
              <a:rPr lang="en-US" sz="1200" b="1" kern="0" spc="96" dirty="0">
                <a:solidFill>
                  <a:srgbClr val="2B3541"/>
                </a:solidFill>
                <a:latin typeface="Funnel Sans Bold" pitchFamily="34" charset="0"/>
                <a:ea typeface="Funnel Sans Bold" pitchFamily="34" charset="-122"/>
                <a:cs typeface="Funnel Sans Bold" pitchFamily="34" charset="-120"/>
              </a:rPr>
              <a:t>OPTIONAL: REVIEW A DIFFICULT CLIP</a:t>
            </a:r>
            <a:endParaRPr lang="en-US" sz="1200" dirty="0"/>
          </a:p>
        </p:txBody>
      </p:sp>
      <p:sp>
        <p:nvSpPr>
          <p:cNvPr id="11" name="Text 9"/>
          <p:cNvSpPr/>
          <p:nvPr/>
        </p:nvSpPr>
        <p:spPr>
          <a:xfrm>
            <a:off x="939776" y="4864398"/>
            <a:ext cx="6019649" cy="868561"/>
          </a:xfrm>
          <a:prstGeom prst="rect">
            <a:avLst/>
          </a:prstGeom>
          <a:noFill/>
        </p:spPr>
        <p:txBody>
          <a:bodyPr wrap="square" lIns="0" tIns="0" rIns="0" bIns="0" rtlCol="0" anchor="t">
            <a:normAutofit/>
          </a:bodyPr>
          <a:lstStyle/>
          <a:p>
            <a:pPr marL="0" indent="0" algn="l">
              <a:lnSpc>
                <a:spcPct val="100000"/>
              </a:lnSpc>
              <a:buNone/>
            </a:pPr>
            <a:r>
              <a:rPr lang="en-US" sz="1900" kern="0" spc="-9" dirty="0">
                <a:solidFill>
                  <a:srgbClr val="2B3541"/>
                </a:solidFill>
                <a:latin typeface="Funnel Sans SemiBold" pitchFamily="34" charset="0"/>
                <a:ea typeface="Funnel Sans SemiBold" pitchFamily="34" charset="-122"/>
                <a:cs typeface="Funnel Sans SemiBold" pitchFamily="34" charset="-120"/>
              </a:rPr>
              <a:t>A video-language model can look again when actions are hard to distinguish. We will keep this step only if it corrects more errors than it introduces.</a:t>
            </a:r>
            <a:endParaRPr lang="en-US" sz="1900" dirty="0"/>
          </a:p>
        </p:txBody>
      </p:sp>
      <p:pic>
        <p:nvPicPr>
          <p:cNvPr id="12" name="Image 0" descr="preencoded.png"/>
          <p:cNvPicPr>
            <a:picLocks noChangeAspect="1"/>
          </p:cNvPicPr>
          <p:nvPr/>
        </p:nvPicPr>
        <p:blipFill>
          <a:blip r:embed="rId1"/>
          <a:stretch>
            <a:fillRect/>
          </a:stretch>
        </p:blipFill>
        <p:spPr>
          <a:xfrm>
            <a:off x="7721407" y="0"/>
            <a:ext cx="4470288" cy="6858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5EB"/>
          </a:solidFill>
        </p:spPr>
      </p:sp>
      <p:sp>
        <p:nvSpPr>
          <p:cNvPr id="3" name="Text 1"/>
          <p:cNvSpPr/>
          <p:nvPr/>
        </p:nvSpPr>
        <p:spPr>
          <a:xfrm>
            <a:off x="609585" y="482600"/>
            <a:ext cx="10972526" cy="484584"/>
          </a:xfrm>
          <a:prstGeom prst="rect">
            <a:avLst/>
          </a:prstGeom>
          <a:noFill/>
        </p:spPr>
        <p:txBody>
          <a:bodyPr wrap="none" lIns="0" tIns="0" rIns="0" bIns="0" rtlCol="0" anchor="t"/>
          <a:lstStyle/>
          <a:p>
            <a:pPr marL="0" indent="0" algn="l">
              <a:lnSpc>
                <a:spcPct val="88000"/>
              </a:lnSpc>
              <a:buNone/>
            </a:pPr>
            <a:r>
              <a:rPr lang="en-US" sz="3600" b="1" kern="0" spc="-36" dirty="0">
                <a:solidFill>
                  <a:srgbClr val="051D3A"/>
                </a:solidFill>
                <a:latin typeface="Funnel Display Bold" pitchFamily="34" charset="0"/>
                <a:ea typeface="Funnel Display Bold" pitchFamily="34" charset="-122"/>
                <a:cs typeface="Funnel Display Bold" pitchFamily="34" charset="-120"/>
              </a:rPr>
              <a:t>How we will judge success</a:t>
            </a:r>
            <a:endParaRPr lang="en-US" sz="3600" dirty="0"/>
          </a:p>
        </p:txBody>
      </p:sp>
      <p:sp>
        <p:nvSpPr>
          <p:cNvPr id="4" name="Shape 2"/>
          <p:cNvSpPr/>
          <p:nvPr/>
        </p:nvSpPr>
        <p:spPr>
          <a:xfrm>
            <a:off x="609585" y="1961555"/>
            <a:ext cx="5333867" cy="1578471"/>
          </a:xfrm>
          <a:prstGeom prst="roundRect">
            <a:avLst>
              <a:gd name="adj" fmla="val 5576"/>
            </a:avLst>
          </a:prstGeom>
          <a:solidFill>
            <a:srgbClr val="FFFCF6"/>
          </a:solidFill>
          <a:effectLst>
            <a:outerShdw blurRad="379730" dist="151130" dir="5400000" algn="bl" rotWithShape="0">
              <a:srgbClr val="6A4FC8">
                <a:alpha val="40000"/>
              </a:srgbClr>
            </a:outerShdw>
          </a:effectLst>
        </p:spPr>
      </p:sp>
      <p:sp>
        <p:nvSpPr>
          <p:cNvPr id="5" name="Text 3"/>
          <p:cNvSpPr/>
          <p:nvPr/>
        </p:nvSpPr>
        <p:spPr>
          <a:xfrm>
            <a:off x="914377" y="2240955"/>
            <a:ext cx="4724282" cy="335260"/>
          </a:xfrm>
          <a:prstGeom prst="rect">
            <a:avLst/>
          </a:prstGeom>
          <a:noFill/>
        </p:spPr>
        <p:txBody>
          <a:bodyPr wrap="none" lIns="0" tIns="0" rIns="0" bIns="0" rtlCol="0" anchor="t"/>
          <a:lstStyle/>
          <a:p>
            <a:pPr marL="0" indent="0" algn="l">
              <a:lnSpc>
                <a:spcPct val="100000"/>
              </a:lnSpc>
              <a:buNone/>
            </a:pPr>
            <a:r>
              <a:rPr lang="en-US" sz="2200" b="1" kern="0" spc="-11" dirty="0">
                <a:solidFill>
                  <a:srgbClr val="2B3541"/>
                </a:solidFill>
                <a:latin typeface="Funnel Sans Bold" pitchFamily="34" charset="0"/>
                <a:ea typeface="Funnel Sans Bold" pitchFamily="34" charset="-122"/>
                <a:cs typeface="Funnel Sans Bold" pitchFamily="34" charset="-120"/>
              </a:rPr>
              <a:t>Are the actions correct?</a:t>
            </a:r>
            <a:endParaRPr lang="en-US" sz="2200" dirty="0"/>
          </a:p>
        </p:txBody>
      </p:sp>
      <p:sp>
        <p:nvSpPr>
          <p:cNvPr id="6" name="Text 4"/>
          <p:cNvSpPr/>
          <p:nvPr/>
        </p:nvSpPr>
        <p:spPr>
          <a:xfrm>
            <a:off x="914377" y="2696865"/>
            <a:ext cx="4724282" cy="563761"/>
          </a:xfrm>
          <a:prstGeom prst="rect">
            <a:avLst/>
          </a:prstGeom>
          <a:noFill/>
        </p:spPr>
        <p:txBody>
          <a:bodyPr wrap="square" lIns="0" tIns="0" rIns="0" bIns="0" rtlCol="0" anchor="t">
            <a:normAutofit/>
          </a:bodyPr>
          <a:lstStyle/>
          <a:p>
            <a:pPr marL="0" indent="0" algn="l">
              <a:lnSpc>
                <a:spcPct val="100000"/>
              </a:lnSpc>
              <a:buNone/>
            </a:pPr>
            <a:r>
              <a:rPr lang="en-US" sz="1850" kern="0" spc="-9" dirty="0">
                <a:solidFill>
                  <a:srgbClr val="2B3541"/>
                </a:solidFill>
                <a:latin typeface="Funnel Sans SemiBold" pitchFamily="34" charset="0"/>
                <a:ea typeface="Funnel Sans SemiBold" pitchFamily="34" charset="-122"/>
                <a:cs typeface="Funnel Sans SemiBold" pitchFamily="34" charset="-120"/>
              </a:rPr>
              <a:t>Check each washing step, including those the model often misses.</a:t>
            </a:r>
            <a:endParaRPr lang="en-US" sz="1850" dirty="0"/>
          </a:p>
        </p:txBody>
      </p:sp>
      <p:sp>
        <p:nvSpPr>
          <p:cNvPr id="7" name="Shape 5"/>
          <p:cNvSpPr/>
          <p:nvPr/>
        </p:nvSpPr>
        <p:spPr>
          <a:xfrm>
            <a:off x="6248244" y="1961555"/>
            <a:ext cx="5333867" cy="1578471"/>
          </a:xfrm>
          <a:prstGeom prst="roundRect">
            <a:avLst>
              <a:gd name="adj" fmla="val 5576"/>
            </a:avLst>
          </a:prstGeom>
          <a:solidFill>
            <a:srgbClr val="FFFCF6"/>
          </a:solidFill>
          <a:effectLst>
            <a:outerShdw blurRad="379730" dist="151130" dir="5400000" algn="bl" rotWithShape="0">
              <a:srgbClr val="6A4FC8">
                <a:alpha val="40000"/>
              </a:srgbClr>
            </a:outerShdw>
          </a:effectLst>
        </p:spPr>
      </p:sp>
      <p:sp>
        <p:nvSpPr>
          <p:cNvPr id="8" name="Text 6"/>
          <p:cNvSpPr/>
          <p:nvPr/>
        </p:nvSpPr>
        <p:spPr>
          <a:xfrm>
            <a:off x="6553036" y="2240955"/>
            <a:ext cx="4724282" cy="335260"/>
          </a:xfrm>
          <a:prstGeom prst="rect">
            <a:avLst/>
          </a:prstGeom>
          <a:noFill/>
        </p:spPr>
        <p:txBody>
          <a:bodyPr wrap="none" lIns="0" tIns="0" rIns="0" bIns="0" rtlCol="0" anchor="t"/>
          <a:lstStyle/>
          <a:p>
            <a:pPr marL="0" indent="0" algn="l">
              <a:lnSpc>
                <a:spcPct val="100000"/>
              </a:lnSpc>
              <a:buNone/>
            </a:pPr>
            <a:r>
              <a:rPr lang="en-US" sz="2200" b="1" kern="0" spc="-11" dirty="0">
                <a:solidFill>
                  <a:srgbClr val="2B3541"/>
                </a:solidFill>
                <a:latin typeface="Funnel Sans Bold" pitchFamily="34" charset="0"/>
                <a:ea typeface="Funnel Sans Bold" pitchFamily="34" charset="-122"/>
                <a:cs typeface="Funnel Sans Bold" pitchFamily="34" charset="-120"/>
              </a:rPr>
              <a:t>Are the timing and reports useful?</a:t>
            </a:r>
            <a:endParaRPr lang="en-US" sz="2200" dirty="0"/>
          </a:p>
        </p:txBody>
      </p:sp>
      <p:sp>
        <p:nvSpPr>
          <p:cNvPr id="9" name="Text 7"/>
          <p:cNvSpPr/>
          <p:nvPr/>
        </p:nvSpPr>
        <p:spPr>
          <a:xfrm>
            <a:off x="6553036" y="2696865"/>
            <a:ext cx="4724282" cy="563761"/>
          </a:xfrm>
          <a:prstGeom prst="rect">
            <a:avLst/>
          </a:prstGeom>
          <a:noFill/>
        </p:spPr>
        <p:txBody>
          <a:bodyPr wrap="square" lIns="0" tIns="0" rIns="0" bIns="0" rtlCol="0" anchor="t">
            <a:normAutofit/>
          </a:bodyPr>
          <a:lstStyle/>
          <a:p>
            <a:pPr marL="0" indent="0" algn="l">
              <a:lnSpc>
                <a:spcPct val="100000"/>
              </a:lnSpc>
              <a:buNone/>
            </a:pPr>
            <a:r>
              <a:rPr lang="en-US" sz="1850" kern="0" spc="-9" dirty="0">
                <a:solidFill>
                  <a:srgbClr val="2B3541"/>
                </a:solidFill>
                <a:latin typeface="Funnel Sans SemiBold" pitchFamily="34" charset="0"/>
                <a:ea typeface="Funnel Sans SemiBold" pitchFamily="34" charset="-122"/>
                <a:cs typeface="Funnel Sans SemiBold" pitchFamily="34" charset="-120"/>
              </a:rPr>
              <a:t>Compare predicted intervals with human annotations. Check missing-step feedback.</a:t>
            </a:r>
            <a:endParaRPr lang="en-US" sz="1850" dirty="0"/>
          </a:p>
        </p:txBody>
      </p:sp>
      <p:sp>
        <p:nvSpPr>
          <p:cNvPr id="10" name="Shape 8"/>
          <p:cNvSpPr/>
          <p:nvPr/>
        </p:nvSpPr>
        <p:spPr>
          <a:xfrm>
            <a:off x="609585" y="3717826"/>
            <a:ext cx="10972526" cy="1296591"/>
          </a:xfrm>
          <a:prstGeom prst="roundRect">
            <a:avLst>
              <a:gd name="adj" fmla="val 6788"/>
            </a:avLst>
          </a:prstGeom>
          <a:solidFill>
            <a:srgbClr val="FFFCF6"/>
          </a:solidFill>
          <a:effectLst>
            <a:outerShdw blurRad="379730" dist="151130" dir="5400000" algn="bl" rotWithShape="0">
              <a:srgbClr val="6A4FC8">
                <a:alpha val="40000"/>
              </a:srgbClr>
            </a:outerShdw>
          </a:effectLst>
        </p:spPr>
      </p:sp>
      <p:sp>
        <p:nvSpPr>
          <p:cNvPr id="11" name="Text 9"/>
          <p:cNvSpPr/>
          <p:nvPr/>
        </p:nvSpPr>
        <p:spPr>
          <a:xfrm>
            <a:off x="914377" y="3997226"/>
            <a:ext cx="10362941" cy="335260"/>
          </a:xfrm>
          <a:prstGeom prst="rect">
            <a:avLst/>
          </a:prstGeom>
          <a:noFill/>
        </p:spPr>
        <p:txBody>
          <a:bodyPr wrap="none" lIns="0" tIns="0" rIns="0" bIns="0" rtlCol="0" anchor="t"/>
          <a:lstStyle/>
          <a:p>
            <a:pPr marL="0" indent="0" algn="l">
              <a:lnSpc>
                <a:spcPct val="100000"/>
              </a:lnSpc>
              <a:buNone/>
            </a:pPr>
            <a:r>
              <a:rPr lang="en-US" sz="2200" b="1" kern="0" spc="-11" dirty="0">
                <a:solidFill>
                  <a:srgbClr val="2B3541"/>
                </a:solidFill>
                <a:latin typeface="Funnel Sans Bold" pitchFamily="34" charset="0"/>
                <a:ea typeface="Funnel Sans Bold" pitchFamily="34" charset="-122"/>
                <a:cs typeface="Funnel Sans Bold" pitchFamily="34" charset="-120"/>
              </a:rPr>
              <a:t>Does it work beyond the training setting?</a:t>
            </a:r>
            <a:endParaRPr lang="en-US" sz="2200" dirty="0"/>
          </a:p>
        </p:txBody>
      </p:sp>
      <p:sp>
        <p:nvSpPr>
          <p:cNvPr id="12" name="Text 10"/>
          <p:cNvSpPr/>
          <p:nvPr/>
        </p:nvSpPr>
        <p:spPr>
          <a:xfrm>
            <a:off x="914377" y="4453136"/>
            <a:ext cx="10362941" cy="281880"/>
          </a:xfrm>
          <a:prstGeom prst="rect">
            <a:avLst/>
          </a:prstGeom>
          <a:noFill/>
        </p:spPr>
        <p:txBody>
          <a:bodyPr wrap="none" lIns="0" tIns="0" rIns="0" bIns="0" rtlCol="0" anchor="t"/>
          <a:lstStyle/>
          <a:p>
            <a:pPr marL="0" indent="0" algn="l">
              <a:lnSpc>
                <a:spcPct val="100000"/>
              </a:lnSpc>
              <a:buNone/>
            </a:pPr>
            <a:r>
              <a:rPr lang="en-US" sz="1850" kern="0" spc="-9" dirty="0">
                <a:solidFill>
                  <a:srgbClr val="2B3541"/>
                </a:solidFill>
                <a:latin typeface="Funnel Sans SemiBold" pitchFamily="34" charset="0"/>
                <a:ea typeface="Funnel Sans SemiBold" pitchFamily="34" charset="-122"/>
                <a:cs typeface="Funnel Sans SemiBold" pitchFamily="34" charset="-120"/>
              </a:rPr>
              <a:t>Test on METC and held-out self-recorded videos, including skipped steps, repetition and occlusion.</a:t>
            </a:r>
            <a:endParaRPr lang="en-US" sz="1850" dirty="0"/>
          </a:p>
        </p:txBody>
      </p:sp>
      <p:sp>
        <p:nvSpPr>
          <p:cNvPr id="13" name="Text 11"/>
          <p:cNvSpPr/>
          <p:nvPr/>
        </p:nvSpPr>
        <p:spPr>
          <a:xfrm>
            <a:off x="609585" y="5166816"/>
            <a:ext cx="11582110" cy="214313"/>
          </a:xfrm>
          <a:prstGeom prst="rect">
            <a:avLst/>
          </a:prstGeom>
          <a:noFill/>
        </p:spPr>
        <p:txBody>
          <a:bodyPr wrap="none" lIns="0" tIns="0" rIns="0" bIns="0" rtlCol="0" anchor="t"/>
          <a:lstStyle/>
          <a:p>
            <a:pPr marL="0" indent="0" algn="l">
              <a:lnSpc>
                <a:spcPct val="112000"/>
              </a:lnSpc>
              <a:buNone/>
            </a:pPr>
            <a:r>
              <a:rPr lang="en-US" sz="1250" dirty="0">
                <a:solidFill>
                  <a:srgbClr val="4A5563"/>
                </a:solidFill>
                <a:latin typeface="Funnel Sans" pitchFamily="34" charset="0"/>
                <a:ea typeface="Funnel Sans" pitchFamily="34" charset="-122"/>
                <a:cs typeface="Funnel Sans" pitchFamily="34" charset="-120"/>
              </a:rPr>
              <a:t>Supporting measures: Macro-F1, segment F1, duration error and missing-step precision / recall.</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5EB"/>
          </a:solidFill>
        </p:spPr>
      </p:sp>
      <p:sp>
        <p:nvSpPr>
          <p:cNvPr id="3" name="Text 1"/>
          <p:cNvSpPr/>
          <p:nvPr/>
        </p:nvSpPr>
        <p:spPr>
          <a:xfrm>
            <a:off x="609585" y="482600"/>
            <a:ext cx="11582110" cy="190500"/>
          </a:xfrm>
          <a:prstGeom prst="rect">
            <a:avLst/>
          </a:prstGeom>
          <a:noFill/>
        </p:spPr>
        <p:txBody>
          <a:bodyPr wrap="none" lIns="0" tIns="0" rIns="0" bIns="0" rtlCol="0" anchor="t"/>
          <a:lstStyle/>
          <a:p>
            <a:pPr marL="0" indent="0" algn="l">
              <a:lnSpc>
                <a:spcPct val="104000"/>
              </a:lnSpc>
              <a:buNone/>
            </a:pPr>
            <a:r>
              <a:rPr lang="en-US" sz="1200" kern="0" spc="96" dirty="0">
                <a:solidFill>
                  <a:srgbClr val="8A3FA8"/>
                </a:solidFill>
                <a:latin typeface="Funnel Sans SemiBold" pitchFamily="34" charset="0"/>
                <a:ea typeface="Funnel Sans SemiBold" pitchFamily="34" charset="-122"/>
                <a:cs typeface="Funnel Sans SemiBold" pitchFamily="34" charset="-120"/>
              </a:rPr>
              <a:t>PROJECT ROADMAP</a:t>
            </a:r>
            <a:endParaRPr lang="en-US" sz="1200" dirty="0"/>
          </a:p>
        </p:txBody>
      </p:sp>
      <p:sp>
        <p:nvSpPr>
          <p:cNvPr id="4" name="Text 2"/>
          <p:cNvSpPr/>
          <p:nvPr/>
        </p:nvSpPr>
        <p:spPr>
          <a:xfrm>
            <a:off x="609585" y="758825"/>
            <a:ext cx="10972526" cy="484584"/>
          </a:xfrm>
          <a:prstGeom prst="rect">
            <a:avLst/>
          </a:prstGeom>
          <a:noFill/>
        </p:spPr>
        <p:txBody>
          <a:bodyPr wrap="none" lIns="0" tIns="0" rIns="0" bIns="0" rtlCol="0" anchor="t"/>
          <a:lstStyle/>
          <a:p>
            <a:pPr marL="0" indent="0" algn="l">
              <a:lnSpc>
                <a:spcPct val="88000"/>
              </a:lnSpc>
              <a:buNone/>
            </a:pPr>
            <a:r>
              <a:rPr lang="en-US" sz="3600" b="1" kern="0" spc="-36" dirty="0">
                <a:solidFill>
                  <a:srgbClr val="051D3A"/>
                </a:solidFill>
                <a:latin typeface="Funnel Display Bold" pitchFamily="34" charset="0"/>
                <a:ea typeface="Funnel Display Bold" pitchFamily="34" charset="-122"/>
                <a:cs typeface="Funnel Display Bold" pitchFamily="34" charset="-120"/>
              </a:rPr>
              <a:t>A staged plan with a usable first delivery</a:t>
            </a:r>
            <a:endParaRPr lang="en-US" sz="3600" dirty="0"/>
          </a:p>
        </p:txBody>
      </p:sp>
      <p:sp>
        <p:nvSpPr>
          <p:cNvPr id="5" name="Shape 3"/>
          <p:cNvSpPr/>
          <p:nvPr/>
        </p:nvSpPr>
        <p:spPr>
          <a:xfrm>
            <a:off x="609585" y="1989038"/>
            <a:ext cx="3454314" cy="2642592"/>
          </a:xfrm>
          <a:prstGeom prst="roundRect">
            <a:avLst>
              <a:gd name="adj" fmla="val 3330"/>
            </a:avLst>
          </a:prstGeom>
          <a:solidFill>
            <a:srgbClr val="FFFCF6"/>
          </a:solidFill>
          <a:effectLst>
            <a:outerShdw blurRad="379730" dist="151130" dir="5400000" algn="bl" rotWithShape="0">
              <a:srgbClr val="6A4FC8">
                <a:alpha val="40000"/>
              </a:srgbClr>
            </a:outerShdw>
          </a:effectLst>
        </p:spPr>
      </p:sp>
      <p:sp>
        <p:nvSpPr>
          <p:cNvPr id="6" name="Shape 4"/>
          <p:cNvSpPr/>
          <p:nvPr/>
        </p:nvSpPr>
        <p:spPr>
          <a:xfrm>
            <a:off x="863578" y="2243038"/>
            <a:ext cx="584185" cy="584200"/>
          </a:xfrm>
          <a:prstGeom prst="ellipse">
            <a:avLst/>
          </a:prstGeom>
          <a:solidFill>
            <a:srgbClr val="7FD6D2"/>
          </a:solidFill>
          <a:effectLst>
            <a:outerShdw blurRad="125730" dist="127" dir="16200000" algn="bl" rotWithShape="0">
              <a:srgbClr val="6A4FC8">
                <a:alpha val="20000"/>
              </a:srgbClr>
            </a:outerShdw>
          </a:effectLst>
        </p:spPr>
      </p:sp>
      <p:pic>
        <p:nvPicPr>
          <p:cNvPr id="7" name="Image 0" descr="preencoded.png"/>
          <p:cNvPicPr>
            <a:picLocks noChangeAspect="1"/>
          </p:cNvPicPr>
          <p:nvPr/>
        </p:nvPicPr>
        <p:blipFill>
          <a:blip r:embed="rId1"/>
          <a:stretch>
            <a:fillRect/>
          </a:stretch>
        </p:blipFill>
        <p:spPr>
          <a:xfrm>
            <a:off x="863578" y="2243038"/>
            <a:ext cx="584185" cy="584200"/>
          </a:xfrm>
          <a:prstGeom prst="rect">
            <a:avLst/>
          </a:prstGeom>
        </p:spPr>
      </p:pic>
      <p:sp>
        <p:nvSpPr>
          <p:cNvPr id="8" name="Text 5"/>
          <p:cNvSpPr/>
          <p:nvPr/>
        </p:nvSpPr>
        <p:spPr>
          <a:xfrm>
            <a:off x="1078977" y="2401788"/>
            <a:ext cx="762973" cy="266700"/>
          </a:xfrm>
          <a:prstGeom prst="rect">
            <a:avLst/>
          </a:prstGeom>
          <a:noFill/>
        </p:spPr>
        <p:txBody>
          <a:bodyPr wrap="none" lIns="0" tIns="0" rIns="0" bIns="0" rtlCol="0" anchor="t"/>
          <a:lstStyle/>
          <a:p>
            <a:pPr marL="0" indent="0" algn="l">
              <a:lnSpc>
                <a:spcPct val="83000"/>
              </a:lnSpc>
              <a:buNone/>
            </a:pPr>
            <a:r>
              <a:rPr lang="en-US" sz="2100" dirty="0">
                <a:solidFill>
                  <a:srgbClr val="051D3A"/>
                </a:solidFill>
                <a:latin typeface="Funnel Display SemiBold" pitchFamily="34" charset="0"/>
                <a:ea typeface="Funnel Display SemiBold" pitchFamily="34" charset="-122"/>
                <a:cs typeface="Funnel Display SemiBold" pitchFamily="34" charset="-120"/>
              </a:rPr>
              <a:t>1</a:t>
            </a:r>
            <a:endParaRPr lang="en-US" sz="2100" dirty="0"/>
          </a:p>
        </p:txBody>
      </p:sp>
      <p:sp>
        <p:nvSpPr>
          <p:cNvPr id="9" name="Text 6"/>
          <p:cNvSpPr/>
          <p:nvPr/>
        </p:nvSpPr>
        <p:spPr>
          <a:xfrm>
            <a:off x="863578" y="2912963"/>
            <a:ext cx="3200320" cy="190500"/>
          </a:xfrm>
          <a:prstGeom prst="rect">
            <a:avLst/>
          </a:prstGeom>
          <a:noFill/>
        </p:spPr>
        <p:txBody>
          <a:bodyPr wrap="none" lIns="0" tIns="0" rIns="0" bIns="0" rtlCol="0" anchor="t"/>
          <a:lstStyle/>
          <a:p>
            <a:pPr marL="0" indent="0" algn="l">
              <a:lnSpc>
                <a:spcPct val="104000"/>
              </a:lnSpc>
              <a:buNone/>
            </a:pPr>
            <a:r>
              <a:rPr lang="en-US" sz="1200" b="1" kern="0" spc="96" dirty="0">
                <a:solidFill>
                  <a:srgbClr val="B8367F"/>
                </a:solidFill>
                <a:latin typeface="Funnel Sans Bold" pitchFamily="34" charset="0"/>
                <a:ea typeface="Funnel Sans Bold" pitchFamily="34" charset="-122"/>
                <a:cs typeface="Funnel Sans Bold" pitchFamily="34" charset="-120"/>
              </a:rPr>
              <a:t>WEEK 1</a:t>
            </a:r>
            <a:endParaRPr lang="en-US" sz="1200" dirty="0"/>
          </a:p>
        </p:txBody>
      </p:sp>
      <p:sp>
        <p:nvSpPr>
          <p:cNvPr id="10" name="Text 7"/>
          <p:cNvSpPr/>
          <p:nvPr/>
        </p:nvSpPr>
        <p:spPr>
          <a:xfrm>
            <a:off x="863578" y="3189188"/>
            <a:ext cx="2946326" cy="563761"/>
          </a:xfrm>
          <a:prstGeom prst="rect">
            <a:avLst/>
          </a:prstGeom>
          <a:noFill/>
        </p:spPr>
        <p:txBody>
          <a:bodyPr wrap="square" lIns="0" tIns="0" rIns="0" bIns="0" rtlCol="0" anchor="t">
            <a:normAutofit/>
          </a:bodyPr>
          <a:lstStyle/>
          <a:p>
            <a:pPr marL="0" indent="0" algn="l">
              <a:lnSpc>
                <a:spcPct val="100000"/>
              </a:lnSpc>
              <a:buNone/>
            </a:pPr>
            <a:r>
              <a:rPr lang="en-US" sz="1850" b="1" kern="0" spc="-9" dirty="0">
                <a:solidFill>
                  <a:srgbClr val="2B3541"/>
                </a:solidFill>
                <a:latin typeface="Funnel Sans Bold" pitchFamily="34" charset="0"/>
                <a:ea typeface="Funnel Sans Bold" pitchFamily="34" charset="-122"/>
                <a:cs typeface="Funnel Sans Bold" pitchFamily="34" charset="-120"/>
              </a:rPr>
              <a:t>Prepare the data and train the baseline</a:t>
            </a:r>
            <a:endParaRPr lang="en-US" sz="1850" dirty="0"/>
          </a:p>
        </p:txBody>
      </p:sp>
      <p:sp>
        <p:nvSpPr>
          <p:cNvPr id="11" name="Text 8"/>
          <p:cNvSpPr/>
          <p:nvPr/>
        </p:nvSpPr>
        <p:spPr>
          <a:xfrm>
            <a:off x="863578" y="3879949"/>
            <a:ext cx="2946326" cy="497681"/>
          </a:xfrm>
          <a:prstGeom prst="rect">
            <a:avLst/>
          </a:prstGeom>
          <a:noFill/>
        </p:spPr>
        <p:txBody>
          <a:bodyPr wrap="square" lIns="0" tIns="0" rIns="0" bIns="0" rtlCol="0" anchor="t">
            <a:normAutofit/>
          </a:bodyPr>
          <a:lstStyle/>
          <a:p>
            <a:pPr marL="0" indent="0" algn="l">
              <a:lnSpc>
                <a:spcPct val="117000"/>
              </a:lnSpc>
              <a:buNone/>
            </a:pPr>
            <a:r>
              <a:rPr lang="en-US" sz="1400" dirty="0">
                <a:solidFill>
                  <a:srgbClr val="2B3541"/>
                </a:solidFill>
                <a:latin typeface="Funnel Sans" pitchFamily="34" charset="0"/>
                <a:ea typeface="Funnel Sans" pitchFamily="34" charset="-122"/>
                <a:cs typeface="Funnel Sans" pitchFamily="34" charset="-120"/>
              </a:rPr>
              <a:t>Check labels, timestamps and full-video predictions.</a:t>
            </a:r>
            <a:endParaRPr lang="en-US" sz="1400" dirty="0"/>
          </a:p>
        </p:txBody>
      </p:sp>
      <p:sp>
        <p:nvSpPr>
          <p:cNvPr id="12" name="Shape 9"/>
          <p:cNvSpPr/>
          <p:nvPr/>
        </p:nvSpPr>
        <p:spPr>
          <a:xfrm>
            <a:off x="4368691" y="1989038"/>
            <a:ext cx="3454314" cy="2642592"/>
          </a:xfrm>
          <a:prstGeom prst="roundRect">
            <a:avLst>
              <a:gd name="adj" fmla="val 3330"/>
            </a:avLst>
          </a:prstGeom>
          <a:solidFill>
            <a:srgbClr val="FFFCF6"/>
          </a:solidFill>
          <a:effectLst>
            <a:outerShdw blurRad="379730" dist="151130" dir="5400000" algn="bl" rotWithShape="0">
              <a:srgbClr val="6A4FC8">
                <a:alpha val="40000"/>
              </a:srgbClr>
            </a:outerShdw>
          </a:effectLst>
        </p:spPr>
      </p:sp>
      <p:sp>
        <p:nvSpPr>
          <p:cNvPr id="13" name="Shape 10"/>
          <p:cNvSpPr/>
          <p:nvPr/>
        </p:nvSpPr>
        <p:spPr>
          <a:xfrm>
            <a:off x="4622684" y="2243038"/>
            <a:ext cx="584185" cy="584200"/>
          </a:xfrm>
          <a:prstGeom prst="ellipse">
            <a:avLst/>
          </a:prstGeom>
          <a:solidFill>
            <a:srgbClr val="7FD6D2"/>
          </a:solidFill>
          <a:effectLst>
            <a:outerShdw blurRad="125730" dist="127" dir="16200000" algn="bl" rotWithShape="0">
              <a:srgbClr val="6A4FC8">
                <a:alpha val="20000"/>
              </a:srgbClr>
            </a:outerShdw>
          </a:effectLst>
        </p:spPr>
      </p:sp>
      <p:pic>
        <p:nvPicPr>
          <p:cNvPr id="14" name="Image 1" descr="preencoded.png"/>
          <p:cNvPicPr>
            <a:picLocks noChangeAspect="1"/>
          </p:cNvPicPr>
          <p:nvPr/>
        </p:nvPicPr>
        <p:blipFill>
          <a:blip r:embed="rId1"/>
          <a:stretch>
            <a:fillRect/>
          </a:stretch>
        </p:blipFill>
        <p:spPr>
          <a:xfrm>
            <a:off x="4622684" y="2243038"/>
            <a:ext cx="584185" cy="584200"/>
          </a:xfrm>
          <a:prstGeom prst="rect">
            <a:avLst/>
          </a:prstGeom>
        </p:spPr>
      </p:pic>
      <p:sp>
        <p:nvSpPr>
          <p:cNvPr id="15" name="Text 11"/>
          <p:cNvSpPr/>
          <p:nvPr/>
        </p:nvSpPr>
        <p:spPr>
          <a:xfrm>
            <a:off x="4838083" y="2401788"/>
            <a:ext cx="762973" cy="266700"/>
          </a:xfrm>
          <a:prstGeom prst="rect">
            <a:avLst/>
          </a:prstGeom>
          <a:noFill/>
        </p:spPr>
        <p:txBody>
          <a:bodyPr wrap="none" lIns="0" tIns="0" rIns="0" bIns="0" rtlCol="0" anchor="t"/>
          <a:lstStyle/>
          <a:p>
            <a:pPr marL="0" indent="0" algn="l">
              <a:lnSpc>
                <a:spcPct val="83000"/>
              </a:lnSpc>
              <a:buNone/>
            </a:pPr>
            <a:r>
              <a:rPr lang="en-US" sz="2100" dirty="0">
                <a:solidFill>
                  <a:srgbClr val="051D3A"/>
                </a:solidFill>
                <a:latin typeface="Funnel Display SemiBold" pitchFamily="34" charset="0"/>
                <a:ea typeface="Funnel Display SemiBold" pitchFamily="34" charset="-122"/>
                <a:cs typeface="Funnel Display SemiBold" pitchFamily="34" charset="-120"/>
              </a:rPr>
              <a:t>2</a:t>
            </a:r>
            <a:endParaRPr lang="en-US" sz="2100" dirty="0"/>
          </a:p>
        </p:txBody>
      </p:sp>
      <p:sp>
        <p:nvSpPr>
          <p:cNvPr id="16" name="Text 12"/>
          <p:cNvSpPr/>
          <p:nvPr/>
        </p:nvSpPr>
        <p:spPr>
          <a:xfrm>
            <a:off x="4622684" y="2912963"/>
            <a:ext cx="3200320" cy="190500"/>
          </a:xfrm>
          <a:prstGeom prst="rect">
            <a:avLst/>
          </a:prstGeom>
          <a:noFill/>
        </p:spPr>
        <p:txBody>
          <a:bodyPr wrap="none" lIns="0" tIns="0" rIns="0" bIns="0" rtlCol="0" anchor="t"/>
          <a:lstStyle/>
          <a:p>
            <a:pPr marL="0" indent="0" algn="l">
              <a:lnSpc>
                <a:spcPct val="104000"/>
              </a:lnSpc>
              <a:buNone/>
            </a:pPr>
            <a:r>
              <a:rPr lang="en-US" sz="1200" b="1" kern="0" spc="96" dirty="0">
                <a:solidFill>
                  <a:srgbClr val="B8367F"/>
                </a:solidFill>
                <a:latin typeface="Funnel Sans Bold" pitchFamily="34" charset="0"/>
                <a:ea typeface="Funnel Sans Bold" pitchFamily="34" charset="-122"/>
                <a:cs typeface="Funnel Sans Bold" pitchFamily="34" charset="-120"/>
              </a:rPr>
              <a:t>WEEK 2</a:t>
            </a:r>
            <a:endParaRPr lang="en-US" sz="1200" dirty="0"/>
          </a:p>
        </p:txBody>
      </p:sp>
      <p:sp>
        <p:nvSpPr>
          <p:cNvPr id="17" name="Text 13"/>
          <p:cNvSpPr/>
          <p:nvPr/>
        </p:nvSpPr>
        <p:spPr>
          <a:xfrm>
            <a:off x="4622684" y="3189188"/>
            <a:ext cx="2946326" cy="563761"/>
          </a:xfrm>
          <a:prstGeom prst="rect">
            <a:avLst/>
          </a:prstGeom>
          <a:noFill/>
        </p:spPr>
        <p:txBody>
          <a:bodyPr wrap="square" lIns="0" tIns="0" rIns="0" bIns="0" rtlCol="0" anchor="t">
            <a:normAutofit/>
          </a:bodyPr>
          <a:lstStyle/>
          <a:p>
            <a:pPr marL="0" indent="0" algn="l">
              <a:lnSpc>
                <a:spcPct val="100000"/>
              </a:lnSpc>
              <a:buNone/>
            </a:pPr>
            <a:r>
              <a:rPr lang="en-US" sz="1850" b="1" kern="0" spc="-9" dirty="0">
                <a:solidFill>
                  <a:srgbClr val="2B3541"/>
                </a:solidFill>
                <a:latin typeface="Funnel Sans Bold" pitchFamily="34" charset="0"/>
                <a:ea typeface="Funnel Sans Bold" pitchFamily="34" charset="-122"/>
                <a:cs typeface="Funnel Sans Bold" pitchFamily="34" charset="-120"/>
              </a:rPr>
              <a:t>Deliver the timeline and feedback demo</a:t>
            </a:r>
            <a:endParaRPr lang="en-US" sz="1850" dirty="0"/>
          </a:p>
        </p:txBody>
      </p:sp>
      <p:sp>
        <p:nvSpPr>
          <p:cNvPr id="18" name="Text 14"/>
          <p:cNvSpPr/>
          <p:nvPr/>
        </p:nvSpPr>
        <p:spPr>
          <a:xfrm>
            <a:off x="4622684" y="3879949"/>
            <a:ext cx="2946326" cy="497681"/>
          </a:xfrm>
          <a:prstGeom prst="rect">
            <a:avLst/>
          </a:prstGeom>
          <a:noFill/>
        </p:spPr>
        <p:txBody>
          <a:bodyPr wrap="square" lIns="0" tIns="0" rIns="0" bIns="0" rtlCol="0" anchor="t">
            <a:normAutofit/>
          </a:bodyPr>
          <a:lstStyle/>
          <a:p>
            <a:pPr marL="0" indent="0" algn="l">
              <a:lnSpc>
                <a:spcPct val="117000"/>
              </a:lnSpc>
              <a:buNone/>
            </a:pPr>
            <a:r>
              <a:rPr lang="en-US" sz="1400" dirty="0">
                <a:solidFill>
                  <a:srgbClr val="2B3541"/>
                </a:solidFill>
                <a:latin typeface="Funnel Sans" pitchFamily="34" charset="0"/>
                <a:ea typeface="Funnel Sans" pitchFamily="34" charset="-122"/>
                <a:cs typeface="Funnel Sans" pitchFamily="34" charset="-120"/>
              </a:rPr>
              <a:t>Evaluate the baseline and connect the explanation layer.</a:t>
            </a:r>
            <a:endParaRPr lang="en-US" sz="1400" dirty="0"/>
          </a:p>
        </p:txBody>
      </p:sp>
      <p:sp>
        <p:nvSpPr>
          <p:cNvPr id="19" name="Shape 15"/>
          <p:cNvSpPr/>
          <p:nvPr/>
        </p:nvSpPr>
        <p:spPr>
          <a:xfrm>
            <a:off x="8127797" y="1989038"/>
            <a:ext cx="3454314" cy="2642592"/>
          </a:xfrm>
          <a:prstGeom prst="roundRect">
            <a:avLst>
              <a:gd name="adj" fmla="val 3330"/>
            </a:avLst>
          </a:prstGeom>
          <a:solidFill>
            <a:srgbClr val="FFFCF6"/>
          </a:solidFill>
          <a:effectLst>
            <a:outerShdw blurRad="379730" dist="151130" dir="5400000" algn="bl" rotWithShape="0">
              <a:srgbClr val="6A4FC8">
                <a:alpha val="40000"/>
              </a:srgbClr>
            </a:outerShdw>
          </a:effectLst>
        </p:spPr>
      </p:sp>
      <p:sp>
        <p:nvSpPr>
          <p:cNvPr id="20" name="Shape 16"/>
          <p:cNvSpPr/>
          <p:nvPr/>
        </p:nvSpPr>
        <p:spPr>
          <a:xfrm>
            <a:off x="8381790" y="2243038"/>
            <a:ext cx="584185" cy="584200"/>
          </a:xfrm>
          <a:prstGeom prst="ellipse">
            <a:avLst/>
          </a:prstGeom>
          <a:solidFill>
            <a:srgbClr val="7FD6D2"/>
          </a:solidFill>
          <a:effectLst>
            <a:outerShdw blurRad="125730" dist="127" dir="16200000" algn="bl" rotWithShape="0">
              <a:srgbClr val="6A4FC8">
                <a:alpha val="20000"/>
              </a:srgbClr>
            </a:outerShdw>
          </a:effectLst>
        </p:spPr>
      </p:sp>
      <p:pic>
        <p:nvPicPr>
          <p:cNvPr id="21" name="Image 2" descr="preencoded.png"/>
          <p:cNvPicPr>
            <a:picLocks noChangeAspect="1"/>
          </p:cNvPicPr>
          <p:nvPr/>
        </p:nvPicPr>
        <p:blipFill>
          <a:blip r:embed="rId1"/>
          <a:stretch>
            <a:fillRect/>
          </a:stretch>
        </p:blipFill>
        <p:spPr>
          <a:xfrm>
            <a:off x="8381790" y="2243038"/>
            <a:ext cx="584185" cy="584200"/>
          </a:xfrm>
          <a:prstGeom prst="rect">
            <a:avLst/>
          </a:prstGeom>
        </p:spPr>
      </p:pic>
      <p:sp>
        <p:nvSpPr>
          <p:cNvPr id="22" name="Text 17"/>
          <p:cNvSpPr/>
          <p:nvPr/>
        </p:nvSpPr>
        <p:spPr>
          <a:xfrm>
            <a:off x="8597189" y="2401788"/>
            <a:ext cx="762973" cy="266700"/>
          </a:xfrm>
          <a:prstGeom prst="rect">
            <a:avLst/>
          </a:prstGeom>
          <a:noFill/>
        </p:spPr>
        <p:txBody>
          <a:bodyPr wrap="none" lIns="0" tIns="0" rIns="0" bIns="0" rtlCol="0" anchor="t"/>
          <a:lstStyle/>
          <a:p>
            <a:pPr marL="0" indent="0" algn="l">
              <a:lnSpc>
                <a:spcPct val="83000"/>
              </a:lnSpc>
              <a:buNone/>
            </a:pPr>
            <a:r>
              <a:rPr lang="en-US" sz="2100" dirty="0">
                <a:solidFill>
                  <a:srgbClr val="051D3A"/>
                </a:solidFill>
                <a:latin typeface="Funnel Display SemiBold" pitchFamily="34" charset="0"/>
                <a:ea typeface="Funnel Display SemiBold" pitchFamily="34" charset="-122"/>
                <a:cs typeface="Funnel Display SemiBold" pitchFamily="34" charset="-120"/>
              </a:rPr>
              <a:t>3</a:t>
            </a:r>
            <a:endParaRPr lang="en-US" sz="2100" dirty="0"/>
          </a:p>
        </p:txBody>
      </p:sp>
      <p:sp>
        <p:nvSpPr>
          <p:cNvPr id="23" name="Text 18"/>
          <p:cNvSpPr/>
          <p:nvPr/>
        </p:nvSpPr>
        <p:spPr>
          <a:xfrm>
            <a:off x="8381790" y="2912963"/>
            <a:ext cx="3200320" cy="190500"/>
          </a:xfrm>
          <a:prstGeom prst="rect">
            <a:avLst/>
          </a:prstGeom>
          <a:noFill/>
        </p:spPr>
        <p:txBody>
          <a:bodyPr wrap="none" lIns="0" tIns="0" rIns="0" bIns="0" rtlCol="0" anchor="t"/>
          <a:lstStyle/>
          <a:p>
            <a:pPr marL="0" indent="0" algn="l">
              <a:lnSpc>
                <a:spcPct val="104000"/>
              </a:lnSpc>
              <a:buNone/>
            </a:pPr>
            <a:r>
              <a:rPr lang="en-US" sz="1200" b="1" kern="0" spc="96" dirty="0">
                <a:solidFill>
                  <a:srgbClr val="B8367F"/>
                </a:solidFill>
                <a:latin typeface="Funnel Sans Bold" pitchFamily="34" charset="0"/>
                <a:ea typeface="Funnel Sans Bold" pitchFamily="34" charset="-122"/>
                <a:cs typeface="Funnel Sans Bold" pitchFamily="34" charset="-120"/>
              </a:rPr>
              <a:t>WEEKS 3–4</a:t>
            </a:r>
            <a:endParaRPr lang="en-US" sz="1200" dirty="0"/>
          </a:p>
        </p:txBody>
      </p:sp>
      <p:sp>
        <p:nvSpPr>
          <p:cNvPr id="24" name="Text 19"/>
          <p:cNvSpPr/>
          <p:nvPr/>
        </p:nvSpPr>
        <p:spPr>
          <a:xfrm>
            <a:off x="8381790" y="3189188"/>
            <a:ext cx="2946326" cy="563761"/>
          </a:xfrm>
          <a:prstGeom prst="rect">
            <a:avLst/>
          </a:prstGeom>
          <a:noFill/>
        </p:spPr>
        <p:txBody>
          <a:bodyPr wrap="square" lIns="0" tIns="0" rIns="0" bIns="0" rtlCol="0" anchor="t">
            <a:normAutofit/>
          </a:bodyPr>
          <a:lstStyle/>
          <a:p>
            <a:pPr marL="0" indent="0" algn="l">
              <a:lnSpc>
                <a:spcPct val="100000"/>
              </a:lnSpc>
              <a:buNone/>
            </a:pPr>
            <a:r>
              <a:rPr lang="en-US" sz="1850" b="1" kern="0" spc="-9" dirty="0">
                <a:solidFill>
                  <a:srgbClr val="2B3541"/>
                </a:solidFill>
                <a:latin typeface="Funnel Sans Bold" pitchFamily="34" charset="0"/>
                <a:ea typeface="Funnel Sans Bold" pitchFamily="34" charset="-122"/>
                <a:cs typeface="Funnel Sans Bold" pitchFamily="34" charset="-120"/>
              </a:rPr>
              <a:t>Test useful extensions and complete the report</a:t>
            </a:r>
            <a:endParaRPr lang="en-US" sz="1850" dirty="0"/>
          </a:p>
        </p:txBody>
      </p:sp>
      <p:sp>
        <p:nvSpPr>
          <p:cNvPr id="25" name="Text 20"/>
          <p:cNvSpPr/>
          <p:nvPr/>
        </p:nvSpPr>
        <p:spPr>
          <a:xfrm>
            <a:off x="8381790" y="3879949"/>
            <a:ext cx="2946326" cy="497681"/>
          </a:xfrm>
          <a:prstGeom prst="rect">
            <a:avLst/>
          </a:prstGeom>
          <a:noFill/>
        </p:spPr>
        <p:txBody>
          <a:bodyPr wrap="square" lIns="0" tIns="0" rIns="0" bIns="0" rtlCol="0" anchor="t">
            <a:normAutofit/>
          </a:bodyPr>
          <a:lstStyle/>
          <a:p>
            <a:pPr marL="0" indent="0" algn="l">
              <a:lnSpc>
                <a:spcPct val="117000"/>
              </a:lnSpc>
              <a:buNone/>
            </a:pPr>
            <a:r>
              <a:rPr lang="en-US" sz="1400" dirty="0">
                <a:solidFill>
                  <a:srgbClr val="2B3541"/>
                </a:solidFill>
                <a:latin typeface="Funnel Sans" pitchFamily="34" charset="0"/>
                <a:ea typeface="Funnel Sans" pitchFamily="34" charset="-122"/>
                <a:cs typeface="Funnel Sans" pitchFamily="34" charset="-120"/>
              </a:rPr>
              <a:t>Add language assistance or clip review only when they help.</a:t>
            </a:r>
            <a:endParaRPr lang="en-US" sz="1400" dirty="0"/>
          </a:p>
        </p:txBody>
      </p:sp>
      <p:sp>
        <p:nvSpPr>
          <p:cNvPr id="26" name="Shape 21"/>
          <p:cNvSpPr/>
          <p:nvPr/>
        </p:nvSpPr>
        <p:spPr>
          <a:xfrm>
            <a:off x="609585" y="4885630"/>
            <a:ext cx="10972526" cy="744141"/>
          </a:xfrm>
          <a:prstGeom prst="roundRect">
            <a:avLst>
              <a:gd name="adj" fmla="val 11827"/>
            </a:avLst>
          </a:prstGeom>
          <a:solidFill>
            <a:srgbClr val="FFFCF6"/>
          </a:solidFill>
          <a:effectLst>
            <a:outerShdw blurRad="379730" dist="151130" dir="5400000" algn="bl" rotWithShape="0">
              <a:srgbClr val="6A4FC8">
                <a:alpha val="40000"/>
              </a:srgbClr>
            </a:outerShdw>
          </a:effectLst>
        </p:spPr>
      </p:sp>
      <p:sp>
        <p:nvSpPr>
          <p:cNvPr id="27" name="Text 22"/>
          <p:cNvSpPr/>
          <p:nvPr/>
        </p:nvSpPr>
        <p:spPr>
          <a:xfrm>
            <a:off x="888978" y="5088830"/>
            <a:ext cx="10693132" cy="337741"/>
          </a:xfrm>
          <a:prstGeom prst="rect">
            <a:avLst/>
          </a:prstGeom>
          <a:noFill/>
        </p:spPr>
        <p:txBody>
          <a:bodyPr wrap="none" lIns="0" tIns="0" rIns="0" bIns="0" rtlCol="0" anchor="t"/>
          <a:lstStyle/>
          <a:p>
            <a:pPr marL="0" indent="0" algn="l">
              <a:lnSpc>
                <a:spcPct val="117000"/>
              </a:lnSpc>
              <a:buNone/>
            </a:pPr>
            <a:r>
              <a:rPr lang="en-US" sz="1900" dirty="0">
                <a:solidFill>
                  <a:srgbClr val="4A5563"/>
                </a:solidFill>
                <a:latin typeface="Funnel Sans" pitchFamily="34" charset="0"/>
                <a:ea typeface="Funnel Sans" pitchFamily="34" charset="-122"/>
                <a:cs typeface="Funnel Sans" pitchFamily="34" charset="-120"/>
              </a:rPr>
              <a:t>If time is limited, the validated baseline remains the final deliverable.</a:t>
            </a:r>
            <a:endParaRPr lang="en-US" sz="1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4112</Words>
  <Application>WPS 演示</Application>
  <PresentationFormat>On-screen Show (16:9)</PresentationFormat>
  <Paragraphs>226</Paragraphs>
  <Slides>10</Slides>
  <Notes>10</Notes>
  <HiddenSlides>0</HiddenSlides>
  <MMClips>0</MMClips>
  <ScaleCrop>false</ScaleCrop>
  <HeadingPairs>
    <vt:vector size="6" baseType="variant">
      <vt:variant>
        <vt:lpstr>已用的字体</vt:lpstr>
      </vt:variant>
      <vt:variant>
        <vt:i4>30</vt:i4>
      </vt:variant>
      <vt:variant>
        <vt:lpstr>主题</vt:lpstr>
      </vt:variant>
      <vt:variant>
        <vt:i4>1</vt:i4>
      </vt:variant>
      <vt:variant>
        <vt:lpstr>幻灯片标题</vt:lpstr>
      </vt:variant>
      <vt:variant>
        <vt:i4>10</vt:i4>
      </vt:variant>
    </vt:vector>
  </HeadingPairs>
  <TitlesOfParts>
    <vt:vector size="41" baseType="lpstr">
      <vt:lpstr>Arial</vt:lpstr>
      <vt:lpstr>宋体</vt:lpstr>
      <vt:lpstr>Wingdings</vt:lpstr>
      <vt:lpstr>Funnel Sans Bold</vt:lpstr>
      <vt:lpstr>Funnel Sans Bold</vt:lpstr>
      <vt:lpstr>Funnel Sans Bold</vt:lpstr>
      <vt:lpstr>Funnel Display Bold</vt:lpstr>
      <vt:lpstr>Funnel Display Bold</vt:lpstr>
      <vt:lpstr>Funnel Display Bold</vt:lpstr>
      <vt:lpstr>Funnel Sans SemiBold</vt:lpstr>
      <vt:lpstr>Funnel Sans SemiBold</vt:lpstr>
      <vt:lpstr>Funnel Sans SemiBold</vt:lpstr>
      <vt:lpstr>Funnel Sans</vt:lpstr>
      <vt:lpstr>Funnel Sans</vt:lpstr>
      <vt:lpstr>Funnel Sans</vt:lpstr>
      <vt:lpstr>Funnel Display Medium</vt:lpstr>
      <vt:lpstr>苹方-简</vt:lpstr>
      <vt:lpstr>Funnel Display Medium</vt:lpstr>
      <vt:lpstr>Funnel Display Medium</vt:lpstr>
      <vt:lpstr>Funnel Display SemiBold</vt:lpstr>
      <vt:lpstr>Funnel Display SemiBold</vt:lpstr>
      <vt:lpstr>Funnel Display SemiBold</vt:lpstr>
      <vt:lpstr>Calibri</vt:lpstr>
      <vt:lpstr>Helvetica Neue</vt:lpstr>
      <vt:lpstr>微软雅黑</vt:lpstr>
      <vt:lpstr>方正雅意黑 GB18030L2</vt:lpstr>
      <vt:lpstr>宋体</vt:lpstr>
      <vt:lpstr>Arial Unicode MS</vt:lpstr>
      <vt:lpstr>汉仪书宋二KW</vt:lpstr>
      <vt:lpstr>MS PGothic</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WPS_1644542747</cp:lastModifiedBy>
  <cp:revision>2</cp:revision>
  <dcterms:created xsi:type="dcterms:W3CDTF">2026-10-01T16:00:47Z</dcterms:created>
  <dcterms:modified xsi:type="dcterms:W3CDTF">2026-10-01T16:00:47Z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0735C16EC39DCD95AF83BE6ACEEEF54E_43</vt:lpwstr>
  </property>
  <property fmtid="{D5CDD505-2E9C-101B-9397-08002B2CF9AE}" pid="3" name="KSOProductBuildVer">
    <vt:lpwstr>2052-12.1.28496.28496</vt:lpwstr>
  </property>
</Properties>
</file>