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1365" cy="6858000"/>
  <p:notesSz cx="6858000" cy="12191365"/>
  <p:embeddedFontLst>
    <p:embeddedFont>
      <p:font typeface="Funnel Sans SemiBold" pitchFamily="34" charset="0"/>
      <p:regular r:id="rId17"/>
    </p:embeddedFont>
    <p:embeddedFont>
      <p:font typeface="Funnel Sans SemiBold" pitchFamily="34" charset="-122"/>
      <p:regular r:id="rId18"/>
    </p:embeddedFont>
    <p:embeddedFont>
      <p:font typeface="Funnel Sans SemiBold" pitchFamily="34" charset="-120"/>
      <p:regular r:id="rId19"/>
    </p:embeddedFont>
    <p:embeddedFont>
      <p:font typeface="Funnel Display Medium" pitchFamily="34" charset="0"/>
      <p:regular r:id="rId20"/>
    </p:embeddedFont>
    <p:embeddedFont>
      <p:font typeface="Funnel Display Medium" pitchFamily="34" charset="-122"/>
      <p:regular r:id="rId21"/>
    </p:embeddedFont>
    <p:embeddedFont>
      <p:font typeface="Funnel Display Medium" pitchFamily="34" charset="-120"/>
      <p:regular r:id="rId22"/>
    </p:embeddedFont>
    <p:embeddedFont>
      <p:font typeface="Funnel Sans" pitchFamily="34" charset="0"/>
      <p:regular r:id="rId23"/>
    </p:embeddedFont>
    <p:embeddedFont>
      <p:font typeface="Funnel Sans" pitchFamily="34" charset="-122"/>
      <p:regular r:id="rId24"/>
    </p:embeddedFont>
    <p:embeddedFont>
      <p:font typeface="Funnel Sans" pitchFamily="34" charset="-120"/>
      <p:regular r:id="rId25"/>
    </p:embeddedFont>
    <p:embeddedFont>
      <p:font typeface="Funnel Display SemiBold" pitchFamily="34" charset="0"/>
      <p:regular r:id="rId26"/>
    </p:embeddedFont>
    <p:embeddedFont>
      <p:font typeface="Funnel Display SemiBold" pitchFamily="34" charset="-122"/>
      <p:regular r:id="rId27"/>
    </p:embeddedFont>
    <p:embeddedFont>
      <p:font typeface="Funnel Display SemiBold" pitchFamily="34" charset="-120"/>
      <p:regular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owners and the current delivery: cloud training with local camera inference. This first presentation covers goals, data, techniques and progress.
Source: https://github.com/Frostash030612/handwash-who-six-step/blob/8d7269c/docs/IMPLEMENTATION_PLAN.zh-CN.md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names are shortened for presentation. Step 2 involves palm over dorsum with fingers interlaced. Step 3 has opposing palms with interlaced fingers. Step 4 uses the backs of fingers against an opposing palm with fingers interlocked. PSKUS also labels other movements and turning off the faucet. The system must preserve missing, reordered or repeated actions rather than force a fixed six-step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formal target uses eight PSKUS classes. Report the six rubbing steps separately. No formal experimental result is available.
Source: https://github.com/Frostash030612/handwash-who-six-step/blob/8d7269c/docs/PROJECT_PROPOSAL.md
Source: https://github.com/Frostash030612/handwash-who-six-step/blob/8d7269c/configs/experiments/live_yolo_frame.yaml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PSKUS is the main training source. METC and self-recorded clips provide separate evaluation settings. Local download status comes from the supplied team checklist dated 3 October 2026; the repository does not prove a newer local download state.
Source: https://github.com/Frostash030612/handwash-who-six-step/blob/8d7269c/docs/DATA.md
Source: https://github.com/Frostash030612/handwash-who-six-step/blob/8d7269c/docs/SELF_RECORDING.md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split is a planned 70/15/15 starting point with a fixed seed and no source-video leakage. Identity grouping is preferred when trustworthy IDs exist. Every sampled frame retains its own label and real timestamp. Short sequences here preserve data order and action boundaries; the mainline classifier trains on individual frames.
Source: https://github.com/Frostash030612/handwash-who-six-step/blob/8d7269c/docs/IMPLEMENTATION_PLAN.zh-CN.md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YOLO26n-cls uses train.mode frame and temporal.kind none. The live service applies a trailing probability average over received frames with smooth_window 9. This is inference-side smoothing, not a trained temporal model.
Source: https://github.com/Frostash030612/handwash-who-six-step/blob/8d7269c/docs/IMPLEMENTATION_PLAN.zh-CN.md
Source: https://github.com/Frostash030612/handwash-who-six-step/blob/8d7269c/configs/experiments/live_yolo_frame.yaml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backend and camera page exist at code level. The four blocks describe the implemented interaction rather than measured performance. The demonstration entry is python scripts/run_camera.py --demo-exp.
Source: https://github.com/Frostash030612/handwash-who-six-step/blob/8d7269c/docs/IMPLEMENTATION_PLAN.zh-CN.md
Source: https://github.com/Frostash030612/handwash-who-six-step/blob/8d7269c/README.md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reuse one checkpoint and compare label-change counts as well as recognition and latency. C/D train separate controlled temporal models. The delivery line remains A/B. Evaluate eight PSKUS classes and report the six rubbing steps separately. Report PSKUS, METC and self-recorded results independently. Match segment labels and temporal overlap for segment F1.
Source: https://github.com/Frostash030612/handwash-who-six-step/blob/8d7269c/docs/EXPERIMENTS.md
Source: https://github.com/Frostash030612/handwash-who-six-step/blob/8d7269c/docs/IMPLEMENTATION_PLAN.zh-CN.md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396 is the documented contract-test count in CHANGELOG, not a newly measured test result. A CI workflow exists, but its latest remote execution status has not been independently confirmed. The only recorded experiment is a synthetic smoke run with metrics explicitly marked meaningless.
Source: https://github.com/Frostash030612/handwash-who-six-step/blob/8d7269c/CHANGELOG.md
Source: https://github.com/Frostash030612/handwash-who-six-step/blob/8d7269c/docs/EXPERIMENTS.md
Source: https://github.com/Frostash030612/handwash-who-six-step/blob/8d7269c/docs/IMPLEMENTATION_PLAN.zh-CN.md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execution order is data quality, cloud training, local video validation, then real-camera acceptance. The repository still marks formal training as pending, so no running training job or completed result is claimed.
Source: https://github.com/Frostash030612/handwash-who-six-step/blob/8d7269c/docs/IMPLEMENTATION_PLAN.zh-CN.md
Source: https://github.com/Frostash030612/handwash-who-six-step/blob/8d7269c/docs/PROJECT_PLAN_4_WEEK.md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3.png"/><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3.xml"/><Relationship Id="rId14" Type="http://schemas.openxmlformats.org/officeDocument/2006/relationships/slideLayout" Target="../slideLayouts/slideLayout1.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625559" y="1460500"/>
            <a:ext cx="8940576" cy="3810000"/>
          </a:xfrm>
          <a:prstGeom prst="roundRect">
            <a:avLst>
              <a:gd name="adj" fmla="val 2310"/>
            </a:avLst>
          </a:prstGeom>
          <a:solidFill>
            <a:srgbClr val="FFFCF6"/>
          </a:solidFill>
          <a:effectLst>
            <a:outerShdw blurRad="379730" dist="151130" dir="5400000" algn="bl" rotWithShape="0">
              <a:srgbClr val="6A4FC8">
                <a:alpha val="40000"/>
              </a:srgbClr>
            </a:outerShdw>
          </a:effectLst>
        </p:spPr>
      </p:sp>
      <p:sp>
        <p:nvSpPr>
          <p:cNvPr id="4" name="Text 1"/>
          <p:cNvSpPr/>
          <p:nvPr/>
        </p:nvSpPr>
        <p:spPr>
          <a:xfrm>
            <a:off x="2031949" y="1765300"/>
            <a:ext cx="8737381"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FIRST PRESENTATION</a:t>
            </a:r>
            <a:endParaRPr lang="en-US" sz="1200" dirty="0"/>
          </a:p>
        </p:txBody>
      </p:sp>
      <p:sp>
        <p:nvSpPr>
          <p:cNvPr id="5" name="Text 2"/>
          <p:cNvSpPr/>
          <p:nvPr/>
        </p:nvSpPr>
        <p:spPr>
          <a:xfrm>
            <a:off x="2031949" y="2041525"/>
            <a:ext cx="8127797" cy="1022945"/>
          </a:xfrm>
          <a:prstGeom prst="rect">
            <a:avLst/>
          </a:prstGeom>
          <a:noFill/>
        </p:spPr>
        <p:txBody>
          <a:bodyPr wrap="square" lIns="0" tIns="0" rIns="0" bIns="0" rtlCol="0" anchor="t">
            <a:normAutofit/>
          </a:bodyPr>
          <a:lstStyle/>
          <a:p>
            <a:pPr marL="0" indent="0" algn="l">
              <a:lnSpc>
                <a:spcPct val="88000"/>
              </a:lnSpc>
              <a:buNone/>
            </a:pPr>
            <a:r>
              <a:rPr lang="en-US" sz="3800" kern="100" spc="-38" dirty="0">
                <a:solidFill>
                  <a:srgbClr val="2B3541"/>
                </a:solidFill>
                <a:latin typeface="Funnel Display Medium" pitchFamily="34" charset="0"/>
                <a:ea typeface="Funnel Display Medium" pitchFamily="34" charset="-122"/>
                <a:cs typeface="Funnel Display Medium" pitchFamily="34" charset="-120"/>
              </a:rPr>
              <a:t>Video-based Six-Step</a:t>
            </a:r>
            <a:endParaRPr lang="en-US" sz="3800" dirty="0"/>
          </a:p>
          <a:p>
            <a:pPr marL="0" indent="0" algn="l">
              <a:lnSpc>
                <a:spcPct val="88000"/>
              </a:lnSpc>
              <a:buNone/>
            </a:pPr>
            <a:r>
              <a:rPr lang="en-US" sz="3800" kern="100" spc="-38" dirty="0">
                <a:solidFill>
                  <a:srgbClr val="2B3541"/>
                </a:solidFill>
                <a:latin typeface="Funnel Display Medium" pitchFamily="34" charset="0"/>
                <a:ea typeface="Funnel Display Medium" pitchFamily="34" charset="-122"/>
                <a:cs typeface="Funnel Display Medium" pitchFamily="34" charset="-120"/>
              </a:rPr>
              <a:t>Handwashing Assessment</a:t>
            </a:r>
            <a:endParaRPr lang="en-US" sz="3800" dirty="0"/>
          </a:p>
        </p:txBody>
      </p:sp>
      <p:sp>
        <p:nvSpPr>
          <p:cNvPr id="6" name="Text 3"/>
          <p:cNvSpPr/>
          <p:nvPr/>
        </p:nvSpPr>
        <p:spPr>
          <a:xfrm>
            <a:off x="2031949" y="3270845"/>
            <a:ext cx="8737381" cy="337741"/>
          </a:xfrm>
          <a:prstGeom prst="rect">
            <a:avLst/>
          </a:prstGeom>
          <a:noFill/>
        </p:spPr>
        <p:txBody>
          <a:bodyPr wrap="none" lIns="0" tIns="0" rIns="0" bIns="0" rtlCol="0" anchor="t"/>
          <a:lstStyle/>
          <a:p>
            <a:pPr marL="0" indent="0" algn="l">
              <a:lnSpc>
                <a:spcPct val="117000"/>
              </a:lnSpc>
              <a:buNone/>
            </a:pPr>
            <a:r>
              <a:rPr lang="en-US" sz="1900" dirty="0">
                <a:solidFill>
                  <a:srgbClr val="2B3541"/>
                </a:solidFill>
                <a:latin typeface="Funnel Sans" pitchFamily="34" charset="0"/>
                <a:ea typeface="Funnel Sans" pitchFamily="34" charset="-122"/>
                <a:cs typeface="Funnel Sans" pitchFamily="34" charset="-120"/>
              </a:rPr>
              <a:t>Live action recognition and six-step completeness reports</a:t>
            </a:r>
            <a:endParaRPr lang="en-US" sz="1900" dirty="0"/>
          </a:p>
        </p:txBody>
      </p:sp>
      <p:sp>
        <p:nvSpPr>
          <p:cNvPr id="7" name="Text 4"/>
          <p:cNvSpPr/>
          <p:nvPr/>
        </p:nvSpPr>
        <p:spPr>
          <a:xfrm>
            <a:off x="2031949" y="3795911"/>
            <a:ext cx="8737381" cy="214313"/>
          </a:xfrm>
          <a:prstGeom prst="rect">
            <a:avLst/>
          </a:prstGeom>
          <a:noFill/>
        </p:spPr>
        <p:txBody>
          <a:bodyPr wrap="none" lIns="0" tIns="0" rIns="0" bIns="0" rtlCol="0" anchor="t"/>
          <a:lstStyle/>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Group 43 · 6 October 2026</a:t>
            </a:r>
            <a:endParaRPr lang="en-US" sz="1250" dirty="0"/>
          </a:p>
        </p:txBody>
      </p:sp>
      <p:sp>
        <p:nvSpPr>
          <p:cNvPr id="8" name="Text 5"/>
          <p:cNvSpPr/>
          <p:nvPr/>
        </p:nvSpPr>
        <p:spPr>
          <a:xfrm>
            <a:off x="2031949" y="4197548"/>
            <a:ext cx="3911502"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Shen Ziyi — Data &amp; evaluation</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Wang Lepeng — Model &amp; training</a:t>
            </a:r>
            <a:endParaRPr lang="en-US" sz="1400" dirty="0"/>
          </a:p>
        </p:txBody>
      </p:sp>
      <p:sp>
        <p:nvSpPr>
          <p:cNvPr id="9" name="Text 6"/>
          <p:cNvSpPr/>
          <p:nvPr/>
        </p:nvSpPr>
        <p:spPr>
          <a:xfrm>
            <a:off x="6248244" y="4197548"/>
            <a:ext cx="3911502"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Zhu Jianyu — Temporal &amp; rules</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Xu Wenzhe — Product, demo &amp; delivery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609600"/>
            <a:ext cx="6705432"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CLINICAL MOTIVATION</a:t>
            </a:r>
            <a:endParaRPr lang="en-US" sz="1200" dirty="0"/>
          </a:p>
        </p:txBody>
      </p:sp>
      <p:sp>
        <p:nvSpPr>
          <p:cNvPr id="3" name="Text 1"/>
          <p:cNvSpPr/>
          <p:nvPr/>
        </p:nvSpPr>
        <p:spPr>
          <a:xfrm>
            <a:off x="609585" y="885825"/>
            <a:ext cx="6349841" cy="969169"/>
          </a:xfrm>
          <a:prstGeom prst="rect">
            <a:avLst/>
          </a:prstGeom>
          <a:noFill/>
        </p:spPr>
        <p:txBody>
          <a:bodyPr wrap="square" lIns="0" tIns="0" rIns="0" bIns="0" rtlCol="0" anchor="t">
            <a:normAutofit/>
          </a:bodyPr>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Why analyze the whole washing process?</a:t>
            </a:r>
            <a:endParaRPr lang="en-US" sz="3600" dirty="0"/>
          </a:p>
        </p:txBody>
      </p:sp>
      <p:sp>
        <p:nvSpPr>
          <p:cNvPr id="4" name="Shape 2"/>
          <p:cNvSpPr/>
          <p:nvPr/>
        </p:nvSpPr>
        <p:spPr>
          <a:xfrm>
            <a:off x="609585" y="2812653"/>
            <a:ext cx="6349841" cy="1615380"/>
          </a:xfrm>
          <a:prstGeom prst="roundRect">
            <a:avLst>
              <a:gd name="adj" fmla="val 5448"/>
            </a:avLst>
          </a:prstGeom>
          <a:solidFill>
            <a:srgbClr val="FFFCF6"/>
          </a:solidFill>
          <a:effectLst>
            <a:outerShdw blurRad="379730" dist="151130" dir="5400000" algn="bl" rotWithShape="0">
              <a:srgbClr val="6A4FC8">
                <a:alpha val="40000"/>
              </a:srgbClr>
            </a:outerShdw>
          </a:effectLst>
        </p:spPr>
      </p:sp>
      <p:sp>
        <p:nvSpPr>
          <p:cNvPr id="5" name="Text 3"/>
          <p:cNvSpPr/>
          <p:nvPr/>
        </p:nvSpPr>
        <p:spPr>
          <a:xfrm>
            <a:off x="939776" y="3117453"/>
            <a:ext cx="5689458" cy="1005780"/>
          </a:xfrm>
          <a:prstGeom prst="rect">
            <a:avLst/>
          </a:prstGeom>
          <a:noFill/>
        </p:spPr>
        <p:txBody>
          <a:bodyPr wrap="square" lIns="0" tIns="0" rIns="0" bIns="0" rtlCol="0" anchor="t">
            <a:normAutofit/>
          </a:bodyPr>
          <a:lstStyle/>
          <a:p>
            <a:pPr marL="0" indent="0" algn="l">
              <a:lnSpc>
                <a:spcPct val="100000"/>
              </a:lnSpc>
              <a:buNone/>
            </a:pPr>
            <a:r>
              <a:rPr lang="en-US" sz="2200" kern="100" spc="-11" dirty="0">
                <a:solidFill>
                  <a:srgbClr val="2B3541"/>
                </a:solidFill>
                <a:latin typeface="Funnel Sans SemiBold" pitchFamily="34" charset="0"/>
                <a:ea typeface="Funnel Sans SemiBold" pitchFamily="34" charset="-122"/>
                <a:cs typeface="Funnel Sans SemiBold" pitchFamily="34" charset="-120"/>
              </a:rPr>
              <a:t>A useful review needs to show which actions happened, when they happened, and which steps were not detected.</a:t>
            </a:r>
            <a:endParaRPr lang="en-US" sz="2200" dirty="0"/>
          </a:p>
        </p:txBody>
      </p:sp>
      <p:sp>
        <p:nvSpPr>
          <p:cNvPr id="6" name="Text 4"/>
          <p:cNvSpPr/>
          <p:nvPr/>
        </p:nvSpPr>
        <p:spPr>
          <a:xfrm>
            <a:off x="609585" y="4615359"/>
            <a:ext cx="6349841" cy="675481"/>
          </a:xfrm>
          <a:prstGeom prst="rect">
            <a:avLst/>
          </a:prstGeom>
          <a:noFill/>
        </p:spPr>
        <p:txBody>
          <a:bodyPr wrap="square" lIns="0" tIns="0" rIns="0" bIns="0" rtlCol="0" anchor="t">
            <a:normAutofit/>
          </a:bodyPr>
          <a:lstStyle/>
          <a:p>
            <a:pPr marL="0" indent="0" algn="l">
              <a:lnSpc>
                <a:spcPct val="117000"/>
              </a:lnSpc>
              <a:buNone/>
            </a:pPr>
            <a:r>
              <a:rPr lang="en-US" sz="1900" dirty="0">
                <a:solidFill>
                  <a:srgbClr val="2B3541"/>
                </a:solidFill>
                <a:latin typeface="Funnel Sans" pitchFamily="34" charset="0"/>
                <a:ea typeface="Funnel Sans" pitchFamily="34" charset="-122"/>
                <a:cs typeface="Funnel Sans" pitchFamily="34" charset="-120"/>
              </a:rPr>
              <a:t>We propose a video-based tool that turns these observations into feedback a user can check.</a:t>
            </a:r>
            <a:endParaRPr lang="en-US" sz="1900" dirty="0"/>
          </a:p>
        </p:txBody>
      </p:sp>
      <p:sp>
        <p:nvSpPr>
          <p:cNvPr id="7" name="Text 5"/>
          <p:cNvSpPr/>
          <p:nvPr/>
        </p:nvSpPr>
        <p:spPr>
          <a:xfrm>
            <a:off x="7619809" y="1363067"/>
            <a:ext cx="4571886"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THE CHALLENGE</a:t>
            </a:r>
            <a:endParaRPr lang="en-US" sz="1200" dirty="0"/>
          </a:p>
        </p:txBody>
      </p:sp>
      <p:sp>
        <p:nvSpPr>
          <p:cNvPr id="8" name="Text 6"/>
          <p:cNvSpPr/>
          <p:nvPr/>
        </p:nvSpPr>
        <p:spPr>
          <a:xfrm>
            <a:off x="7619809" y="1639292"/>
            <a:ext cx="4013100" cy="670520"/>
          </a:xfrm>
          <a:prstGeom prst="rect">
            <a:avLst/>
          </a:prstGeom>
          <a:noFill/>
        </p:spPr>
        <p:txBody>
          <a:bodyPr wrap="square" lIns="0" tIns="0" rIns="0" bIns="0" rtlCol="0" anchor="t">
            <a:normAutofit/>
          </a:bodyPr>
          <a:lstStyle/>
          <a:p>
            <a:pPr marL="0" indent="0" algn="l">
              <a:lnSpc>
                <a:spcPct val="100000"/>
              </a:lnSpc>
              <a:buNone/>
            </a:pPr>
            <a:r>
              <a:rPr lang="en-US" sz="2200" kern="100" spc="-11" dirty="0">
                <a:solidFill>
                  <a:srgbClr val="051D3A"/>
                </a:solidFill>
                <a:latin typeface="Funnel Sans SemiBold" pitchFamily="34" charset="0"/>
                <a:ea typeface="Funnel Sans SemiBold" pitchFamily="34" charset="-122"/>
                <a:cs typeface="Funnel Sans SemiBold" pitchFamily="34" charset="-120"/>
              </a:rPr>
              <a:t>Similar hand movements can look almost identical.</a:t>
            </a:r>
            <a:endParaRPr lang="en-US" sz="2200" dirty="0"/>
          </a:p>
        </p:txBody>
      </p:sp>
      <p:sp>
        <p:nvSpPr>
          <p:cNvPr id="9" name="Text 7"/>
          <p:cNvSpPr/>
          <p:nvPr/>
        </p:nvSpPr>
        <p:spPr>
          <a:xfrm>
            <a:off x="7619809" y="2459038"/>
            <a:ext cx="4013100" cy="586581"/>
          </a:xfrm>
          <a:prstGeom prst="rect">
            <a:avLst/>
          </a:prstGeom>
          <a:noFill/>
        </p:spPr>
        <p:txBody>
          <a:bodyPr wrap="square" lIns="0" tIns="0" rIns="0" bIns="0" rtlCol="0" anchor="t">
            <a:normAutofit/>
          </a:bodyPr>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Hands may overlap, and people may skip or repeat a step.</a:t>
            </a:r>
            <a:endParaRPr lang="en-US" sz="1650" dirty="0"/>
          </a:p>
        </p:txBody>
      </p:sp>
      <p:pic>
        <p:nvPicPr>
          <p:cNvPr id="10" name="Image 0" descr="preencoded.png"/>
          <p:cNvPicPr>
            <a:picLocks noChangeAspect="1"/>
          </p:cNvPicPr>
          <p:nvPr/>
        </p:nvPicPr>
        <p:blipFill>
          <a:blip r:embed="rId1"/>
          <a:stretch>
            <a:fillRect/>
          </a:stretch>
        </p:blipFill>
        <p:spPr>
          <a:xfrm>
            <a:off x="7619809" y="3232944"/>
            <a:ext cx="4013100" cy="2262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457200"/>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PROJECT SCOPE</a:t>
            </a:r>
            <a:endParaRPr lang="en-US" sz="1200" dirty="0"/>
          </a:p>
        </p:txBody>
      </p:sp>
      <p:sp>
        <p:nvSpPr>
          <p:cNvPr id="3" name="Text 1"/>
          <p:cNvSpPr/>
          <p:nvPr/>
        </p:nvSpPr>
        <p:spPr>
          <a:xfrm>
            <a:off x="609585" y="733425"/>
            <a:ext cx="10972526"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What the project aims to deliver</a:t>
            </a:r>
            <a:endParaRPr lang="en-US" sz="3600" dirty="0"/>
          </a:p>
        </p:txBody>
      </p:sp>
      <p:sp>
        <p:nvSpPr>
          <p:cNvPr id="4" name="Shape 2"/>
          <p:cNvSpPr/>
          <p:nvPr>
            <p:custDataLst>
              <p:tags r:id="rId1"/>
            </p:custDataLst>
          </p:nvPr>
        </p:nvSpPr>
        <p:spPr>
          <a:xfrm>
            <a:off x="609585" y="1424384"/>
            <a:ext cx="5333867" cy="2198191"/>
          </a:xfrm>
          <a:prstGeom prst="roundRect">
            <a:avLst>
              <a:gd name="adj" fmla="val 4004"/>
            </a:avLst>
          </a:prstGeom>
          <a:solidFill>
            <a:srgbClr val="FFFCF6"/>
          </a:solidFill>
          <a:effectLst>
            <a:outerShdw blurRad="379730" dist="151130" dir="5400000" algn="bl" rotWithShape="0">
              <a:srgbClr val="6A4FC8">
                <a:alpha val="40000"/>
              </a:srgbClr>
            </a:outerShdw>
          </a:effectLst>
        </p:spPr>
      </p:sp>
      <p:sp>
        <p:nvSpPr>
          <p:cNvPr id="5" name="Shape 3"/>
          <p:cNvSpPr/>
          <p:nvPr>
            <p:custDataLst>
              <p:tags r:id="rId2"/>
            </p:custDataLst>
          </p:nvPr>
        </p:nvSpPr>
        <p:spPr>
          <a:xfrm>
            <a:off x="888978" y="1652984"/>
            <a:ext cx="2395676" cy="584200"/>
          </a:xfrm>
          <a:prstGeom prst="roundRect">
            <a:avLst>
              <a:gd name="adj" fmla="val 49999"/>
            </a:avLst>
          </a:prstGeom>
          <a:solidFill>
            <a:srgbClr val="7FD6D2"/>
          </a:solidFill>
          <a:effectLst>
            <a:outerShdw blurRad="125730" dist="127" dir="16200000" algn="bl" rotWithShape="0">
              <a:srgbClr val="6A4FC8">
                <a:alpha val="20000"/>
              </a:srgbClr>
            </a:outerShdw>
          </a:effectLst>
        </p:spPr>
      </p:sp>
      <p:pic>
        <p:nvPicPr>
          <p:cNvPr id="6" name="Image 0" descr="preencoded.png"/>
          <p:cNvPicPr>
            <a:picLocks noChangeAspect="1"/>
          </p:cNvPicPr>
          <p:nvPr>
            <p:custDataLst>
              <p:tags r:id="rId3"/>
            </p:custDataLst>
          </p:nvPr>
        </p:nvPicPr>
        <p:blipFill>
          <a:blip r:embed="rId4"/>
          <a:stretch>
            <a:fillRect/>
          </a:stretch>
        </p:blipFill>
        <p:spPr>
          <a:xfrm>
            <a:off x="777875" y="1621155"/>
            <a:ext cx="2572385" cy="627380"/>
          </a:xfrm>
          <a:prstGeom prst="rect">
            <a:avLst/>
          </a:prstGeom>
        </p:spPr>
      </p:pic>
      <p:sp>
        <p:nvSpPr>
          <p:cNvPr id="7" name="Text 4"/>
          <p:cNvSpPr/>
          <p:nvPr>
            <p:custDataLst>
              <p:tags r:id="rId5"/>
            </p:custDataLst>
          </p:nvPr>
        </p:nvSpPr>
        <p:spPr>
          <a:xfrm>
            <a:off x="952476" y="1811734"/>
            <a:ext cx="2878264"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CORE OUTPUT 01</a:t>
            </a:r>
            <a:endParaRPr lang="en-US" sz="2100" dirty="0"/>
          </a:p>
        </p:txBody>
      </p:sp>
      <p:sp>
        <p:nvSpPr>
          <p:cNvPr id="8" name="Text 5"/>
          <p:cNvSpPr/>
          <p:nvPr>
            <p:custDataLst>
              <p:tags r:id="rId6"/>
            </p:custDataLst>
          </p:nvPr>
        </p:nvSpPr>
        <p:spPr>
          <a:xfrm>
            <a:off x="888978" y="2322909"/>
            <a:ext cx="4775081" cy="335260"/>
          </a:xfrm>
          <a:prstGeom prst="rect">
            <a:avLst/>
          </a:prstGeom>
          <a:noFill/>
        </p:spPr>
        <p:txBody>
          <a:bodyPr wrap="none" lIns="0" tIns="0" rIns="0" bIns="0" rtlCol="0" anchor="t"/>
          <a:lstStyle/>
          <a:p>
            <a:pPr marL="0" indent="0" algn="l">
              <a:lnSpc>
                <a:spcPct val="100000"/>
              </a:lnSpc>
              <a:buNone/>
            </a:pPr>
            <a:r>
              <a:rPr lang="en-US" sz="2200" kern="100" spc="-11" dirty="0">
                <a:solidFill>
                  <a:srgbClr val="2B3541"/>
                </a:solidFill>
                <a:latin typeface="Funnel Sans SemiBold" pitchFamily="34" charset="0"/>
                <a:ea typeface="Funnel Sans SemiBold" pitchFamily="34" charset="-122"/>
                <a:cs typeface="Funnel Sans SemiBold" pitchFamily="34" charset="-120"/>
              </a:rPr>
              <a:t>Live action recognition</a:t>
            </a:r>
            <a:endParaRPr lang="en-US" sz="2200" dirty="0"/>
          </a:p>
        </p:txBody>
      </p:sp>
      <p:sp>
        <p:nvSpPr>
          <p:cNvPr id="9" name="Text 6"/>
          <p:cNvSpPr/>
          <p:nvPr>
            <p:custDataLst>
              <p:tags r:id="rId7"/>
            </p:custDataLst>
          </p:nvPr>
        </p:nvSpPr>
        <p:spPr>
          <a:xfrm>
            <a:off x="888978" y="2807395"/>
            <a:ext cx="4775081" cy="586581"/>
          </a:xfrm>
          <a:prstGeom prst="rect">
            <a:avLst/>
          </a:prstGeom>
          <a:noFill/>
        </p:spPr>
        <p:txBody>
          <a:bodyPr wrap="square" lIns="0" tIns="0" rIns="0" bIns="0" rtlCol="0" anchor="t">
            <a:normAutofit/>
          </a:bodyPr>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Show the current action and a timeline with real timestamps.</a:t>
            </a:r>
            <a:endParaRPr lang="en-US" sz="1650" dirty="0"/>
          </a:p>
        </p:txBody>
      </p:sp>
      <p:sp>
        <p:nvSpPr>
          <p:cNvPr id="10" name="Shape 7"/>
          <p:cNvSpPr/>
          <p:nvPr>
            <p:custDataLst>
              <p:tags r:id="rId8"/>
            </p:custDataLst>
          </p:nvPr>
        </p:nvSpPr>
        <p:spPr>
          <a:xfrm>
            <a:off x="6248244" y="1424384"/>
            <a:ext cx="5333867" cy="2198191"/>
          </a:xfrm>
          <a:prstGeom prst="roundRect">
            <a:avLst>
              <a:gd name="adj" fmla="val 4004"/>
            </a:avLst>
          </a:prstGeom>
          <a:solidFill>
            <a:srgbClr val="FFFCF6"/>
          </a:solidFill>
          <a:effectLst>
            <a:outerShdw blurRad="379730" dist="151130" dir="5400000" algn="bl" rotWithShape="0">
              <a:srgbClr val="6A4FC8">
                <a:alpha val="40000"/>
              </a:srgbClr>
            </a:outerShdw>
          </a:effectLst>
        </p:spPr>
      </p:sp>
      <p:sp>
        <p:nvSpPr>
          <p:cNvPr id="11" name="Shape 8"/>
          <p:cNvSpPr/>
          <p:nvPr>
            <p:custDataLst>
              <p:tags r:id="rId9"/>
            </p:custDataLst>
          </p:nvPr>
        </p:nvSpPr>
        <p:spPr>
          <a:xfrm>
            <a:off x="6527637" y="1652984"/>
            <a:ext cx="2395676" cy="584200"/>
          </a:xfrm>
          <a:prstGeom prst="roundRect">
            <a:avLst>
              <a:gd name="adj" fmla="val 49999"/>
            </a:avLst>
          </a:prstGeom>
          <a:solidFill>
            <a:srgbClr val="7FD6D2"/>
          </a:solidFill>
          <a:effectLst>
            <a:outerShdw blurRad="125730" dist="127" dir="16200000" algn="bl" rotWithShape="0">
              <a:srgbClr val="6A4FC8">
                <a:alpha val="20000"/>
              </a:srgbClr>
            </a:outerShdw>
          </a:effectLst>
        </p:spPr>
      </p:sp>
      <p:pic>
        <p:nvPicPr>
          <p:cNvPr id="12" name="Image 1" descr="preencoded.png"/>
          <p:cNvPicPr>
            <a:picLocks noChangeAspect="1"/>
          </p:cNvPicPr>
          <p:nvPr>
            <p:custDataLst>
              <p:tags r:id="rId10"/>
            </p:custDataLst>
          </p:nvPr>
        </p:nvPicPr>
        <p:blipFill>
          <a:blip r:embed="rId4"/>
          <a:stretch>
            <a:fillRect/>
          </a:stretch>
        </p:blipFill>
        <p:spPr>
          <a:xfrm>
            <a:off x="6496050" y="1621155"/>
            <a:ext cx="2572385" cy="627380"/>
          </a:xfrm>
          <a:prstGeom prst="rect">
            <a:avLst/>
          </a:prstGeom>
        </p:spPr>
      </p:pic>
      <p:sp>
        <p:nvSpPr>
          <p:cNvPr id="13" name="Text 9"/>
          <p:cNvSpPr/>
          <p:nvPr>
            <p:custDataLst>
              <p:tags r:id="rId11"/>
            </p:custDataLst>
          </p:nvPr>
        </p:nvSpPr>
        <p:spPr>
          <a:xfrm>
            <a:off x="6591135" y="1811734"/>
            <a:ext cx="2878264"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CORE OUTPUT 02</a:t>
            </a:r>
            <a:endParaRPr lang="en-US" sz="2100" dirty="0"/>
          </a:p>
        </p:txBody>
      </p:sp>
      <p:sp>
        <p:nvSpPr>
          <p:cNvPr id="14" name="Text 10"/>
          <p:cNvSpPr/>
          <p:nvPr>
            <p:custDataLst>
              <p:tags r:id="rId12"/>
            </p:custDataLst>
          </p:nvPr>
        </p:nvSpPr>
        <p:spPr>
          <a:xfrm>
            <a:off x="6527637" y="2322909"/>
            <a:ext cx="4775081" cy="335260"/>
          </a:xfrm>
          <a:prstGeom prst="rect">
            <a:avLst/>
          </a:prstGeom>
          <a:noFill/>
        </p:spPr>
        <p:txBody>
          <a:bodyPr wrap="none" lIns="0" tIns="0" rIns="0" bIns="0" rtlCol="0" anchor="t"/>
          <a:lstStyle/>
          <a:p>
            <a:pPr marL="0" indent="0" algn="l">
              <a:lnSpc>
                <a:spcPct val="100000"/>
              </a:lnSpc>
              <a:buNone/>
            </a:pPr>
            <a:r>
              <a:rPr lang="en-US" sz="2200" kern="100" spc="-11" dirty="0">
                <a:solidFill>
                  <a:srgbClr val="2B3541"/>
                </a:solidFill>
                <a:latin typeface="Funnel Sans SemiBold" pitchFamily="34" charset="0"/>
                <a:ea typeface="Funnel Sans SemiBold" pitchFamily="34" charset="-122"/>
                <a:cs typeface="Funnel Sans SemiBold" pitchFamily="34" charset="-120"/>
              </a:rPr>
              <a:t>A checkable six-step report</a:t>
            </a:r>
            <a:endParaRPr lang="en-US" sz="2200" dirty="0"/>
          </a:p>
        </p:txBody>
      </p:sp>
      <p:sp>
        <p:nvSpPr>
          <p:cNvPr id="15" name="Text 11"/>
          <p:cNvSpPr/>
          <p:nvPr>
            <p:custDataLst>
              <p:tags r:id="rId13"/>
            </p:custDataLst>
          </p:nvPr>
        </p:nvSpPr>
        <p:spPr>
          <a:xfrm>
            <a:off x="6527637" y="2807395"/>
            <a:ext cx="4775081" cy="586581"/>
          </a:xfrm>
          <a:prstGeom prst="rect">
            <a:avLst/>
          </a:prstGeom>
          <a:noFill/>
        </p:spPr>
        <p:txBody>
          <a:bodyPr wrap="square" lIns="0" tIns="0" rIns="0" bIns="0" rtlCol="0" anchor="t">
            <a:normAutofit/>
          </a:bodyPr>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Summarize coverage, order, duration and repeated or missed steps.</a:t>
            </a:r>
            <a:endParaRPr lang="en-US" sz="1650" dirty="0"/>
          </a:p>
        </p:txBody>
      </p:sp>
      <p:sp>
        <p:nvSpPr>
          <p:cNvPr id="16" name="Text 12"/>
          <p:cNvSpPr/>
          <p:nvPr/>
        </p:nvSpPr>
        <p:spPr>
          <a:xfrm>
            <a:off x="609585" y="3978176"/>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THE RESEARCH QUESTION</a:t>
            </a:r>
            <a:endParaRPr lang="en-US" sz="1200" dirty="0"/>
          </a:p>
        </p:txBody>
      </p:sp>
      <p:sp>
        <p:nvSpPr>
          <p:cNvPr id="17" name="Text 13"/>
          <p:cNvSpPr/>
          <p:nvPr/>
        </p:nvSpPr>
        <p:spPr>
          <a:xfrm>
            <a:off x="609585" y="4254401"/>
            <a:ext cx="10972526" cy="563761"/>
          </a:xfrm>
          <a:prstGeom prst="rect">
            <a:avLst/>
          </a:prstGeom>
          <a:noFill/>
        </p:spPr>
        <p:txBody>
          <a:bodyPr wrap="square" lIns="0" tIns="0" rIns="0" bIns="0" rtlCol="0" anchor="t">
            <a:normAutofit/>
          </a:bodyPr>
          <a:lstStyle/>
          <a:p>
            <a:pPr marL="0" indent="0" algn="l">
              <a:lnSpc>
                <a:spcPct val="100000"/>
              </a:lnSpc>
              <a:buNone/>
            </a:pPr>
            <a:r>
              <a:rPr lang="en-US" sz="1850" kern="100" spc="-9" dirty="0">
                <a:solidFill>
                  <a:srgbClr val="051D3A"/>
                </a:solidFill>
                <a:latin typeface="Funnel Sans SemiBold" pitchFamily="34" charset="0"/>
                <a:ea typeface="Funnel Sans SemiBold" pitchFamily="34" charset="-122"/>
                <a:cs typeface="Funnel Sans SemiBold" pitchFamily="34" charset="-120"/>
              </a:rPr>
              <a:t>Can a per-frame classifier stay reliable on a live camera feed, and can its label stream become a completeness report a user can check?</a:t>
            </a:r>
            <a:endParaRPr lang="en-US" sz="1850" dirty="0"/>
          </a:p>
        </p:txBody>
      </p:sp>
      <p:sp>
        <p:nvSpPr>
          <p:cNvPr id="18" name="Text 14"/>
          <p:cNvSpPr/>
          <p:nvPr/>
        </p:nvSpPr>
        <p:spPr>
          <a:xfrm>
            <a:off x="609585" y="4967387"/>
            <a:ext cx="11582110" cy="337741"/>
          </a:xfrm>
          <a:prstGeom prst="rect">
            <a:avLst/>
          </a:prstGeom>
          <a:noFill/>
        </p:spPr>
        <p:txBody>
          <a:bodyPr wrap="none" lIns="0" tIns="0" rIns="0" bIns="0" rtlCol="0" anchor="t"/>
          <a:lstStyle/>
          <a:p>
            <a:pPr marL="0" indent="0" algn="l">
              <a:lnSpc>
                <a:spcPct val="117000"/>
              </a:lnSpc>
              <a:buNone/>
            </a:pPr>
            <a:r>
              <a:rPr lang="en-US" sz="1900" dirty="0">
                <a:solidFill>
                  <a:srgbClr val="B8367F"/>
                </a:solidFill>
                <a:latin typeface="Funnel Sans" pitchFamily="34" charset="0"/>
                <a:ea typeface="Funnel Sans" pitchFamily="34" charset="-122"/>
                <a:cs typeface="Funnel Sans" pitchFamily="34" charset="-120"/>
              </a:rPr>
              <a:t>Recognition target: Macro-F1 ≥ 0.80 on held-out PSKUS videos</a:t>
            </a:r>
            <a:endParaRPr lang="en-US" sz="1900" dirty="0"/>
          </a:p>
        </p:txBody>
      </p:sp>
      <p:sp>
        <p:nvSpPr>
          <p:cNvPr id="19" name="Text 15"/>
          <p:cNvSpPr/>
          <p:nvPr/>
        </p:nvSpPr>
        <p:spPr>
          <a:xfrm>
            <a:off x="609585" y="5492452"/>
            <a:ext cx="10972526"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Eight-class space, with the six rubbing steps reported separately. This is a goal, not a result.</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Also measure end-to-end latency per frame on the deployment machine.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2966566" cy="6858000"/>
          </a:xfrm>
          <a:prstGeom prst="rect">
            <a:avLst/>
          </a:prstGeom>
        </p:spPr>
      </p:pic>
      <p:sp>
        <p:nvSpPr>
          <p:cNvPr id="3" name="Text 0"/>
          <p:cNvSpPr/>
          <p:nvPr/>
        </p:nvSpPr>
        <p:spPr>
          <a:xfrm>
            <a:off x="3449154" y="431800"/>
            <a:ext cx="8742541"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BENCHMARK DATASETS</a:t>
            </a:r>
            <a:endParaRPr lang="en-US" sz="1200" dirty="0"/>
          </a:p>
        </p:txBody>
      </p:sp>
      <p:sp>
        <p:nvSpPr>
          <p:cNvPr id="4" name="Text 1"/>
          <p:cNvSpPr/>
          <p:nvPr/>
        </p:nvSpPr>
        <p:spPr>
          <a:xfrm>
            <a:off x="3449154" y="708025"/>
            <a:ext cx="8336151"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Data required and available</a:t>
            </a:r>
            <a:endParaRPr lang="en-US" sz="3600" dirty="0"/>
          </a:p>
        </p:txBody>
      </p:sp>
      <p:sp>
        <p:nvSpPr>
          <p:cNvPr id="5" name="Shape 2"/>
          <p:cNvSpPr/>
          <p:nvPr/>
        </p:nvSpPr>
        <p:spPr>
          <a:xfrm>
            <a:off x="3449154" y="1665982"/>
            <a:ext cx="2575456" cy="3377704"/>
          </a:xfrm>
          <a:prstGeom prst="roundRect">
            <a:avLst>
              <a:gd name="adj" fmla="val 3417"/>
            </a:avLst>
          </a:prstGeom>
          <a:solidFill>
            <a:srgbClr val="FFFCF6"/>
          </a:solidFill>
          <a:effectLst>
            <a:outerShdw blurRad="379730" dist="151130" dir="5400000" algn="bl" rotWithShape="0">
              <a:srgbClr val="6A4FC8">
                <a:alpha val="40000"/>
              </a:srgbClr>
            </a:outerShdw>
          </a:effectLst>
        </p:spPr>
      </p:sp>
      <p:sp>
        <p:nvSpPr>
          <p:cNvPr id="6" name="Text 3"/>
          <p:cNvSpPr/>
          <p:nvPr/>
        </p:nvSpPr>
        <p:spPr>
          <a:xfrm>
            <a:off x="3652349" y="1894582"/>
            <a:ext cx="2169066" cy="609798"/>
          </a:xfrm>
          <a:prstGeom prst="rect">
            <a:avLst/>
          </a:prstGeom>
          <a:noFill/>
        </p:spPr>
        <p:txBody>
          <a:bodyPr wrap="none" lIns="0" tIns="0" rIns="0" bIns="0" rtlCol="0" anchor="t"/>
          <a:lstStyle/>
          <a:p>
            <a:pPr marL="0" indent="0" algn="l">
              <a:lnSpc>
                <a:spcPct val="82000"/>
              </a:lnSpc>
              <a:buNone/>
            </a:pPr>
            <a:r>
              <a:rPr lang="en-US" sz="4900" kern="100" spc="-122" dirty="0">
                <a:solidFill>
                  <a:srgbClr val="051D3A"/>
                </a:solidFill>
                <a:latin typeface="Funnel Display Medium" pitchFamily="34" charset="0"/>
                <a:ea typeface="Funnel Display Medium" pitchFamily="34" charset="-122"/>
                <a:cs typeface="Funnel Display Medium" pitchFamily="34" charset="-120"/>
              </a:rPr>
              <a:t>3,185</a:t>
            </a:r>
            <a:endParaRPr lang="en-US" sz="4900" dirty="0"/>
          </a:p>
        </p:txBody>
      </p:sp>
      <p:sp>
        <p:nvSpPr>
          <p:cNvPr id="7" name="Text 4"/>
          <p:cNvSpPr/>
          <p:nvPr/>
        </p:nvSpPr>
        <p:spPr>
          <a:xfrm>
            <a:off x="3652349" y="2625030"/>
            <a:ext cx="216906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PSKUS videos</a:t>
            </a:r>
            <a:endParaRPr lang="en-US" sz="1850" dirty="0"/>
          </a:p>
        </p:txBody>
      </p:sp>
      <p:sp>
        <p:nvSpPr>
          <p:cNvPr id="8" name="Text 5"/>
          <p:cNvSpPr/>
          <p:nvPr/>
        </p:nvSpPr>
        <p:spPr>
          <a:xfrm>
            <a:off x="3652349" y="3056136"/>
            <a:ext cx="2169066"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Hospital video and frame labels for training and held-out testing.</a:t>
            </a:r>
            <a:endParaRPr lang="en-US" sz="1400" dirty="0"/>
          </a:p>
        </p:txBody>
      </p:sp>
      <p:sp>
        <p:nvSpPr>
          <p:cNvPr id="9" name="Text 6"/>
          <p:cNvSpPr/>
          <p:nvPr/>
        </p:nvSpPr>
        <p:spPr>
          <a:xfrm>
            <a:off x="3652349" y="3923308"/>
            <a:ext cx="2169066" cy="642938"/>
          </a:xfrm>
          <a:prstGeom prst="rect">
            <a:avLst/>
          </a:prstGeom>
          <a:noFill/>
        </p:spPr>
        <p:txBody>
          <a:bodyPr wrap="square" lIns="0" tIns="0" rIns="0" bIns="0" rtlCol="0" anchor="t">
            <a:normAutofit/>
          </a:bodyPr>
          <a:lstStyle/>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Source total</a:t>
            </a:r>
            <a:endParaRPr lang="en-US" sz="1250" dirty="0"/>
          </a:p>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1 of 11 shards verified locally</a:t>
            </a:r>
            <a:endParaRPr lang="en-US" sz="1250" dirty="0"/>
          </a:p>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(DataSet4)</a:t>
            </a:r>
            <a:endParaRPr lang="en-US" sz="1250" dirty="0"/>
          </a:p>
        </p:txBody>
      </p:sp>
      <p:sp>
        <p:nvSpPr>
          <p:cNvPr id="10" name="Shape 7"/>
          <p:cNvSpPr/>
          <p:nvPr/>
        </p:nvSpPr>
        <p:spPr>
          <a:xfrm>
            <a:off x="6329403" y="1665982"/>
            <a:ext cx="2575555" cy="3377704"/>
          </a:xfrm>
          <a:prstGeom prst="roundRect">
            <a:avLst>
              <a:gd name="adj" fmla="val 3417"/>
            </a:avLst>
          </a:prstGeom>
          <a:solidFill>
            <a:srgbClr val="FFFCF6"/>
          </a:solidFill>
          <a:effectLst>
            <a:outerShdw blurRad="379730" dist="151130" dir="5400000" algn="bl" rotWithShape="0">
              <a:srgbClr val="6A4FC8">
                <a:alpha val="40000"/>
              </a:srgbClr>
            </a:outerShdw>
          </a:effectLst>
        </p:spPr>
      </p:sp>
      <p:sp>
        <p:nvSpPr>
          <p:cNvPr id="11" name="Text 8"/>
          <p:cNvSpPr/>
          <p:nvPr/>
        </p:nvSpPr>
        <p:spPr>
          <a:xfrm>
            <a:off x="6532598" y="1894582"/>
            <a:ext cx="2169165" cy="609798"/>
          </a:xfrm>
          <a:prstGeom prst="rect">
            <a:avLst/>
          </a:prstGeom>
          <a:noFill/>
        </p:spPr>
        <p:txBody>
          <a:bodyPr wrap="none" lIns="0" tIns="0" rIns="0" bIns="0" rtlCol="0" anchor="t"/>
          <a:lstStyle/>
          <a:p>
            <a:pPr marL="0" indent="0" algn="l">
              <a:lnSpc>
                <a:spcPct val="82000"/>
              </a:lnSpc>
              <a:buNone/>
            </a:pPr>
            <a:r>
              <a:rPr lang="en-US" sz="4900" kern="100" spc="-122" dirty="0">
                <a:solidFill>
                  <a:srgbClr val="051D3A"/>
                </a:solidFill>
                <a:latin typeface="Funnel Display Medium" pitchFamily="34" charset="0"/>
                <a:ea typeface="Funnel Display Medium" pitchFamily="34" charset="-122"/>
                <a:cs typeface="Funnel Display Medium" pitchFamily="34" charset="-120"/>
              </a:rPr>
              <a:t>212</a:t>
            </a:r>
            <a:endParaRPr lang="en-US" sz="4900" dirty="0"/>
          </a:p>
        </p:txBody>
      </p:sp>
      <p:sp>
        <p:nvSpPr>
          <p:cNvPr id="12" name="Text 9"/>
          <p:cNvSpPr/>
          <p:nvPr/>
        </p:nvSpPr>
        <p:spPr>
          <a:xfrm>
            <a:off x="6532598" y="2625030"/>
            <a:ext cx="2169165"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METC videos</a:t>
            </a:r>
            <a:endParaRPr lang="en-US" sz="1850" dirty="0"/>
          </a:p>
        </p:txBody>
      </p:sp>
      <p:sp>
        <p:nvSpPr>
          <p:cNvPr id="13" name="Text 10"/>
          <p:cNvSpPr/>
          <p:nvPr/>
        </p:nvSpPr>
        <p:spPr>
          <a:xfrm>
            <a:off x="6532598" y="3056136"/>
            <a:ext cx="2169165"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Independent laboratory setting for cross-domain testing.</a:t>
            </a:r>
            <a:endParaRPr lang="en-US" sz="1400" dirty="0"/>
          </a:p>
        </p:txBody>
      </p:sp>
      <p:sp>
        <p:nvSpPr>
          <p:cNvPr id="14" name="Text 11"/>
          <p:cNvSpPr/>
          <p:nvPr/>
        </p:nvSpPr>
        <p:spPr>
          <a:xfrm>
            <a:off x="6532598" y="3923308"/>
            <a:ext cx="2169165" cy="428625"/>
          </a:xfrm>
          <a:prstGeom prst="rect">
            <a:avLst/>
          </a:prstGeom>
          <a:noFill/>
        </p:spPr>
        <p:txBody>
          <a:bodyPr wrap="square" lIns="0" tIns="0" rIns="0" bIns="0" rtlCol="0" anchor="t">
            <a:normAutofit/>
          </a:bodyPr>
          <a:lstStyle/>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Source total</a:t>
            </a:r>
            <a:endParaRPr lang="en-US" sz="1250" dirty="0"/>
          </a:p>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Not downloaded yet</a:t>
            </a:r>
            <a:endParaRPr lang="en-US" sz="1250" dirty="0"/>
          </a:p>
        </p:txBody>
      </p:sp>
      <p:sp>
        <p:nvSpPr>
          <p:cNvPr id="15" name="Shape 12"/>
          <p:cNvSpPr/>
          <p:nvPr/>
        </p:nvSpPr>
        <p:spPr>
          <a:xfrm>
            <a:off x="9209750" y="1665982"/>
            <a:ext cx="2575555" cy="3377704"/>
          </a:xfrm>
          <a:prstGeom prst="roundRect">
            <a:avLst>
              <a:gd name="adj" fmla="val 3417"/>
            </a:avLst>
          </a:prstGeom>
          <a:solidFill>
            <a:srgbClr val="FFFCF6"/>
          </a:solidFill>
          <a:effectLst>
            <a:outerShdw blurRad="379730" dist="151130" dir="5400000" algn="bl" rotWithShape="0">
              <a:srgbClr val="6A4FC8">
                <a:alpha val="40000"/>
              </a:srgbClr>
            </a:outerShdw>
          </a:effectLst>
        </p:spPr>
      </p:sp>
      <p:sp>
        <p:nvSpPr>
          <p:cNvPr id="16" name="Text 13"/>
          <p:cNvSpPr/>
          <p:nvPr/>
        </p:nvSpPr>
        <p:spPr>
          <a:xfrm>
            <a:off x="9412945" y="1894582"/>
            <a:ext cx="2169165" cy="609798"/>
          </a:xfrm>
          <a:prstGeom prst="rect">
            <a:avLst/>
          </a:prstGeom>
          <a:noFill/>
        </p:spPr>
        <p:txBody>
          <a:bodyPr wrap="none" lIns="0" tIns="0" rIns="0" bIns="0" rtlCol="0" anchor="t"/>
          <a:lstStyle/>
          <a:p>
            <a:pPr marL="0" indent="0" algn="l">
              <a:lnSpc>
                <a:spcPct val="82000"/>
              </a:lnSpc>
              <a:buNone/>
            </a:pPr>
            <a:r>
              <a:rPr lang="en-US" sz="4900" kern="100" spc="-122" dirty="0">
                <a:solidFill>
                  <a:srgbClr val="051D3A"/>
                </a:solidFill>
                <a:latin typeface="Funnel Display Medium" pitchFamily="34" charset="0"/>
                <a:ea typeface="Funnel Display Medium" pitchFamily="34" charset="-122"/>
                <a:cs typeface="Funnel Display Medium" pitchFamily="34" charset="-120"/>
              </a:rPr>
              <a:t>4–6</a:t>
            </a:r>
            <a:endParaRPr lang="en-US" sz="4900" dirty="0"/>
          </a:p>
        </p:txBody>
      </p:sp>
      <p:sp>
        <p:nvSpPr>
          <p:cNvPr id="17" name="Text 14"/>
          <p:cNvSpPr/>
          <p:nvPr/>
        </p:nvSpPr>
        <p:spPr>
          <a:xfrm>
            <a:off x="9412945" y="2625030"/>
            <a:ext cx="2169165"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Clips per member</a:t>
            </a:r>
            <a:endParaRPr lang="en-US" sz="1850" dirty="0"/>
          </a:p>
        </p:txBody>
      </p:sp>
      <p:sp>
        <p:nvSpPr>
          <p:cNvPr id="18" name="Text 15"/>
          <p:cNvSpPr/>
          <p:nvPr/>
        </p:nvSpPr>
        <p:spPr>
          <a:xfrm>
            <a:off x="9412945" y="3056136"/>
            <a:ext cx="2169165" cy="995363"/>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Planned self-recorded clips: complete, missed, swapped and too-short steps.</a:t>
            </a:r>
            <a:endParaRPr lang="en-US" sz="1400" dirty="0"/>
          </a:p>
        </p:txBody>
      </p:sp>
      <p:sp>
        <p:nvSpPr>
          <p:cNvPr id="19" name="Text 16"/>
          <p:cNvSpPr/>
          <p:nvPr/>
        </p:nvSpPr>
        <p:spPr>
          <a:xfrm>
            <a:off x="9412945" y="4172148"/>
            <a:ext cx="2169165" cy="642938"/>
          </a:xfrm>
          <a:prstGeom prst="rect">
            <a:avLst/>
          </a:prstGeom>
          <a:noFill/>
        </p:spPr>
        <p:txBody>
          <a:bodyPr wrap="square" lIns="0" tIns="0" rIns="0" bIns="0" rtlCol="0" anchor="t">
            <a:normAutofit/>
          </a:bodyPr>
          <a:lstStyle/>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Required collection</a:t>
            </a:r>
            <a:endParaRPr lang="en-US" sz="1250" dirty="0"/>
          </a:p>
          <a:p>
            <a:pPr marL="0" indent="0" algn="l">
              <a:lnSpc>
                <a:spcPct val="112000"/>
              </a:lnSpc>
              <a:buNone/>
            </a:pPr>
            <a:r>
              <a:rPr lang="en-US" sz="1250" dirty="0">
                <a:solidFill>
                  <a:srgbClr val="2B3541"/>
                </a:solidFill>
                <a:latin typeface="Funnel Sans" pitchFamily="34" charset="0"/>
                <a:ea typeface="Funnel Sans" pitchFamily="34" charset="-122"/>
                <a:cs typeface="Funnel Sans" pitchFamily="34" charset="-120"/>
              </a:rPr>
              <a:t>Real camera and deployment conditions</a:t>
            </a:r>
            <a:endParaRPr lang="en-US" sz="1250" dirty="0"/>
          </a:p>
        </p:txBody>
      </p:sp>
      <p:sp>
        <p:nvSpPr>
          <p:cNvPr id="20" name="Text 17"/>
          <p:cNvSpPr/>
          <p:nvPr/>
        </p:nvSpPr>
        <p:spPr>
          <a:xfrm>
            <a:off x="3449154" y="5517059"/>
            <a:ext cx="8742541"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Before training: clean the data and spot-check labels by hand.</a:t>
            </a:r>
            <a:endParaRPr lang="en-US" sz="1650" dirty="0"/>
          </a:p>
        </p:txBody>
      </p:sp>
      <p:sp>
        <p:nvSpPr>
          <p:cNvPr id="21" name="Text 18"/>
          <p:cNvSpPr/>
          <p:nvPr/>
        </p:nvSpPr>
        <p:spPr>
          <a:xfrm>
            <a:off x="3449154" y="5997674"/>
            <a:ext cx="8336151" cy="428625"/>
          </a:xfrm>
          <a:prstGeom prst="rect">
            <a:avLst/>
          </a:prstGeom>
          <a:noFill/>
        </p:spPr>
        <p:txBody>
          <a:bodyPr wrap="square" lIns="0" tIns="0" rIns="0" bIns="0" rtlCol="0" anchor="t">
            <a:normAutofit/>
          </a:bodyPr>
          <a:lstStyle/>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Published sizes are source totals, not a claim that all files are downloaded or processed.</a:t>
            </a:r>
            <a:endParaRPr lang="en-US" sz="1250" dirty="0"/>
          </a:p>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Download status: team checklist dated 3 October 2026. Kaggle is also not downloaded.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508000"/>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DATA INTEGRITY</a:t>
            </a:r>
            <a:endParaRPr lang="en-US" sz="1200" dirty="0"/>
          </a:p>
        </p:txBody>
      </p:sp>
      <p:sp>
        <p:nvSpPr>
          <p:cNvPr id="3" name="Text 1"/>
          <p:cNvSpPr/>
          <p:nvPr/>
        </p:nvSpPr>
        <p:spPr>
          <a:xfrm>
            <a:off x="609585" y="784225"/>
            <a:ext cx="10972526"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Reliable training starts with reliable labels</a:t>
            </a:r>
            <a:endParaRPr lang="en-US" sz="3600" dirty="0"/>
          </a:p>
        </p:txBody>
      </p:sp>
      <p:sp>
        <p:nvSpPr>
          <p:cNvPr id="4" name="Shape 2"/>
          <p:cNvSpPr/>
          <p:nvPr/>
        </p:nvSpPr>
        <p:spPr>
          <a:xfrm>
            <a:off x="609585" y="1686123"/>
            <a:ext cx="3454314" cy="2095996"/>
          </a:xfrm>
          <a:prstGeom prst="roundRect">
            <a:avLst>
              <a:gd name="adj" fmla="val 4199"/>
            </a:avLst>
          </a:prstGeom>
          <a:solidFill>
            <a:srgbClr val="FFFCF6"/>
          </a:solidFill>
          <a:effectLst>
            <a:outerShdw blurRad="379730" dist="151130" dir="5400000" algn="bl" rotWithShape="0">
              <a:srgbClr val="6A4FC8">
                <a:alpha val="40000"/>
              </a:srgbClr>
            </a:outerShdw>
          </a:effectLst>
        </p:spPr>
      </p:sp>
      <p:sp>
        <p:nvSpPr>
          <p:cNvPr id="5" name="Shape 3"/>
          <p:cNvSpPr/>
          <p:nvPr/>
        </p:nvSpPr>
        <p:spPr>
          <a:xfrm>
            <a:off x="863578" y="1965523"/>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6" name="Image 0" descr="preencoded.png"/>
          <p:cNvPicPr>
            <a:picLocks noChangeAspect="1"/>
          </p:cNvPicPr>
          <p:nvPr/>
        </p:nvPicPr>
        <p:blipFill>
          <a:blip r:embed="rId1"/>
          <a:stretch>
            <a:fillRect/>
          </a:stretch>
        </p:blipFill>
        <p:spPr>
          <a:xfrm>
            <a:off x="863578" y="1965523"/>
            <a:ext cx="584185" cy="584200"/>
          </a:xfrm>
          <a:prstGeom prst="rect">
            <a:avLst/>
          </a:prstGeom>
        </p:spPr>
      </p:pic>
      <p:sp>
        <p:nvSpPr>
          <p:cNvPr id="7" name="Text 4"/>
          <p:cNvSpPr/>
          <p:nvPr/>
        </p:nvSpPr>
        <p:spPr>
          <a:xfrm>
            <a:off x="1002283" y="2124273"/>
            <a:ext cx="916361"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01</a:t>
            </a:r>
            <a:endParaRPr lang="en-US" sz="2100" dirty="0"/>
          </a:p>
        </p:txBody>
      </p:sp>
      <p:sp>
        <p:nvSpPr>
          <p:cNvPr id="8" name="Shape 5"/>
          <p:cNvSpPr/>
          <p:nvPr/>
        </p:nvSpPr>
        <p:spPr>
          <a:xfrm>
            <a:off x="863578" y="2633563"/>
            <a:ext cx="2946227" cy="19050"/>
          </a:xfrm>
          <a:prstGeom prst="rect">
            <a:avLst/>
          </a:prstGeom>
          <a:solidFill>
            <a:srgbClr val="B8367F"/>
          </a:solidFill>
        </p:spPr>
      </p:sp>
      <p:sp>
        <p:nvSpPr>
          <p:cNvPr id="9" name="Text 6"/>
          <p:cNvSpPr/>
          <p:nvPr/>
        </p:nvSpPr>
        <p:spPr>
          <a:xfrm>
            <a:off x="863578" y="2778323"/>
            <a:ext cx="294632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Separate the videos</a:t>
            </a:r>
            <a:endParaRPr lang="en-US" sz="1850" dirty="0"/>
          </a:p>
        </p:txBody>
      </p:sp>
      <p:sp>
        <p:nvSpPr>
          <p:cNvPr id="10" name="Text 7"/>
          <p:cNvSpPr/>
          <p:nvPr/>
        </p:nvSpPr>
        <p:spPr>
          <a:xfrm>
            <a:off x="863578" y="3209429"/>
            <a:ext cx="3200320"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Training and testing</a:t>
            </a:r>
            <a:endParaRPr lang="en-US" sz="1650" dirty="0"/>
          </a:p>
        </p:txBody>
      </p:sp>
      <p:sp>
        <p:nvSpPr>
          <p:cNvPr id="11" name="Shape 8"/>
          <p:cNvSpPr/>
          <p:nvPr/>
        </p:nvSpPr>
        <p:spPr>
          <a:xfrm>
            <a:off x="4368691" y="1686123"/>
            <a:ext cx="3454314" cy="2095996"/>
          </a:xfrm>
          <a:prstGeom prst="roundRect">
            <a:avLst>
              <a:gd name="adj" fmla="val 4199"/>
            </a:avLst>
          </a:prstGeom>
          <a:solidFill>
            <a:srgbClr val="FFFCF6"/>
          </a:solidFill>
          <a:effectLst>
            <a:outerShdw blurRad="379730" dist="151130" dir="5400000" algn="bl" rotWithShape="0">
              <a:srgbClr val="6A4FC8">
                <a:alpha val="40000"/>
              </a:srgbClr>
            </a:outerShdw>
          </a:effectLst>
        </p:spPr>
      </p:sp>
      <p:sp>
        <p:nvSpPr>
          <p:cNvPr id="12" name="Shape 9"/>
          <p:cNvSpPr/>
          <p:nvPr/>
        </p:nvSpPr>
        <p:spPr>
          <a:xfrm>
            <a:off x="4622684" y="1965523"/>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13" name="Image 1" descr="preencoded.png"/>
          <p:cNvPicPr>
            <a:picLocks noChangeAspect="1"/>
          </p:cNvPicPr>
          <p:nvPr/>
        </p:nvPicPr>
        <p:blipFill>
          <a:blip r:embed="rId1"/>
          <a:stretch>
            <a:fillRect/>
          </a:stretch>
        </p:blipFill>
        <p:spPr>
          <a:xfrm>
            <a:off x="4622684" y="1965523"/>
            <a:ext cx="584185" cy="584200"/>
          </a:xfrm>
          <a:prstGeom prst="rect">
            <a:avLst/>
          </a:prstGeom>
        </p:spPr>
      </p:pic>
      <p:sp>
        <p:nvSpPr>
          <p:cNvPr id="14" name="Text 10"/>
          <p:cNvSpPr/>
          <p:nvPr/>
        </p:nvSpPr>
        <p:spPr>
          <a:xfrm>
            <a:off x="4761389" y="2124273"/>
            <a:ext cx="916361"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02</a:t>
            </a:r>
            <a:endParaRPr lang="en-US" sz="2100" dirty="0"/>
          </a:p>
        </p:txBody>
      </p:sp>
      <p:sp>
        <p:nvSpPr>
          <p:cNvPr id="15" name="Shape 11"/>
          <p:cNvSpPr/>
          <p:nvPr/>
        </p:nvSpPr>
        <p:spPr>
          <a:xfrm>
            <a:off x="4622684" y="2633563"/>
            <a:ext cx="2946227" cy="19050"/>
          </a:xfrm>
          <a:prstGeom prst="rect">
            <a:avLst/>
          </a:prstGeom>
          <a:solidFill>
            <a:srgbClr val="B8367F"/>
          </a:solidFill>
        </p:spPr>
      </p:sp>
      <p:sp>
        <p:nvSpPr>
          <p:cNvPr id="16" name="Text 12"/>
          <p:cNvSpPr/>
          <p:nvPr/>
        </p:nvSpPr>
        <p:spPr>
          <a:xfrm>
            <a:off x="4622684" y="2778323"/>
            <a:ext cx="294632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Match frames to labels</a:t>
            </a:r>
            <a:endParaRPr lang="en-US" sz="1850" dirty="0"/>
          </a:p>
        </p:txBody>
      </p:sp>
      <p:sp>
        <p:nvSpPr>
          <p:cNvPr id="17" name="Text 13"/>
          <p:cNvSpPr/>
          <p:nvPr/>
        </p:nvSpPr>
        <p:spPr>
          <a:xfrm>
            <a:off x="4622684" y="3209429"/>
            <a:ext cx="3200320"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Keep the real timestamps</a:t>
            </a:r>
            <a:endParaRPr lang="en-US" sz="1650" dirty="0"/>
          </a:p>
        </p:txBody>
      </p:sp>
      <p:sp>
        <p:nvSpPr>
          <p:cNvPr id="18" name="Shape 14"/>
          <p:cNvSpPr/>
          <p:nvPr/>
        </p:nvSpPr>
        <p:spPr>
          <a:xfrm>
            <a:off x="8127797" y="1686123"/>
            <a:ext cx="3454314" cy="2095996"/>
          </a:xfrm>
          <a:prstGeom prst="roundRect">
            <a:avLst>
              <a:gd name="adj" fmla="val 4199"/>
            </a:avLst>
          </a:prstGeom>
          <a:solidFill>
            <a:srgbClr val="FFFCF6"/>
          </a:solidFill>
          <a:effectLst>
            <a:outerShdw blurRad="379730" dist="151130" dir="5400000" algn="bl" rotWithShape="0">
              <a:srgbClr val="6A4FC8">
                <a:alpha val="40000"/>
              </a:srgbClr>
            </a:outerShdw>
          </a:effectLst>
        </p:spPr>
      </p:sp>
      <p:sp>
        <p:nvSpPr>
          <p:cNvPr id="19" name="Shape 15"/>
          <p:cNvSpPr/>
          <p:nvPr/>
        </p:nvSpPr>
        <p:spPr>
          <a:xfrm>
            <a:off x="8381790" y="1965523"/>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20" name="Image 2" descr="preencoded.png"/>
          <p:cNvPicPr>
            <a:picLocks noChangeAspect="1"/>
          </p:cNvPicPr>
          <p:nvPr/>
        </p:nvPicPr>
        <p:blipFill>
          <a:blip r:embed="rId1"/>
          <a:stretch>
            <a:fillRect/>
          </a:stretch>
        </p:blipFill>
        <p:spPr>
          <a:xfrm>
            <a:off x="8381790" y="1965523"/>
            <a:ext cx="584185" cy="584200"/>
          </a:xfrm>
          <a:prstGeom prst="rect">
            <a:avLst/>
          </a:prstGeom>
        </p:spPr>
      </p:pic>
      <p:sp>
        <p:nvSpPr>
          <p:cNvPr id="21" name="Text 16"/>
          <p:cNvSpPr/>
          <p:nvPr/>
        </p:nvSpPr>
        <p:spPr>
          <a:xfrm>
            <a:off x="8520495" y="2124273"/>
            <a:ext cx="916361"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03</a:t>
            </a:r>
            <a:endParaRPr lang="en-US" sz="2100" dirty="0"/>
          </a:p>
        </p:txBody>
      </p:sp>
      <p:sp>
        <p:nvSpPr>
          <p:cNvPr id="22" name="Shape 17"/>
          <p:cNvSpPr/>
          <p:nvPr/>
        </p:nvSpPr>
        <p:spPr>
          <a:xfrm>
            <a:off x="8381790" y="2633563"/>
            <a:ext cx="2946227" cy="19050"/>
          </a:xfrm>
          <a:prstGeom prst="rect">
            <a:avLst/>
          </a:prstGeom>
          <a:solidFill>
            <a:srgbClr val="B8367F"/>
          </a:solidFill>
        </p:spPr>
      </p:sp>
      <p:sp>
        <p:nvSpPr>
          <p:cNvPr id="23" name="Text 18"/>
          <p:cNvSpPr/>
          <p:nvPr/>
        </p:nvSpPr>
        <p:spPr>
          <a:xfrm>
            <a:off x="8381790" y="2778323"/>
            <a:ext cx="294632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Build short sequences</a:t>
            </a:r>
            <a:endParaRPr lang="en-US" sz="1850" dirty="0"/>
          </a:p>
        </p:txBody>
      </p:sp>
      <p:sp>
        <p:nvSpPr>
          <p:cNvPr id="24" name="Text 19"/>
          <p:cNvSpPr/>
          <p:nvPr/>
        </p:nvSpPr>
        <p:spPr>
          <a:xfrm>
            <a:off x="8381790" y="3209429"/>
            <a:ext cx="3200320"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Preserve action changes</a:t>
            </a:r>
            <a:endParaRPr lang="en-US" sz="1650" dirty="0"/>
          </a:p>
        </p:txBody>
      </p:sp>
      <p:sp>
        <p:nvSpPr>
          <p:cNvPr id="25" name="Shape 20"/>
          <p:cNvSpPr/>
          <p:nvPr/>
        </p:nvSpPr>
        <p:spPr>
          <a:xfrm>
            <a:off x="609585" y="4086920"/>
            <a:ext cx="10972526" cy="1845766"/>
          </a:xfrm>
          <a:prstGeom prst="roundRect">
            <a:avLst>
              <a:gd name="adj" fmla="val 4768"/>
            </a:avLst>
          </a:prstGeom>
          <a:solidFill>
            <a:srgbClr val="FFFCF6"/>
          </a:solidFill>
          <a:effectLst>
            <a:outerShdw blurRad="379730" dist="151130" dir="5400000" algn="bl" rotWithShape="0">
              <a:srgbClr val="6A4FC8">
                <a:alpha val="40000"/>
              </a:srgbClr>
            </a:outerShdw>
          </a:effectLst>
        </p:spPr>
      </p:sp>
      <p:sp>
        <p:nvSpPr>
          <p:cNvPr id="26" name="Text 21"/>
          <p:cNvSpPr/>
          <p:nvPr/>
        </p:nvSpPr>
        <p:spPr>
          <a:xfrm>
            <a:off x="965176" y="4391720"/>
            <a:ext cx="10261343" cy="335260"/>
          </a:xfrm>
          <a:prstGeom prst="rect">
            <a:avLst/>
          </a:prstGeom>
          <a:noFill/>
        </p:spPr>
        <p:txBody>
          <a:bodyPr wrap="none" lIns="0" tIns="0" rIns="0" bIns="0" rtlCol="0" anchor="t"/>
          <a:lstStyle/>
          <a:p>
            <a:pPr marL="0" indent="0" algn="l">
              <a:lnSpc>
                <a:spcPct val="100000"/>
              </a:lnSpc>
              <a:buNone/>
            </a:pPr>
            <a:r>
              <a:rPr lang="en-US" sz="2200" kern="100" spc="-11" dirty="0">
                <a:solidFill>
                  <a:srgbClr val="2B3541"/>
                </a:solidFill>
                <a:latin typeface="Funnel Sans SemiBold" pitchFamily="34" charset="0"/>
                <a:ea typeface="Funnel Sans SemiBold" pitchFamily="34" charset="-122"/>
                <a:cs typeface="Funnel Sans SemiBold" pitchFamily="34" charset="-120"/>
              </a:rPr>
              <a:t>Every sampled frame needs its own action label.</a:t>
            </a:r>
            <a:endParaRPr lang="en-US" sz="2200" dirty="0"/>
          </a:p>
        </p:txBody>
      </p:sp>
      <p:sp>
        <p:nvSpPr>
          <p:cNvPr id="27" name="Text 22"/>
          <p:cNvSpPr/>
          <p:nvPr/>
        </p:nvSpPr>
        <p:spPr>
          <a:xfrm>
            <a:off x="965176" y="4876205"/>
            <a:ext cx="10616934" cy="337741"/>
          </a:xfrm>
          <a:prstGeom prst="rect">
            <a:avLst/>
          </a:prstGeom>
          <a:noFill/>
        </p:spPr>
        <p:txBody>
          <a:bodyPr wrap="none" lIns="0" tIns="0" rIns="0" bIns="0" rtlCol="0" anchor="t"/>
          <a:lstStyle/>
          <a:p>
            <a:pPr marL="0" indent="0" algn="l">
              <a:lnSpc>
                <a:spcPct val="117000"/>
              </a:lnSpc>
              <a:buNone/>
            </a:pPr>
            <a:r>
              <a:rPr lang="en-US" sz="1900" dirty="0">
                <a:solidFill>
                  <a:srgbClr val="2B3541"/>
                </a:solidFill>
                <a:latin typeface="Funnel Sans" pitchFamily="34" charset="0"/>
                <a:ea typeface="Funnel Sans" pitchFamily="34" charset="-122"/>
                <a:cs typeface="Funnel Sans" pitchFamily="34" charset="-120"/>
              </a:rPr>
              <a:t>The same source video must never appear in both training and testing.</a:t>
            </a:r>
            <a:endParaRPr lang="en-US" sz="1900" dirty="0"/>
          </a:p>
        </p:txBody>
      </p:sp>
      <p:sp>
        <p:nvSpPr>
          <p:cNvPr id="28" name="Text 23"/>
          <p:cNvSpPr/>
          <p:nvPr/>
        </p:nvSpPr>
        <p:spPr>
          <a:xfrm>
            <a:off x="965176" y="5334595"/>
            <a:ext cx="10616934"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We will inspect action changes by hand and evaluate complete videos, including the last action.</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406400"/>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SYSTEM ARCHITECTURE</a:t>
            </a:r>
            <a:endParaRPr lang="en-US" sz="1200" dirty="0"/>
          </a:p>
        </p:txBody>
      </p:sp>
      <p:sp>
        <p:nvSpPr>
          <p:cNvPr id="3" name="Text 1"/>
          <p:cNvSpPr/>
          <p:nvPr/>
        </p:nvSpPr>
        <p:spPr>
          <a:xfrm>
            <a:off x="609585" y="682625"/>
            <a:ext cx="10972526"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Cloud training, local camera inference</a:t>
            </a:r>
            <a:endParaRPr lang="en-US" sz="3600" dirty="0"/>
          </a:p>
        </p:txBody>
      </p:sp>
      <p:sp>
        <p:nvSpPr>
          <p:cNvPr id="4" name="Text 2"/>
          <p:cNvSpPr/>
          <p:nvPr/>
        </p:nvSpPr>
        <p:spPr>
          <a:xfrm>
            <a:off x="609585" y="1373584"/>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STAGE 1 · RECOGNISE THE ACTION</a:t>
            </a:r>
            <a:endParaRPr lang="en-US" sz="1200" dirty="0"/>
          </a:p>
        </p:txBody>
      </p:sp>
      <p:sp>
        <p:nvSpPr>
          <p:cNvPr id="5" name="Shape 3"/>
          <p:cNvSpPr/>
          <p:nvPr/>
        </p:nvSpPr>
        <p:spPr>
          <a:xfrm>
            <a:off x="609585" y="1751409"/>
            <a:ext cx="3657509" cy="1335187"/>
          </a:xfrm>
          <a:prstGeom prst="rect">
            <a:avLst/>
          </a:prstGeom>
          <a:solidFill>
            <a:srgbClr val="E4DBF8"/>
          </a:solidFill>
        </p:spPr>
      </p:sp>
      <p:sp>
        <p:nvSpPr>
          <p:cNvPr id="6" name="Text 4"/>
          <p:cNvSpPr/>
          <p:nvPr/>
        </p:nvSpPr>
        <p:spPr>
          <a:xfrm>
            <a:off x="863578" y="1954609"/>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Sample frames</a:t>
            </a:r>
            <a:endParaRPr lang="en-US" sz="1850" dirty="0"/>
          </a:p>
        </p:txBody>
      </p:sp>
      <p:sp>
        <p:nvSpPr>
          <p:cNvPr id="7" name="Text 5"/>
          <p:cNvSpPr/>
          <p:nvPr/>
        </p:nvSpPr>
        <p:spPr>
          <a:xfrm>
            <a:off x="863578" y="2385715"/>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5 fps, 224 × 224</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Keep real timestamps</a:t>
            </a:r>
            <a:endParaRPr lang="en-US" sz="1400" dirty="0"/>
          </a:p>
        </p:txBody>
      </p:sp>
      <p:sp>
        <p:nvSpPr>
          <p:cNvPr id="8" name="Shape 6"/>
          <p:cNvSpPr/>
          <p:nvPr/>
        </p:nvSpPr>
        <p:spPr>
          <a:xfrm>
            <a:off x="4267093" y="1751409"/>
            <a:ext cx="3657509" cy="1335187"/>
          </a:xfrm>
          <a:prstGeom prst="rect">
            <a:avLst/>
          </a:prstGeom>
          <a:solidFill>
            <a:srgbClr val="E4DBF8"/>
          </a:solidFill>
        </p:spPr>
      </p:sp>
      <p:sp>
        <p:nvSpPr>
          <p:cNvPr id="9" name="Text 7"/>
          <p:cNvSpPr/>
          <p:nvPr/>
        </p:nvSpPr>
        <p:spPr>
          <a:xfrm>
            <a:off x="4521087" y="1954609"/>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YOLO26n-cls</a:t>
            </a:r>
            <a:endParaRPr lang="en-US" sz="1850" dirty="0"/>
          </a:p>
        </p:txBody>
      </p:sp>
      <p:sp>
        <p:nvSpPr>
          <p:cNvPr id="10" name="Text 8"/>
          <p:cNvSpPr/>
          <p:nvPr/>
        </p:nvSpPr>
        <p:spPr>
          <a:xfrm>
            <a:off x="4521087" y="2385715"/>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Per-frame classification</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Transfer learning</a:t>
            </a:r>
            <a:endParaRPr lang="en-US" sz="1400" dirty="0"/>
          </a:p>
        </p:txBody>
      </p:sp>
      <p:sp>
        <p:nvSpPr>
          <p:cNvPr id="11" name="Shape 9"/>
          <p:cNvSpPr/>
          <p:nvPr/>
        </p:nvSpPr>
        <p:spPr>
          <a:xfrm>
            <a:off x="7924602" y="1751409"/>
            <a:ext cx="3657509" cy="1335187"/>
          </a:xfrm>
          <a:prstGeom prst="rect">
            <a:avLst/>
          </a:prstGeom>
          <a:solidFill>
            <a:srgbClr val="E4DBF8"/>
          </a:solidFill>
        </p:spPr>
      </p:sp>
      <p:sp>
        <p:nvSpPr>
          <p:cNvPr id="12" name="Text 10"/>
          <p:cNvSpPr/>
          <p:nvPr/>
        </p:nvSpPr>
        <p:spPr>
          <a:xfrm>
            <a:off x="8178595" y="1954609"/>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Train in the cloud</a:t>
            </a:r>
            <a:endParaRPr lang="en-US" sz="1850" dirty="0"/>
          </a:p>
        </p:txBody>
      </p:sp>
      <p:sp>
        <p:nvSpPr>
          <p:cNvPr id="13" name="Text 11"/>
          <p:cNvSpPr/>
          <p:nvPr/>
        </p:nvSpPr>
        <p:spPr>
          <a:xfrm>
            <a:off x="8178595" y="2385715"/>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Cleaned PSKUS</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Video-disjoint splits</a:t>
            </a:r>
            <a:endParaRPr lang="en-US" sz="1400" dirty="0"/>
          </a:p>
        </p:txBody>
      </p:sp>
      <p:sp>
        <p:nvSpPr>
          <p:cNvPr id="14" name="Text 12"/>
          <p:cNvSpPr/>
          <p:nvPr/>
        </p:nvSpPr>
        <p:spPr>
          <a:xfrm>
            <a:off x="609585" y="3273921"/>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STAGE 2 · SHOW IT LIVE</a:t>
            </a:r>
            <a:endParaRPr lang="en-US" sz="1200" dirty="0"/>
          </a:p>
        </p:txBody>
      </p:sp>
      <p:sp>
        <p:nvSpPr>
          <p:cNvPr id="15" name="Shape 13"/>
          <p:cNvSpPr/>
          <p:nvPr/>
        </p:nvSpPr>
        <p:spPr>
          <a:xfrm>
            <a:off x="609585" y="3651746"/>
            <a:ext cx="3657509" cy="1335187"/>
          </a:xfrm>
          <a:prstGeom prst="rect">
            <a:avLst/>
          </a:prstGeom>
          <a:solidFill>
            <a:srgbClr val="D3F0ED"/>
          </a:solidFill>
        </p:spPr>
      </p:sp>
      <p:sp>
        <p:nvSpPr>
          <p:cNvPr id="16" name="Text 14"/>
          <p:cNvSpPr/>
          <p:nvPr/>
        </p:nvSpPr>
        <p:spPr>
          <a:xfrm>
            <a:off x="863578" y="3854946"/>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Export weights</a:t>
            </a:r>
            <a:endParaRPr lang="en-US" sz="1850" dirty="0"/>
          </a:p>
        </p:txBody>
      </p:sp>
      <p:sp>
        <p:nvSpPr>
          <p:cNvPr id="17" name="Text 15"/>
          <p:cNvSpPr/>
          <p:nvPr/>
        </p:nvSpPr>
        <p:spPr>
          <a:xfrm>
            <a:off x="863578" y="4286052"/>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Checkpoint, label order</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and preprocessing</a:t>
            </a:r>
            <a:endParaRPr lang="en-US" sz="1400" dirty="0"/>
          </a:p>
        </p:txBody>
      </p:sp>
      <p:sp>
        <p:nvSpPr>
          <p:cNvPr id="18" name="Shape 16"/>
          <p:cNvSpPr/>
          <p:nvPr/>
        </p:nvSpPr>
        <p:spPr>
          <a:xfrm>
            <a:off x="4267093" y="3651746"/>
            <a:ext cx="3657509" cy="1335187"/>
          </a:xfrm>
          <a:prstGeom prst="rect">
            <a:avLst/>
          </a:prstGeom>
          <a:solidFill>
            <a:srgbClr val="D3F0ED"/>
          </a:solidFill>
        </p:spPr>
      </p:sp>
      <p:sp>
        <p:nvSpPr>
          <p:cNvPr id="19" name="Text 17"/>
          <p:cNvSpPr/>
          <p:nvPr/>
        </p:nvSpPr>
        <p:spPr>
          <a:xfrm>
            <a:off x="4521087" y="3854946"/>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Verify on real video</a:t>
            </a:r>
            <a:endParaRPr lang="en-US" sz="1850" dirty="0"/>
          </a:p>
        </p:txBody>
      </p:sp>
      <p:sp>
        <p:nvSpPr>
          <p:cNvPr id="20" name="Text 18"/>
          <p:cNvSpPr/>
          <p:nvPr/>
        </p:nvSpPr>
        <p:spPr>
          <a:xfrm>
            <a:off x="4521087" y="4286052"/>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Existing infer pipeline</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and six-step report</a:t>
            </a:r>
            <a:endParaRPr lang="en-US" sz="1400" dirty="0"/>
          </a:p>
        </p:txBody>
      </p:sp>
      <p:sp>
        <p:nvSpPr>
          <p:cNvPr id="21" name="Shape 19"/>
          <p:cNvSpPr/>
          <p:nvPr/>
        </p:nvSpPr>
        <p:spPr>
          <a:xfrm>
            <a:off x="7924602" y="3651746"/>
            <a:ext cx="3657509" cy="1335187"/>
          </a:xfrm>
          <a:prstGeom prst="rect">
            <a:avLst/>
          </a:prstGeom>
          <a:solidFill>
            <a:srgbClr val="D3F0ED"/>
          </a:solidFill>
        </p:spPr>
      </p:sp>
      <p:sp>
        <p:nvSpPr>
          <p:cNvPr id="22" name="Text 20"/>
          <p:cNvSpPr/>
          <p:nvPr/>
        </p:nvSpPr>
        <p:spPr>
          <a:xfrm>
            <a:off x="8178595" y="3854946"/>
            <a:ext cx="3149521"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000000"/>
                </a:solidFill>
                <a:latin typeface="Funnel Sans SemiBold" pitchFamily="34" charset="0"/>
                <a:ea typeface="Funnel Sans SemiBold" pitchFamily="34" charset="-122"/>
                <a:cs typeface="Funnel Sans SemiBold" pitchFamily="34" charset="-120"/>
              </a:rPr>
              <a:t>Camera web page</a:t>
            </a:r>
            <a:endParaRPr lang="en-US" sz="1850" dirty="0"/>
          </a:p>
        </p:txBody>
      </p:sp>
      <p:sp>
        <p:nvSpPr>
          <p:cNvPr id="23" name="Text 21"/>
          <p:cNvSpPr/>
          <p:nvPr/>
        </p:nvSpPr>
        <p:spPr>
          <a:xfrm>
            <a:off x="8178595" y="4286052"/>
            <a:ext cx="3149521"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Current step, progress</a:t>
            </a:r>
            <a:endParaRPr lang="en-US" sz="1400" dirty="0"/>
          </a:p>
          <a:p>
            <a:pPr marL="0" indent="0" algn="l">
              <a:lnSpc>
                <a:spcPct val="117000"/>
              </a:lnSpc>
              <a:buNone/>
            </a:pPr>
            <a:r>
              <a:rPr lang="en-US" sz="1400" dirty="0">
                <a:solidFill>
                  <a:srgbClr val="000000"/>
                </a:solidFill>
                <a:latin typeface="Funnel Sans" pitchFamily="34" charset="0"/>
                <a:ea typeface="Funnel Sans" pitchFamily="34" charset="-122"/>
                <a:cs typeface="Funnel Sans" pitchFamily="34" charset="-120"/>
              </a:rPr>
              <a:t>and final report</a:t>
            </a:r>
            <a:endParaRPr lang="en-US" sz="1400" dirty="0"/>
          </a:p>
        </p:txBody>
      </p:sp>
      <p:sp>
        <p:nvSpPr>
          <p:cNvPr id="24" name="Text 22"/>
          <p:cNvSpPr/>
          <p:nvPr/>
        </p:nvSpPr>
        <p:spPr>
          <a:xfrm>
            <a:off x="609585" y="5953919"/>
            <a:ext cx="10972526"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Mainline: frame training, no temporal head. Live display averages only the last 9 received frames.</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First delivery: a live camera web page on the deployment machine. Cloud training, local inference.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406400"/>
            <a:ext cx="800080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INTERACTION DESIGN</a:t>
            </a:r>
            <a:endParaRPr lang="en-US" sz="1200" dirty="0"/>
          </a:p>
        </p:txBody>
      </p:sp>
      <p:sp>
        <p:nvSpPr>
          <p:cNvPr id="3" name="Text 1"/>
          <p:cNvSpPr/>
          <p:nvPr/>
        </p:nvSpPr>
        <p:spPr>
          <a:xfrm>
            <a:off x="609585" y="682625"/>
            <a:ext cx="8000800"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What the user will see</a:t>
            </a:r>
            <a:endParaRPr lang="en-US" sz="3600" dirty="0"/>
          </a:p>
        </p:txBody>
      </p:sp>
      <p:sp>
        <p:nvSpPr>
          <p:cNvPr id="4" name="Text 2"/>
          <p:cNvSpPr/>
          <p:nvPr/>
        </p:nvSpPr>
        <p:spPr>
          <a:xfrm>
            <a:off x="609585" y="1373584"/>
            <a:ext cx="8000800" cy="214313"/>
          </a:xfrm>
          <a:prstGeom prst="rect">
            <a:avLst/>
          </a:prstGeom>
          <a:noFill/>
        </p:spPr>
        <p:txBody>
          <a:bodyPr wrap="none" lIns="0" tIns="0" rIns="0" bIns="0" rtlCol="0" anchor="t"/>
          <a:lstStyle/>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Illustrative workflow, not an experimental result</a:t>
            </a:r>
            <a:endParaRPr lang="en-US" sz="1250" dirty="0"/>
          </a:p>
        </p:txBody>
      </p:sp>
      <p:pic>
        <p:nvPicPr>
          <p:cNvPr id="5" name="Image 0" descr="preencoded.png"/>
          <p:cNvPicPr>
            <a:picLocks noChangeAspect="1"/>
          </p:cNvPicPr>
          <p:nvPr/>
        </p:nvPicPr>
        <p:blipFill>
          <a:blip r:embed="rId1"/>
          <a:stretch>
            <a:fillRect/>
          </a:stretch>
        </p:blipFill>
        <p:spPr>
          <a:xfrm>
            <a:off x="8915177" y="406400"/>
            <a:ext cx="2393096" cy="1346101"/>
          </a:xfrm>
          <a:prstGeom prst="rect">
            <a:avLst/>
          </a:prstGeom>
        </p:spPr>
      </p:pic>
      <p:sp>
        <p:nvSpPr>
          <p:cNvPr id="6" name="Shape 3"/>
          <p:cNvSpPr/>
          <p:nvPr/>
        </p:nvSpPr>
        <p:spPr>
          <a:xfrm>
            <a:off x="609585" y="2344341"/>
            <a:ext cx="2514537" cy="2304752"/>
          </a:xfrm>
          <a:prstGeom prst="roundRect">
            <a:avLst>
              <a:gd name="adj" fmla="val 3819"/>
            </a:avLst>
          </a:prstGeom>
          <a:solidFill>
            <a:srgbClr val="FFFCF6"/>
          </a:solidFill>
          <a:effectLst>
            <a:outerShdw blurRad="379730" dist="151130" dir="5400000" algn="bl" rotWithShape="0">
              <a:srgbClr val="6A4FC8">
                <a:alpha val="40000"/>
              </a:srgbClr>
            </a:outerShdw>
          </a:effectLst>
        </p:spPr>
      </p:sp>
      <p:sp>
        <p:nvSpPr>
          <p:cNvPr id="7" name="Shape 4"/>
          <p:cNvSpPr/>
          <p:nvPr/>
        </p:nvSpPr>
        <p:spPr>
          <a:xfrm>
            <a:off x="812780" y="2572941"/>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8" name="Image 1" descr="preencoded.png"/>
          <p:cNvPicPr>
            <a:picLocks noChangeAspect="1"/>
          </p:cNvPicPr>
          <p:nvPr/>
        </p:nvPicPr>
        <p:blipFill>
          <a:blip r:embed="rId2"/>
          <a:stretch>
            <a:fillRect/>
          </a:stretch>
        </p:blipFill>
        <p:spPr>
          <a:xfrm>
            <a:off x="812780" y="2572941"/>
            <a:ext cx="584185" cy="584200"/>
          </a:xfrm>
          <a:prstGeom prst="rect">
            <a:avLst/>
          </a:prstGeom>
        </p:spPr>
      </p:pic>
      <p:sp>
        <p:nvSpPr>
          <p:cNvPr id="9" name="Text 5"/>
          <p:cNvSpPr/>
          <p:nvPr/>
        </p:nvSpPr>
        <p:spPr>
          <a:xfrm>
            <a:off x="1028178" y="2731691"/>
            <a:ext cx="762973"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1</a:t>
            </a:r>
            <a:endParaRPr lang="en-US" sz="2100" dirty="0"/>
          </a:p>
        </p:txBody>
      </p:sp>
      <p:sp>
        <p:nvSpPr>
          <p:cNvPr id="10" name="Text 6"/>
          <p:cNvSpPr/>
          <p:nvPr/>
        </p:nvSpPr>
        <p:spPr>
          <a:xfrm>
            <a:off x="812780" y="3242866"/>
            <a:ext cx="2108147"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Pick a camera</a:t>
            </a:r>
            <a:endParaRPr lang="en-US" sz="1850" dirty="0"/>
          </a:p>
        </p:txBody>
      </p:sp>
      <p:sp>
        <p:nvSpPr>
          <p:cNvPr id="11" name="Text 7"/>
          <p:cNvSpPr/>
          <p:nvPr/>
        </p:nvSpPr>
        <p:spPr>
          <a:xfrm>
            <a:off x="812780" y="3673971"/>
            <a:ext cx="2108147"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Select the external camera and allow browser access.</a:t>
            </a:r>
            <a:endParaRPr lang="en-US" sz="1400" dirty="0"/>
          </a:p>
        </p:txBody>
      </p:sp>
      <p:sp>
        <p:nvSpPr>
          <p:cNvPr id="12" name="Shape 8"/>
          <p:cNvSpPr/>
          <p:nvPr/>
        </p:nvSpPr>
        <p:spPr>
          <a:xfrm>
            <a:off x="3428914" y="2344341"/>
            <a:ext cx="2514537" cy="2304752"/>
          </a:xfrm>
          <a:prstGeom prst="roundRect">
            <a:avLst>
              <a:gd name="adj" fmla="val 3819"/>
            </a:avLst>
          </a:prstGeom>
          <a:solidFill>
            <a:srgbClr val="FFFCF6"/>
          </a:solidFill>
          <a:effectLst>
            <a:outerShdw blurRad="379730" dist="151130" dir="5400000" algn="bl" rotWithShape="0">
              <a:srgbClr val="6A4FC8">
                <a:alpha val="40000"/>
              </a:srgbClr>
            </a:outerShdw>
          </a:effectLst>
        </p:spPr>
      </p:sp>
      <p:sp>
        <p:nvSpPr>
          <p:cNvPr id="13" name="Shape 9"/>
          <p:cNvSpPr/>
          <p:nvPr/>
        </p:nvSpPr>
        <p:spPr>
          <a:xfrm>
            <a:off x="3632109" y="2572941"/>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14" name="Image 2" descr="preencoded.png"/>
          <p:cNvPicPr>
            <a:picLocks noChangeAspect="1"/>
          </p:cNvPicPr>
          <p:nvPr/>
        </p:nvPicPr>
        <p:blipFill>
          <a:blip r:embed="rId2"/>
          <a:stretch>
            <a:fillRect/>
          </a:stretch>
        </p:blipFill>
        <p:spPr>
          <a:xfrm>
            <a:off x="3632109" y="2572941"/>
            <a:ext cx="584185" cy="584200"/>
          </a:xfrm>
          <a:prstGeom prst="rect">
            <a:avLst/>
          </a:prstGeom>
        </p:spPr>
      </p:pic>
      <p:sp>
        <p:nvSpPr>
          <p:cNvPr id="15" name="Text 10"/>
          <p:cNvSpPr/>
          <p:nvPr/>
        </p:nvSpPr>
        <p:spPr>
          <a:xfrm>
            <a:off x="3847508" y="2731691"/>
            <a:ext cx="762973"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2</a:t>
            </a:r>
            <a:endParaRPr lang="en-US" sz="2100" dirty="0"/>
          </a:p>
        </p:txBody>
      </p:sp>
      <p:sp>
        <p:nvSpPr>
          <p:cNvPr id="16" name="Text 11"/>
          <p:cNvSpPr/>
          <p:nvPr/>
        </p:nvSpPr>
        <p:spPr>
          <a:xfrm>
            <a:off x="3632109" y="3242866"/>
            <a:ext cx="2108147"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Live preview</a:t>
            </a:r>
            <a:endParaRPr lang="en-US" sz="1850" dirty="0"/>
          </a:p>
        </p:txBody>
      </p:sp>
      <p:sp>
        <p:nvSpPr>
          <p:cNvPr id="17" name="Text 12"/>
          <p:cNvSpPr/>
          <p:nvPr/>
        </p:nvSpPr>
        <p:spPr>
          <a:xfrm>
            <a:off x="3632109" y="3673971"/>
            <a:ext cx="2108147"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See the current step and its confidence.</a:t>
            </a:r>
            <a:endParaRPr lang="en-US" sz="1400" dirty="0"/>
          </a:p>
        </p:txBody>
      </p:sp>
      <p:sp>
        <p:nvSpPr>
          <p:cNvPr id="18" name="Shape 13"/>
          <p:cNvSpPr/>
          <p:nvPr/>
        </p:nvSpPr>
        <p:spPr>
          <a:xfrm>
            <a:off x="6248244" y="2344341"/>
            <a:ext cx="2514537" cy="2304752"/>
          </a:xfrm>
          <a:prstGeom prst="roundRect">
            <a:avLst>
              <a:gd name="adj" fmla="val 3819"/>
            </a:avLst>
          </a:prstGeom>
          <a:solidFill>
            <a:srgbClr val="FFFCF6"/>
          </a:solidFill>
          <a:effectLst>
            <a:outerShdw blurRad="379730" dist="151130" dir="5400000" algn="bl" rotWithShape="0">
              <a:srgbClr val="6A4FC8">
                <a:alpha val="40000"/>
              </a:srgbClr>
            </a:outerShdw>
          </a:effectLst>
        </p:spPr>
      </p:sp>
      <p:sp>
        <p:nvSpPr>
          <p:cNvPr id="19" name="Shape 14"/>
          <p:cNvSpPr/>
          <p:nvPr/>
        </p:nvSpPr>
        <p:spPr>
          <a:xfrm>
            <a:off x="6451439" y="2572941"/>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20" name="Image 3" descr="preencoded.png"/>
          <p:cNvPicPr>
            <a:picLocks noChangeAspect="1"/>
          </p:cNvPicPr>
          <p:nvPr/>
        </p:nvPicPr>
        <p:blipFill>
          <a:blip r:embed="rId2"/>
          <a:stretch>
            <a:fillRect/>
          </a:stretch>
        </p:blipFill>
        <p:spPr>
          <a:xfrm>
            <a:off x="6451439" y="2572941"/>
            <a:ext cx="584185" cy="584200"/>
          </a:xfrm>
          <a:prstGeom prst="rect">
            <a:avLst/>
          </a:prstGeom>
        </p:spPr>
      </p:pic>
      <p:sp>
        <p:nvSpPr>
          <p:cNvPr id="21" name="Text 15"/>
          <p:cNvSpPr/>
          <p:nvPr/>
        </p:nvSpPr>
        <p:spPr>
          <a:xfrm>
            <a:off x="6666837" y="2731691"/>
            <a:ext cx="762973"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3</a:t>
            </a:r>
            <a:endParaRPr lang="en-US" sz="2100" dirty="0"/>
          </a:p>
        </p:txBody>
      </p:sp>
      <p:sp>
        <p:nvSpPr>
          <p:cNvPr id="22" name="Text 16"/>
          <p:cNvSpPr/>
          <p:nvPr/>
        </p:nvSpPr>
        <p:spPr>
          <a:xfrm>
            <a:off x="6451439" y="3242866"/>
            <a:ext cx="2108147"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Six-step progress</a:t>
            </a:r>
            <a:endParaRPr lang="en-US" sz="1850" dirty="0"/>
          </a:p>
        </p:txBody>
      </p:sp>
      <p:sp>
        <p:nvSpPr>
          <p:cNvPr id="23" name="Text 17"/>
          <p:cNvSpPr/>
          <p:nvPr/>
        </p:nvSpPr>
        <p:spPr>
          <a:xfrm>
            <a:off x="6451439" y="3673971"/>
            <a:ext cx="2108147"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Track provisional coverage while washing.</a:t>
            </a:r>
            <a:endParaRPr lang="en-US" sz="1400" dirty="0"/>
          </a:p>
        </p:txBody>
      </p:sp>
      <p:sp>
        <p:nvSpPr>
          <p:cNvPr id="24" name="Shape 18"/>
          <p:cNvSpPr/>
          <p:nvPr/>
        </p:nvSpPr>
        <p:spPr>
          <a:xfrm>
            <a:off x="9067573" y="2344341"/>
            <a:ext cx="2514537" cy="2304752"/>
          </a:xfrm>
          <a:prstGeom prst="roundRect">
            <a:avLst>
              <a:gd name="adj" fmla="val 3819"/>
            </a:avLst>
          </a:prstGeom>
          <a:solidFill>
            <a:srgbClr val="FFFCF6"/>
          </a:solidFill>
          <a:effectLst>
            <a:outerShdw blurRad="379730" dist="151130" dir="5400000" algn="bl" rotWithShape="0">
              <a:srgbClr val="6A4FC8">
                <a:alpha val="40000"/>
              </a:srgbClr>
            </a:outerShdw>
          </a:effectLst>
        </p:spPr>
      </p:sp>
      <p:sp>
        <p:nvSpPr>
          <p:cNvPr id="25" name="Shape 19"/>
          <p:cNvSpPr/>
          <p:nvPr/>
        </p:nvSpPr>
        <p:spPr>
          <a:xfrm>
            <a:off x="9270768" y="2572941"/>
            <a:ext cx="584185" cy="584200"/>
          </a:xfrm>
          <a:prstGeom prst="ellipse">
            <a:avLst/>
          </a:prstGeom>
          <a:solidFill>
            <a:srgbClr val="7FD6D2"/>
          </a:solidFill>
          <a:effectLst>
            <a:outerShdw blurRad="125730" dist="127" dir="16200000" algn="bl" rotWithShape="0">
              <a:srgbClr val="6A4FC8">
                <a:alpha val="20000"/>
              </a:srgbClr>
            </a:outerShdw>
          </a:effectLst>
        </p:spPr>
      </p:sp>
      <p:pic>
        <p:nvPicPr>
          <p:cNvPr id="26" name="Image 4" descr="preencoded.png"/>
          <p:cNvPicPr>
            <a:picLocks noChangeAspect="1"/>
          </p:cNvPicPr>
          <p:nvPr/>
        </p:nvPicPr>
        <p:blipFill>
          <a:blip r:embed="rId2"/>
          <a:stretch>
            <a:fillRect/>
          </a:stretch>
        </p:blipFill>
        <p:spPr>
          <a:xfrm>
            <a:off x="9270768" y="2572941"/>
            <a:ext cx="584185" cy="584200"/>
          </a:xfrm>
          <a:prstGeom prst="rect">
            <a:avLst/>
          </a:prstGeom>
        </p:spPr>
      </p:pic>
      <p:sp>
        <p:nvSpPr>
          <p:cNvPr id="27" name="Text 20"/>
          <p:cNvSpPr/>
          <p:nvPr/>
        </p:nvSpPr>
        <p:spPr>
          <a:xfrm>
            <a:off x="9486167" y="2731691"/>
            <a:ext cx="762973" cy="266700"/>
          </a:xfrm>
          <a:prstGeom prst="rect">
            <a:avLst/>
          </a:prstGeom>
          <a:noFill/>
        </p:spPr>
        <p:txBody>
          <a:bodyPr wrap="none" lIns="0" tIns="0" rIns="0" bIns="0" rtlCol="0" anchor="t"/>
          <a:lstStyle/>
          <a:p>
            <a:pPr marL="0" indent="0" algn="l">
              <a:lnSpc>
                <a:spcPct val="83000"/>
              </a:lnSpc>
              <a:buNone/>
            </a:pPr>
            <a:r>
              <a:rPr lang="en-US" sz="2100" dirty="0">
                <a:solidFill>
                  <a:srgbClr val="051D3A"/>
                </a:solidFill>
                <a:latin typeface="Funnel Display SemiBold" pitchFamily="34" charset="0"/>
                <a:ea typeface="Funnel Display SemiBold" pitchFamily="34" charset="-122"/>
                <a:cs typeface="Funnel Display SemiBold" pitchFamily="34" charset="-120"/>
              </a:rPr>
              <a:t>4</a:t>
            </a:r>
            <a:endParaRPr lang="en-US" sz="2100" dirty="0"/>
          </a:p>
        </p:txBody>
      </p:sp>
      <p:sp>
        <p:nvSpPr>
          <p:cNvPr id="28" name="Text 21"/>
          <p:cNvSpPr/>
          <p:nvPr/>
        </p:nvSpPr>
        <p:spPr>
          <a:xfrm>
            <a:off x="9270768" y="3242866"/>
            <a:ext cx="2108147"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Session report</a:t>
            </a:r>
            <a:endParaRPr lang="en-US" sz="1850" dirty="0"/>
          </a:p>
        </p:txBody>
      </p:sp>
      <p:sp>
        <p:nvSpPr>
          <p:cNvPr id="29" name="Text 22"/>
          <p:cNvSpPr/>
          <p:nvPr/>
        </p:nvSpPr>
        <p:spPr>
          <a:xfrm>
            <a:off x="9270768" y="3673971"/>
            <a:ext cx="2108147"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Stop the session to compute the final completeness report.</a:t>
            </a:r>
            <a:endParaRPr lang="en-US" sz="1400" dirty="0"/>
          </a:p>
        </p:txBody>
      </p:sp>
      <p:sp>
        <p:nvSpPr>
          <p:cNvPr id="30" name="Text 23"/>
          <p:cNvSpPr/>
          <p:nvPr/>
        </p:nvSpPr>
        <p:spPr>
          <a:xfrm>
            <a:off x="609585" y="5240933"/>
            <a:ext cx="10972526" cy="563761"/>
          </a:xfrm>
          <a:prstGeom prst="rect">
            <a:avLst/>
          </a:prstGeom>
          <a:noFill/>
        </p:spPr>
        <p:txBody>
          <a:bodyPr wrap="square" lIns="0" tIns="0" rIns="0" bIns="0" rtlCol="0" anchor="t">
            <a:normAutofit/>
          </a:bodyPr>
          <a:lstStyle/>
          <a:p>
            <a:pPr marL="0" indent="0" algn="l">
              <a:lnSpc>
                <a:spcPct val="100000"/>
              </a:lnSpc>
              <a:buNone/>
            </a:pPr>
            <a:r>
              <a:rPr lang="en-US" sz="1850" kern="100" spc="-9" dirty="0">
                <a:solidFill>
                  <a:srgbClr val="051D3A"/>
                </a:solidFill>
                <a:latin typeface="Funnel Sans SemiBold" pitchFamily="34" charset="0"/>
                <a:ea typeface="Funnel Sans SemiBold" pitchFamily="34" charset="-122"/>
                <a:cs typeface="Funnel Sans SemiBold" pitchFamily="34" charset="-120"/>
              </a:rPr>
              <a:t>Real-time display is provisional and averages only frames already received.</a:t>
            </a:r>
            <a:endParaRPr lang="en-US" sz="1850" dirty="0"/>
          </a:p>
          <a:p>
            <a:pPr marL="0" indent="0" algn="l">
              <a:lnSpc>
                <a:spcPct val="100000"/>
              </a:lnSpc>
              <a:buNone/>
            </a:pPr>
            <a:r>
              <a:rPr lang="en-US" sz="1850" kern="100" spc="-9" dirty="0">
                <a:solidFill>
                  <a:srgbClr val="051D3A"/>
                </a:solidFill>
                <a:latin typeface="Funnel Sans SemiBold" pitchFamily="34" charset="0"/>
                <a:ea typeface="Funnel Sans SemiBold" pitchFamily="34" charset="-122"/>
                <a:cs typeface="Funnel Sans SemiBold" pitchFamily="34" charset="-120"/>
              </a:rPr>
              <a:t>The final report is computed when the session stops.</a:t>
            </a:r>
            <a:endParaRPr lang="en-US" sz="1850" dirty="0"/>
          </a:p>
        </p:txBody>
      </p:sp>
      <p:sp>
        <p:nvSpPr>
          <p:cNvPr id="31" name="Text 24"/>
          <p:cNvSpPr/>
          <p:nvPr/>
        </p:nvSpPr>
        <p:spPr>
          <a:xfrm>
            <a:off x="609585" y="5953919"/>
            <a:ext cx="10972526"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exp.pt: seven-class feasibility demo weights, not an accuracy result.</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Camera accuracy and latency have not yet been measured.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533387" y="381000"/>
            <a:ext cx="11658308"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EXPERIMENTS AND EVALUATION</a:t>
            </a:r>
            <a:endParaRPr lang="en-US" sz="1200" dirty="0"/>
          </a:p>
        </p:txBody>
      </p:sp>
      <p:sp>
        <p:nvSpPr>
          <p:cNvPr id="3" name="Text 1"/>
          <p:cNvSpPr/>
          <p:nvPr/>
        </p:nvSpPr>
        <p:spPr>
          <a:xfrm>
            <a:off x="533387" y="657225"/>
            <a:ext cx="11124922"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Comparisons and measures of success</a:t>
            </a:r>
            <a:endParaRPr lang="en-US" sz="3600" dirty="0"/>
          </a:p>
        </p:txBody>
      </p:sp>
      <p:sp>
        <p:nvSpPr>
          <p:cNvPr id="4" name="Text 2"/>
          <p:cNvSpPr/>
          <p:nvPr/>
        </p:nvSpPr>
        <p:spPr>
          <a:xfrm>
            <a:off x="533387" y="1348184"/>
            <a:ext cx="480048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CONTROLLED COMPARISONS</a:t>
            </a:r>
            <a:endParaRPr lang="en-US" sz="1200" dirty="0"/>
          </a:p>
        </p:txBody>
      </p:sp>
      <p:sp>
        <p:nvSpPr>
          <p:cNvPr id="5" name="Shape 3"/>
          <p:cNvSpPr/>
          <p:nvPr/>
        </p:nvSpPr>
        <p:spPr>
          <a:xfrm>
            <a:off x="533387" y="1659334"/>
            <a:ext cx="4800480" cy="3436144"/>
          </a:xfrm>
          <a:prstGeom prst="roundRect">
            <a:avLst>
              <a:gd name="adj" fmla="val 2561"/>
            </a:avLst>
          </a:prstGeom>
          <a:solidFill>
            <a:srgbClr val="FFFCF6"/>
          </a:solidFill>
          <a:effectLst>
            <a:outerShdw blurRad="379730" dist="151130" dir="5400000" algn="bl" rotWithShape="0">
              <a:srgbClr val="6A4FC8">
                <a:alpha val="40000"/>
              </a:srgbClr>
            </a:outerShdw>
          </a:effectLst>
        </p:spPr>
      </p:sp>
      <p:graphicFrame>
        <p:nvGraphicFramePr>
          <p:cNvPr id="9" name="Table 0"/>
          <p:cNvGraphicFramePr>
            <a:graphicFrameLocks noGrp="1"/>
          </p:cNvGraphicFramePr>
          <p:nvPr/>
        </p:nvGraphicFramePr>
        <p:xfrm>
          <a:off x="736582" y="1837134"/>
          <a:ext cx="4394090" cy="3080468"/>
        </p:xfrm>
        <a:graphic>
          <a:graphicData uri="http://schemas.openxmlformats.org/drawingml/2006/table">
            <a:tbl>
              <a:tblPr/>
              <a:tblGrid>
                <a:gridCol w="1319080"/>
                <a:gridCol w="3075010"/>
              </a:tblGrid>
              <a:tr h="559977">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Group</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4DBF8"/>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E4DBF8"/>
                    </a:solidFill>
                  </a:tcPr>
                </a:tc>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Setting</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4DBF8"/>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E4DBF8"/>
                    </a:solidFill>
                  </a:tcPr>
                </a:tc>
              </a:tr>
              <a:tr h="559977">
                <a:tc>
                  <a:txBody>
                    <a:bodyPr/>
                    <a:lstStyle/>
                    <a:p>
                      <a:pPr marL="0" indent="0" algn="l">
                        <a:buNone/>
                      </a:pPr>
                      <a:r>
                        <a:rPr lang="en-US" sz="1650" dirty="0">
                          <a:solidFill>
                            <a:srgbClr val="2B3541"/>
                          </a:solidFill>
                          <a:latin typeface="Funnel Sans" pitchFamily="34" charset="0"/>
                          <a:ea typeface="Funnel Sans" pitchFamily="34" charset="-122"/>
                          <a:cs typeface="Funnel Sans" pitchFamily="34" charset="-120"/>
                        </a:rPr>
                        <a:t>A</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FFFCF6"/>
                      </a:solidFill>
                      <a:prstDash val="solid"/>
                      <a:round/>
                      <a:headEnd type="none" w="med" len="med"/>
                      <a:tailEnd type="none" w="med" len="med"/>
                    </a:lnL>
                    <a:lnR w="12700" cap="flat" cmpd="sng" algn="ctr">
                      <a:solidFill>
                        <a:srgbClr val="FFFCF6"/>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FFFCF6"/>
                    </a:solidFill>
                  </a:tcPr>
                </a:tc>
                <a:tc>
                  <a:txBody>
                    <a:bodyPr/>
                    <a:lstStyle/>
                    <a:p>
                      <a:pPr marL="0" indent="0" algn="l">
                        <a:buNone/>
                      </a:pPr>
                      <a:r>
                        <a:rPr lang="en-US" sz="1650" dirty="0">
                          <a:solidFill>
                            <a:srgbClr val="2B3541"/>
                          </a:solidFill>
                          <a:latin typeface="Funnel Sans" pitchFamily="34" charset="0"/>
                          <a:ea typeface="Funnel Sans" pitchFamily="34" charset="-122"/>
                          <a:cs typeface="Funnel Sans" pitchFamily="34" charset="-120"/>
                        </a:rPr>
                        <a:t>Frame-only baseline</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FFFCF6"/>
                      </a:solidFill>
                      <a:prstDash val="solid"/>
                      <a:round/>
                      <a:headEnd type="none" w="med" len="med"/>
                      <a:tailEnd type="none" w="med" len="med"/>
                    </a:lnL>
                    <a:lnR w="12700" cap="flat" cmpd="sng" algn="ctr">
                      <a:solidFill>
                        <a:srgbClr val="FFFCF6"/>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FFFCF6"/>
                    </a:solidFill>
                  </a:tcPr>
                </a:tc>
              </a:tr>
              <a:tr h="853260">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B</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E4DBF8"/>
                    </a:solidFill>
                  </a:tcPr>
                </a:tc>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Same checkpoint + probability smoothing</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E4DBF8"/>
                    </a:solidFill>
                  </a:tcPr>
                </a:tc>
              </a:tr>
              <a:tr h="559977">
                <a:tc>
                  <a:txBody>
                    <a:bodyPr/>
                    <a:lstStyle/>
                    <a:p>
                      <a:pPr marL="0" indent="0" algn="l">
                        <a:buNone/>
                      </a:pPr>
                      <a:r>
                        <a:rPr lang="en-US" sz="1650" dirty="0">
                          <a:solidFill>
                            <a:srgbClr val="2B3541"/>
                          </a:solidFill>
                          <a:latin typeface="Funnel Sans" pitchFamily="34" charset="0"/>
                          <a:ea typeface="Funnel Sans" pitchFamily="34" charset="-122"/>
                          <a:cs typeface="Funnel Sans" pitchFamily="34" charset="-120"/>
                        </a:rPr>
                        <a:t>C · optional</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FFFCF6"/>
                      </a:solidFill>
                      <a:prstDash val="solid"/>
                      <a:round/>
                      <a:headEnd type="none" w="med" len="med"/>
                      <a:tailEnd type="none" w="med" len="med"/>
                    </a:lnL>
                    <a:lnR w="12700" cap="flat" cmpd="sng" algn="ctr">
                      <a:solidFill>
                        <a:srgbClr val="FFFCF6"/>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FFFCF6"/>
                    </a:solidFill>
                  </a:tcPr>
                </a:tc>
                <a:tc>
                  <a:txBody>
                    <a:bodyPr/>
                    <a:lstStyle/>
                    <a:p>
                      <a:pPr marL="0" indent="0" algn="l">
                        <a:buNone/>
                      </a:pPr>
                      <a:r>
                        <a:rPr lang="en-US" sz="1650" dirty="0">
                          <a:solidFill>
                            <a:srgbClr val="2B3541"/>
                          </a:solidFill>
                          <a:latin typeface="Funnel Sans" pitchFamily="34" charset="0"/>
                          <a:ea typeface="Funnel Sans" pitchFamily="34" charset="-122"/>
                          <a:cs typeface="Funnel Sans" pitchFamily="34" charset="-120"/>
                        </a:rPr>
                        <a:t>Mean-pool head</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FFFCF6"/>
                      </a:solidFill>
                      <a:prstDash val="solid"/>
                      <a:round/>
                      <a:headEnd type="none" w="med" len="med"/>
                      <a:tailEnd type="none" w="med" len="med"/>
                    </a:lnL>
                    <a:lnR w="12700" cap="flat" cmpd="sng" algn="ctr">
                      <a:solidFill>
                        <a:srgbClr val="FFFCF6"/>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3D9EC"/>
                      </a:solidFill>
                      <a:prstDash val="solid"/>
                      <a:round/>
                      <a:headEnd type="none" w="med" len="med"/>
                      <a:tailEnd type="none" w="med" len="med"/>
                    </a:lnB>
                    <a:solidFill>
                      <a:srgbClr val="FFFCF6"/>
                    </a:solidFill>
                  </a:tcPr>
                </a:tc>
              </a:tr>
              <a:tr h="547277">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D · optional</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4DBF8"/>
                      </a:solidFill>
                      <a:prstDash val="solid"/>
                      <a:round/>
                      <a:headEnd type="none" w="med" len="med"/>
                      <a:tailEnd type="none" w="med" len="med"/>
                    </a:lnB>
                    <a:solidFill>
                      <a:srgbClr val="E4DBF8"/>
                    </a:solidFill>
                  </a:tcPr>
                </a:tc>
                <a:tc>
                  <a:txBody>
                    <a:bodyPr/>
                    <a:lstStyle/>
                    <a:p>
                      <a:pPr marL="0" indent="0" algn="l">
                        <a:buNone/>
                      </a:pPr>
                      <a:r>
                        <a:rPr lang="en-US" sz="1650" dirty="0">
                          <a:solidFill>
                            <a:srgbClr val="000000"/>
                          </a:solidFill>
                          <a:latin typeface="Funnel Sans" pitchFamily="34" charset="0"/>
                          <a:ea typeface="Funnel Sans" pitchFamily="34" charset="-122"/>
                          <a:cs typeface="Funnel Sans" pitchFamily="34" charset="-120"/>
                        </a:rPr>
                        <a:t>GRU / TCN head</a:t>
                      </a:r>
                      <a:endParaRPr lang="en-US" sz="1650" dirty="0">
                        <a:latin typeface="Funnel Sans" pitchFamily="34" charset="0"/>
                        <a:ea typeface="Funnel Sans" pitchFamily="34" charset="0"/>
                        <a:cs typeface="Funnel Sans" pitchFamily="34" charset="0"/>
                      </a:endParaRPr>
                    </a:p>
                  </a:txBody>
                  <a:tcPr marL="101598" marR="101598" marT="126997" marB="126997" anchor="ctr">
                    <a:lnL w="12700" cap="flat" cmpd="sng" algn="ctr">
                      <a:solidFill>
                        <a:srgbClr val="E4DBF8"/>
                      </a:solidFill>
                      <a:prstDash val="solid"/>
                      <a:round/>
                      <a:headEnd type="none" w="med" len="med"/>
                      <a:tailEnd type="none" w="med" len="med"/>
                    </a:lnL>
                    <a:lnR w="12700" cap="flat" cmpd="sng" algn="ctr">
                      <a:solidFill>
                        <a:srgbClr val="E4DBF8"/>
                      </a:solidFill>
                      <a:prstDash val="solid"/>
                      <a:round/>
                      <a:headEnd type="none" w="med" len="med"/>
                      <a:tailEnd type="none" w="med" len="med"/>
                    </a:lnR>
                    <a:lnT w="12700" cap="flat" cmpd="sng" algn="ctr">
                      <a:solidFill>
                        <a:srgbClr val="E3D9EC"/>
                      </a:solidFill>
                      <a:prstDash val="solid"/>
                      <a:round/>
                      <a:headEnd type="none" w="med" len="med"/>
                      <a:tailEnd type="none" w="med" len="med"/>
                    </a:lnT>
                    <a:lnB w="12700" cap="flat" cmpd="sng" algn="ctr">
                      <a:solidFill>
                        <a:srgbClr val="E4DBF8"/>
                      </a:solidFill>
                      <a:prstDash val="solid"/>
                      <a:round/>
                      <a:headEnd type="none" w="med" len="med"/>
                      <a:tailEnd type="none" w="med" len="med"/>
                    </a:lnB>
                    <a:solidFill>
                      <a:srgbClr val="E4DBF8"/>
                    </a:solidFill>
                  </a:tcPr>
                </a:tc>
              </a:tr>
            </a:tbl>
          </a:graphicData>
        </a:graphic>
      </p:graphicFrame>
      <p:sp>
        <p:nvSpPr>
          <p:cNvPr id="7" name="Text 4"/>
          <p:cNvSpPr/>
          <p:nvPr/>
        </p:nvSpPr>
        <p:spPr>
          <a:xfrm>
            <a:off x="533387" y="5216128"/>
            <a:ext cx="4800480" cy="995363"/>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A/B: baseline versus fewer label changes.</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C/D: temporal-head value (optional research).</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Fix data, splits, seed and backbone.</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PE and MS-TCN++ are candidates, not commitments.</a:t>
            </a:r>
            <a:endParaRPr lang="en-US" sz="1400" dirty="0"/>
          </a:p>
        </p:txBody>
      </p:sp>
      <p:sp>
        <p:nvSpPr>
          <p:cNvPr id="8" name="Text 5"/>
          <p:cNvSpPr/>
          <p:nvPr/>
        </p:nvSpPr>
        <p:spPr>
          <a:xfrm>
            <a:off x="5790956" y="1348184"/>
            <a:ext cx="5867352"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Are the actions correct?</a:t>
            </a:r>
            <a:endParaRPr lang="en-US" sz="1850" dirty="0"/>
          </a:p>
        </p:txBody>
      </p:sp>
      <p:sp>
        <p:nvSpPr>
          <p:cNvPr id="6" name="Text 6"/>
          <p:cNvSpPr/>
          <p:nvPr/>
        </p:nvSpPr>
        <p:spPr>
          <a:xfrm>
            <a:off x="5790956" y="1779290"/>
            <a:ext cx="5867352"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Per-class recall, confusion matrix and Macro-F1.</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Macro-F1 gives equal weight to all 8 PSKUS classes; report the 6 rubbing steps separately.</a:t>
            </a:r>
            <a:endParaRPr lang="en-US" sz="1400" dirty="0"/>
          </a:p>
        </p:txBody>
      </p:sp>
      <p:sp>
        <p:nvSpPr>
          <p:cNvPr id="10" name="Text 7"/>
          <p:cNvSpPr/>
          <p:nvPr/>
        </p:nvSpPr>
        <p:spPr>
          <a:xfrm>
            <a:off x="5790956" y="2713137"/>
            <a:ext cx="5867352"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Are the timing and reports useful?</a:t>
            </a:r>
            <a:endParaRPr lang="en-US" sz="1850" dirty="0"/>
          </a:p>
        </p:txBody>
      </p:sp>
      <p:sp>
        <p:nvSpPr>
          <p:cNvPr id="11" name="Text 8"/>
          <p:cNvSpPr/>
          <p:nvPr/>
        </p:nvSpPr>
        <p:spPr>
          <a:xfrm>
            <a:off x="5790956" y="3144242"/>
            <a:ext cx="5867352" cy="1116013"/>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Missed-step precision / recall, order inversions, short-step detection and duration error.</a:t>
            </a:r>
            <a:endParaRPr lang="en-US" sz="1400" dirty="0"/>
          </a:p>
          <a:p>
            <a:pPr marL="0" indent="0" algn="l">
              <a:lnSpc>
                <a:spcPct val="117000"/>
              </a:lnSpc>
              <a:spcAft>
                <a:spcPts val="900"/>
              </a:spcAft>
              <a:buNone/>
            </a:pPr>
            <a:r>
              <a:rPr lang="en-US" sz="1400" dirty="0">
                <a:solidFill>
                  <a:srgbClr val="2B3541"/>
                </a:solidFill>
                <a:latin typeface="Funnel Sans" pitchFamily="34" charset="0"/>
                <a:ea typeface="Funnel Sans" pitchFamily="34" charset="-122"/>
                <a:cs typeface="Funnel Sans" pitchFamily="34" charset="-120"/>
              </a:rPr>
              <a:t>Segment F1 at time IoU 0.10 / 0.25 / 0.50.</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Time IoU = interval overlap / interval union.</a:t>
            </a:r>
            <a:endParaRPr lang="en-US" sz="1400" dirty="0"/>
          </a:p>
        </p:txBody>
      </p:sp>
      <p:sp>
        <p:nvSpPr>
          <p:cNvPr id="12" name="Text 9"/>
          <p:cNvSpPr/>
          <p:nvPr/>
        </p:nvSpPr>
        <p:spPr>
          <a:xfrm>
            <a:off x="5790956" y="4447580"/>
            <a:ext cx="5867352"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B8367F"/>
                </a:solidFill>
                <a:latin typeface="Funnel Sans SemiBold" pitchFamily="34" charset="0"/>
                <a:ea typeface="Funnel Sans SemiBold" pitchFamily="34" charset="-122"/>
                <a:cs typeface="Funnel Sans SemiBold" pitchFamily="34" charset="-120"/>
              </a:rPr>
              <a:t>Does it work beyond training?</a:t>
            </a:r>
            <a:endParaRPr lang="en-US" sz="1850" dirty="0"/>
          </a:p>
        </p:txBody>
      </p:sp>
      <p:sp>
        <p:nvSpPr>
          <p:cNvPr id="13" name="Text 10"/>
          <p:cNvSpPr/>
          <p:nvPr/>
        </p:nvSpPr>
        <p:spPr>
          <a:xfrm>
            <a:off x="5790956" y="4878685"/>
            <a:ext cx="5867352" cy="746522"/>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METC and self-recorded clips, same checkpoint.</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Latency: frame capture to displayed result.</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Throughput: processed frames per second.</a:t>
            </a:r>
            <a:endParaRPr lang="en-US" sz="1400" dirty="0"/>
          </a:p>
        </p:txBody>
      </p:sp>
      <p:sp>
        <p:nvSpPr>
          <p:cNvPr id="14" name="Text 11"/>
          <p:cNvSpPr/>
          <p:nvPr/>
        </p:nvSpPr>
        <p:spPr>
          <a:xfrm>
            <a:off x="5790956" y="5745857"/>
            <a:ext cx="5867352" cy="428625"/>
          </a:xfrm>
          <a:prstGeom prst="rect">
            <a:avLst/>
          </a:prstGeom>
          <a:noFill/>
        </p:spPr>
        <p:txBody>
          <a:bodyPr wrap="square" lIns="0" tIns="0" rIns="0" bIns="0" rtlCol="0" anchor="t">
            <a:normAutofit/>
          </a:bodyPr>
          <a:lstStyle/>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Missed-step precision = correct flags / all flags.</a:t>
            </a:r>
            <a:endParaRPr lang="en-US" sz="1250" dirty="0"/>
          </a:p>
          <a:p>
            <a:pPr marL="0" indent="0" algn="l">
              <a:lnSpc>
                <a:spcPct val="112000"/>
              </a:lnSpc>
              <a:buNone/>
            </a:pPr>
            <a:r>
              <a:rPr lang="en-US" sz="1250" dirty="0">
                <a:solidFill>
                  <a:srgbClr val="4A5563"/>
                </a:solidFill>
                <a:latin typeface="Funnel Sans" pitchFamily="34" charset="0"/>
                <a:ea typeface="Funnel Sans" pitchFamily="34" charset="-122"/>
                <a:cs typeface="Funnel Sans" pitchFamily="34" charset="-120"/>
              </a:rPr>
              <a:t>Recall = correct flags / all true omissions.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457200"/>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WHAT ALREADY WORKS</a:t>
            </a:r>
            <a:endParaRPr lang="en-US" sz="1200" dirty="0"/>
          </a:p>
        </p:txBody>
      </p:sp>
      <p:sp>
        <p:nvSpPr>
          <p:cNvPr id="3" name="Text 1"/>
          <p:cNvSpPr/>
          <p:nvPr/>
        </p:nvSpPr>
        <p:spPr>
          <a:xfrm>
            <a:off x="609585" y="733425"/>
            <a:ext cx="10972526"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Progress so far</a:t>
            </a:r>
            <a:endParaRPr lang="en-US" sz="3600" dirty="0"/>
          </a:p>
        </p:txBody>
      </p:sp>
      <p:sp>
        <p:nvSpPr>
          <p:cNvPr id="4" name="Shape 2"/>
          <p:cNvSpPr/>
          <p:nvPr/>
        </p:nvSpPr>
        <p:spPr>
          <a:xfrm>
            <a:off x="609585" y="1553369"/>
            <a:ext cx="3454314" cy="3530005"/>
          </a:xfrm>
          <a:prstGeom prst="roundRect">
            <a:avLst>
              <a:gd name="adj" fmla="val 2548"/>
            </a:avLst>
          </a:prstGeom>
          <a:solidFill>
            <a:srgbClr val="FFFCF6"/>
          </a:solidFill>
          <a:effectLst>
            <a:outerShdw blurRad="379730" dist="151130" dir="5400000" algn="bl" rotWithShape="0">
              <a:srgbClr val="6A4FC8">
                <a:alpha val="40000"/>
              </a:srgbClr>
            </a:outerShdw>
          </a:effectLst>
        </p:spPr>
      </p:sp>
      <p:pic>
        <p:nvPicPr>
          <p:cNvPr id="5" name="Image 0" descr="preencoded.png"/>
          <p:cNvPicPr>
            <a:picLocks noChangeAspect="1"/>
          </p:cNvPicPr>
          <p:nvPr/>
        </p:nvPicPr>
        <p:blipFill>
          <a:blip r:embed="rId1"/>
          <a:stretch>
            <a:fillRect/>
          </a:stretch>
        </p:blipFill>
        <p:spPr>
          <a:xfrm>
            <a:off x="863578" y="1832769"/>
            <a:ext cx="523862" cy="523875"/>
          </a:xfrm>
          <a:prstGeom prst="rect">
            <a:avLst/>
          </a:prstGeom>
        </p:spPr>
      </p:pic>
      <p:sp>
        <p:nvSpPr>
          <p:cNvPr id="6" name="Text 3"/>
          <p:cNvSpPr/>
          <p:nvPr/>
        </p:nvSpPr>
        <p:spPr>
          <a:xfrm>
            <a:off x="863578" y="2477294"/>
            <a:ext cx="294632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Repository and contracts</a:t>
            </a:r>
            <a:endParaRPr lang="en-US" sz="1850" dirty="0"/>
          </a:p>
        </p:txBody>
      </p:sp>
      <p:sp>
        <p:nvSpPr>
          <p:cNvPr id="7" name="Text 4"/>
          <p:cNvSpPr/>
          <p:nvPr/>
        </p:nvSpPr>
        <p:spPr>
          <a:xfrm>
            <a:off x="863578" y="2908399"/>
            <a:ext cx="2946326" cy="1364853"/>
          </a:xfrm>
          <a:prstGeom prst="rect">
            <a:avLst/>
          </a:prstGeom>
          <a:noFill/>
        </p:spPr>
        <p:txBody>
          <a:bodyPr wrap="square" lIns="0" tIns="0" rIns="0" bIns="0" rtlCol="0" anchor="t">
            <a:normAutofit/>
          </a:bodyPr>
          <a:lstStyle/>
          <a:p>
            <a:pPr marL="0" indent="0" algn="l">
              <a:lnSpc>
                <a:spcPct val="117000"/>
              </a:lnSpc>
              <a:spcAft>
                <a:spcPts val="900"/>
              </a:spcAft>
              <a:buNone/>
            </a:pPr>
            <a:r>
              <a:rPr lang="en-US" sz="1400" dirty="0">
                <a:solidFill>
                  <a:srgbClr val="2B3541"/>
                </a:solidFill>
                <a:latin typeface="Funnel Sans" pitchFamily="34" charset="0"/>
                <a:ea typeface="Funnel Sans" pitchFamily="34" charset="-122"/>
                <a:cs typeface="Funnel Sans" pitchFamily="34" charset="-120"/>
              </a:rPr>
              <a:t>Five layers and five CLI pipelines: prepare, train, evaluate, infer, assess.</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396 contract-layer tests documented; no data or GPU required. CI workflow configured.</a:t>
            </a:r>
            <a:endParaRPr lang="en-US" sz="1400" dirty="0"/>
          </a:p>
        </p:txBody>
      </p:sp>
      <p:sp>
        <p:nvSpPr>
          <p:cNvPr id="8" name="Shape 5"/>
          <p:cNvSpPr/>
          <p:nvPr/>
        </p:nvSpPr>
        <p:spPr>
          <a:xfrm>
            <a:off x="4368691" y="1553369"/>
            <a:ext cx="3454314" cy="3530005"/>
          </a:xfrm>
          <a:prstGeom prst="roundRect">
            <a:avLst>
              <a:gd name="adj" fmla="val 2548"/>
            </a:avLst>
          </a:prstGeom>
          <a:solidFill>
            <a:srgbClr val="FFFCF6"/>
          </a:solidFill>
          <a:effectLst>
            <a:outerShdw blurRad="379730" dist="151130" dir="5400000" algn="bl" rotWithShape="0">
              <a:srgbClr val="6A4FC8">
                <a:alpha val="40000"/>
              </a:srgbClr>
            </a:outerShdw>
          </a:effectLst>
        </p:spPr>
      </p:sp>
      <p:pic>
        <p:nvPicPr>
          <p:cNvPr id="9" name="Image 1" descr="preencoded.png"/>
          <p:cNvPicPr>
            <a:picLocks noChangeAspect="1"/>
          </p:cNvPicPr>
          <p:nvPr/>
        </p:nvPicPr>
        <p:blipFill>
          <a:blip r:embed="rId2"/>
          <a:stretch>
            <a:fillRect/>
          </a:stretch>
        </p:blipFill>
        <p:spPr>
          <a:xfrm>
            <a:off x="4622684" y="1832769"/>
            <a:ext cx="523862" cy="523875"/>
          </a:xfrm>
          <a:prstGeom prst="rect">
            <a:avLst/>
          </a:prstGeom>
        </p:spPr>
      </p:pic>
      <p:sp>
        <p:nvSpPr>
          <p:cNvPr id="10" name="Text 6"/>
          <p:cNvSpPr/>
          <p:nvPr/>
        </p:nvSpPr>
        <p:spPr>
          <a:xfrm>
            <a:off x="4622684" y="2477294"/>
            <a:ext cx="2946326" cy="563761"/>
          </a:xfrm>
          <a:prstGeom prst="rect">
            <a:avLst/>
          </a:prstGeom>
          <a:noFill/>
        </p:spPr>
        <p:txBody>
          <a:bodyPr wrap="square" lIns="0" tIns="0" rIns="0" bIns="0" rtlCol="0" anchor="t">
            <a:normAutofit/>
          </a:bodyPr>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Data safeguards and report rules</a:t>
            </a:r>
            <a:endParaRPr lang="en-US" sz="1850" dirty="0"/>
          </a:p>
        </p:txBody>
      </p:sp>
      <p:sp>
        <p:nvSpPr>
          <p:cNvPr id="11" name="Text 7"/>
          <p:cNvSpPr/>
          <p:nvPr/>
        </p:nvSpPr>
        <p:spPr>
          <a:xfrm>
            <a:off x="4622684" y="3190280"/>
            <a:ext cx="2946326" cy="1613694"/>
          </a:xfrm>
          <a:prstGeom prst="rect">
            <a:avLst/>
          </a:prstGeom>
          <a:noFill/>
        </p:spPr>
        <p:txBody>
          <a:bodyPr wrap="square" lIns="0" tIns="0" rIns="0" bIns="0" rtlCol="0" anchor="t">
            <a:normAutofit/>
          </a:bodyPr>
          <a:lstStyle/>
          <a:p>
            <a:pPr marL="0" indent="0" algn="l">
              <a:lnSpc>
                <a:spcPct val="117000"/>
              </a:lnSpc>
              <a:spcAft>
                <a:spcPts val="900"/>
              </a:spcAft>
              <a:buNone/>
            </a:pPr>
            <a:r>
              <a:rPr lang="en-US" sz="1400" dirty="0">
                <a:solidFill>
                  <a:srgbClr val="2B3541"/>
                </a:solidFill>
                <a:latin typeface="Funnel Sans" pitchFamily="34" charset="0"/>
                <a:ea typeface="Funnel Sans" pitchFamily="34" charset="-122"/>
                <a:cs typeface="Funnel Sans" pitchFamily="34" charset="-120"/>
              </a:rPr>
              <a:t>Three independent video-split guards and one authoritative label space, including METC 0–6.</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Missed steps, order inversions, short steps, repetitions and overall score are implemented.</a:t>
            </a:r>
            <a:endParaRPr lang="en-US" sz="1400" dirty="0"/>
          </a:p>
        </p:txBody>
      </p:sp>
      <p:sp>
        <p:nvSpPr>
          <p:cNvPr id="12" name="Shape 8"/>
          <p:cNvSpPr/>
          <p:nvPr/>
        </p:nvSpPr>
        <p:spPr>
          <a:xfrm>
            <a:off x="8127797" y="1553369"/>
            <a:ext cx="3454314" cy="3530005"/>
          </a:xfrm>
          <a:prstGeom prst="roundRect">
            <a:avLst>
              <a:gd name="adj" fmla="val 2548"/>
            </a:avLst>
          </a:prstGeom>
          <a:solidFill>
            <a:srgbClr val="FFFCF6"/>
          </a:solidFill>
          <a:effectLst>
            <a:outerShdw blurRad="379730" dist="151130" dir="5400000" algn="bl" rotWithShape="0">
              <a:srgbClr val="6A4FC8">
                <a:alpha val="40000"/>
              </a:srgbClr>
            </a:outerShdw>
          </a:effectLst>
        </p:spPr>
      </p:sp>
      <p:pic>
        <p:nvPicPr>
          <p:cNvPr id="13" name="Image 2" descr="preencoded.png"/>
          <p:cNvPicPr>
            <a:picLocks noChangeAspect="1"/>
          </p:cNvPicPr>
          <p:nvPr/>
        </p:nvPicPr>
        <p:blipFill>
          <a:blip r:embed="rId3"/>
          <a:stretch>
            <a:fillRect/>
          </a:stretch>
        </p:blipFill>
        <p:spPr>
          <a:xfrm>
            <a:off x="8381790" y="1832769"/>
            <a:ext cx="523862" cy="523875"/>
          </a:xfrm>
          <a:prstGeom prst="rect">
            <a:avLst/>
          </a:prstGeom>
        </p:spPr>
      </p:pic>
      <p:sp>
        <p:nvSpPr>
          <p:cNvPr id="14" name="Text 9"/>
          <p:cNvSpPr/>
          <p:nvPr/>
        </p:nvSpPr>
        <p:spPr>
          <a:xfrm>
            <a:off x="8381790" y="2477294"/>
            <a:ext cx="2946326"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Live product code</a:t>
            </a:r>
            <a:endParaRPr lang="en-US" sz="1850" dirty="0"/>
          </a:p>
        </p:txBody>
      </p:sp>
      <p:sp>
        <p:nvSpPr>
          <p:cNvPr id="15" name="Text 10"/>
          <p:cNvSpPr/>
          <p:nvPr/>
        </p:nvSpPr>
        <p:spPr>
          <a:xfrm>
            <a:off x="8381790" y="2908399"/>
            <a:ext cx="2946326" cy="1364853"/>
          </a:xfrm>
          <a:prstGeom prst="rect">
            <a:avLst/>
          </a:prstGeom>
          <a:noFill/>
        </p:spPr>
        <p:txBody>
          <a:bodyPr wrap="square" lIns="0" tIns="0" rIns="0" bIns="0" rtlCol="0" anchor="t">
            <a:normAutofit/>
          </a:bodyPr>
          <a:lstStyle/>
          <a:p>
            <a:pPr marL="0" indent="0" algn="l">
              <a:lnSpc>
                <a:spcPct val="117000"/>
              </a:lnSpc>
              <a:spcAft>
                <a:spcPts val="900"/>
              </a:spcAft>
              <a:buNone/>
            </a:pPr>
            <a:r>
              <a:rPr lang="en-US" sz="1400" dirty="0">
                <a:solidFill>
                  <a:srgbClr val="2B3541"/>
                </a:solidFill>
                <a:latin typeface="Funnel Sans" pitchFamily="34" charset="0"/>
                <a:ea typeface="Funnel Sans" pitchFamily="34" charset="-122"/>
                <a:cs typeface="Funnel Sans" pitchFamily="34" charset="-120"/>
              </a:rPr>
              <a:t>Live inference backend and local camera page are in place at code level.</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Demo entry: </a:t>
            </a:r>
            <a:r>
              <a:rPr lang="en-US" sz="1400" dirty="0">
                <a:solidFill>
                  <a:srgbClr val="2B3541"/>
                </a:solidFill>
                <a:highlight>
                  <a:srgbClr val="FFFCF6"/>
                </a:highlight>
                <a:latin typeface="Consolas" pitchFamily="34" charset="0"/>
                <a:ea typeface="Consolas" pitchFamily="34" charset="-122"/>
                <a:cs typeface="Consolas" pitchFamily="34" charset="-120"/>
              </a:rPr>
              <a:t>python scripts/run_camera.py --demo-exp</a:t>
            </a:r>
            <a:endParaRPr lang="en-US" sz="1400" dirty="0"/>
          </a:p>
        </p:txBody>
      </p:sp>
      <p:sp>
        <p:nvSpPr>
          <p:cNvPr id="16" name="Text 11"/>
          <p:cNvSpPr/>
          <p:nvPr/>
        </p:nvSpPr>
        <p:spPr>
          <a:xfrm>
            <a:off x="609585" y="5418733"/>
            <a:ext cx="10972526" cy="335260"/>
          </a:xfrm>
          <a:prstGeom prst="rect">
            <a:avLst/>
          </a:prstGeom>
          <a:noFill/>
        </p:spPr>
        <p:txBody>
          <a:bodyPr wrap="none" lIns="0" tIns="0" rIns="0" bIns="0" rtlCol="0" anchor="t"/>
          <a:lstStyle/>
          <a:p>
            <a:pPr marL="0" indent="0" algn="l">
              <a:lnSpc>
                <a:spcPct val="100000"/>
              </a:lnSpc>
              <a:buNone/>
            </a:pPr>
            <a:r>
              <a:rPr lang="en-US" sz="2200" kern="100" spc="-11" dirty="0">
                <a:solidFill>
                  <a:srgbClr val="B8367F"/>
                </a:solidFill>
                <a:latin typeface="Funnel Sans SemiBold" pitchFamily="34" charset="0"/>
                <a:ea typeface="Funnel Sans SemiBold" pitchFamily="34" charset="-122"/>
                <a:cs typeface="Funnel Sans SemiBold" pitchFamily="34" charset="-120"/>
              </a:rPr>
              <a:t>No formal experimental result yet (version 0.1.0).</a:t>
            </a:r>
            <a:endParaRPr lang="en-US" sz="2200" dirty="0"/>
          </a:p>
        </p:txBody>
      </p:sp>
      <p:sp>
        <p:nvSpPr>
          <p:cNvPr id="17" name="Text 12"/>
          <p:cNvSpPr/>
          <p:nvPr/>
        </p:nvSpPr>
        <p:spPr>
          <a:xfrm>
            <a:off x="609585" y="5903218"/>
            <a:ext cx="10972526"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The synthetic smoke run proves pipeline execution only. Demo weights check feasibility, not accuracy.</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Real-camera classification accuracy and latency remain unmeasured.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5EB"/>
        </a:solidFill>
        <a:effectLst/>
      </p:bgPr>
    </p:bg>
    <p:spTree>
      <p:nvGrpSpPr>
        <p:cNvPr id="1" name=""/>
        <p:cNvGrpSpPr/>
        <p:nvPr/>
      </p:nvGrpSpPr>
      <p:grpSpPr>
        <a:xfrm>
          <a:off x="0" y="0"/>
          <a:ext cx="0" cy="0"/>
          <a:chOff x="0" y="0"/>
          <a:chExt cx="0" cy="0"/>
        </a:xfrm>
      </p:grpSpPr>
      <p:sp>
        <p:nvSpPr>
          <p:cNvPr id="2" name="Text 0"/>
          <p:cNvSpPr/>
          <p:nvPr/>
        </p:nvSpPr>
        <p:spPr>
          <a:xfrm>
            <a:off x="609585" y="431800"/>
            <a:ext cx="11582110"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PROJECT ROADMAP</a:t>
            </a:r>
            <a:endParaRPr lang="en-US" sz="1200" dirty="0"/>
          </a:p>
        </p:txBody>
      </p:sp>
      <p:sp>
        <p:nvSpPr>
          <p:cNvPr id="3" name="Text 1"/>
          <p:cNvSpPr/>
          <p:nvPr/>
        </p:nvSpPr>
        <p:spPr>
          <a:xfrm>
            <a:off x="609585" y="708025"/>
            <a:ext cx="10972526" cy="484584"/>
          </a:xfrm>
          <a:prstGeom prst="rect">
            <a:avLst/>
          </a:prstGeom>
          <a:noFill/>
        </p:spPr>
        <p:txBody>
          <a:bodyPr wrap="none" lIns="0" tIns="0" rIns="0" bIns="0" rtlCol="0" anchor="t"/>
          <a:lstStyle/>
          <a:p>
            <a:pPr marL="0" indent="0" algn="l">
              <a:lnSpc>
                <a:spcPct val="88000"/>
              </a:lnSpc>
              <a:buNone/>
            </a:pPr>
            <a:r>
              <a:rPr lang="en-US" sz="3600" kern="100" spc="-36" dirty="0">
                <a:solidFill>
                  <a:srgbClr val="051D3A"/>
                </a:solidFill>
                <a:latin typeface="Funnel Display Medium" pitchFamily="34" charset="0"/>
                <a:ea typeface="Funnel Display Medium" pitchFamily="34" charset="-122"/>
                <a:cs typeface="Funnel Display Medium" pitchFamily="34" charset="-120"/>
              </a:rPr>
              <a:t>Course anchors and technical steps</a:t>
            </a:r>
            <a:endParaRPr lang="en-US" sz="3600" dirty="0"/>
          </a:p>
        </p:txBody>
      </p:sp>
      <p:sp>
        <p:nvSpPr>
          <p:cNvPr id="4" name="Text 2"/>
          <p:cNvSpPr/>
          <p:nvPr/>
        </p:nvSpPr>
        <p:spPr>
          <a:xfrm>
            <a:off x="609585" y="1398984"/>
            <a:ext cx="4206075"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COURSE ANCHORS</a:t>
            </a:r>
            <a:endParaRPr lang="en-US" sz="1200" dirty="0"/>
          </a:p>
        </p:txBody>
      </p:sp>
      <p:sp>
        <p:nvSpPr>
          <p:cNvPr id="5" name="Shape 3"/>
          <p:cNvSpPr/>
          <p:nvPr/>
        </p:nvSpPr>
        <p:spPr>
          <a:xfrm>
            <a:off x="609585" y="1710134"/>
            <a:ext cx="4206075" cy="2954238"/>
          </a:xfrm>
          <a:prstGeom prst="roundRect">
            <a:avLst>
              <a:gd name="adj" fmla="val 2979"/>
            </a:avLst>
          </a:prstGeom>
          <a:solidFill>
            <a:srgbClr val="FFFCF6"/>
          </a:solidFill>
          <a:effectLst>
            <a:outerShdw blurRad="379730" dist="151130" dir="5400000" algn="bl" rotWithShape="0">
              <a:srgbClr val="6A4FC8">
                <a:alpha val="40000"/>
              </a:srgbClr>
            </a:outerShdw>
          </a:effectLst>
        </p:spPr>
      </p:sp>
      <p:sp>
        <p:nvSpPr>
          <p:cNvPr id="6" name="Text 4"/>
          <p:cNvSpPr/>
          <p:nvPr/>
        </p:nvSpPr>
        <p:spPr>
          <a:xfrm>
            <a:off x="863578" y="1913334"/>
            <a:ext cx="3698088"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30 Sep 2026</a:t>
            </a:r>
            <a:endParaRPr lang="en-US" sz="1850" dirty="0"/>
          </a:p>
        </p:txBody>
      </p:sp>
      <p:sp>
        <p:nvSpPr>
          <p:cNvPr id="7" name="Text 5"/>
          <p:cNvSpPr/>
          <p:nvPr/>
        </p:nvSpPr>
        <p:spPr>
          <a:xfrm>
            <a:off x="863578" y="2344440"/>
            <a:ext cx="3952082"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Proposal submitted · done</a:t>
            </a:r>
            <a:endParaRPr lang="en-US" sz="1650" dirty="0"/>
          </a:p>
        </p:txBody>
      </p:sp>
      <p:sp>
        <p:nvSpPr>
          <p:cNvPr id="8" name="Text 6"/>
          <p:cNvSpPr/>
          <p:nvPr/>
        </p:nvSpPr>
        <p:spPr>
          <a:xfrm>
            <a:off x="863578" y="2825055"/>
            <a:ext cx="3698088"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6 Oct 2026</a:t>
            </a:r>
            <a:endParaRPr lang="en-US" sz="1850" dirty="0"/>
          </a:p>
        </p:txBody>
      </p:sp>
      <p:sp>
        <p:nvSpPr>
          <p:cNvPr id="9" name="Text 7"/>
          <p:cNvSpPr/>
          <p:nvPr/>
        </p:nvSpPr>
        <p:spPr>
          <a:xfrm>
            <a:off x="863578" y="3256161"/>
            <a:ext cx="3952082"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First presentation · today</a:t>
            </a:r>
            <a:endParaRPr lang="en-US" sz="1650" dirty="0"/>
          </a:p>
        </p:txBody>
      </p:sp>
      <p:sp>
        <p:nvSpPr>
          <p:cNvPr id="10" name="Text 8"/>
          <p:cNvSpPr/>
          <p:nvPr/>
        </p:nvSpPr>
        <p:spPr>
          <a:xfrm>
            <a:off x="863578" y="3736777"/>
            <a:ext cx="3698088" cy="281880"/>
          </a:xfrm>
          <a:prstGeom prst="rect">
            <a:avLst/>
          </a:prstGeom>
          <a:noFill/>
        </p:spPr>
        <p:txBody>
          <a:bodyPr wrap="none" lIns="0" tIns="0" rIns="0" bIns="0" rtlCol="0" anchor="t"/>
          <a:lstStyle/>
          <a:p>
            <a:pPr marL="0" indent="0" algn="l">
              <a:lnSpc>
                <a:spcPct val="100000"/>
              </a:lnSpc>
              <a:buNone/>
            </a:pPr>
            <a:r>
              <a:rPr lang="en-US" sz="1850" kern="100" spc="-9" dirty="0">
                <a:solidFill>
                  <a:srgbClr val="2B3541"/>
                </a:solidFill>
                <a:latin typeface="Funnel Sans SemiBold" pitchFamily="34" charset="0"/>
                <a:ea typeface="Funnel Sans SemiBold" pitchFamily="34" charset="-122"/>
                <a:cs typeface="Funnel Sans SemiBold" pitchFamily="34" charset="-120"/>
              </a:rPr>
              <a:t>31 Oct 2026</a:t>
            </a:r>
            <a:endParaRPr lang="en-US" sz="1850" dirty="0"/>
          </a:p>
        </p:txBody>
      </p:sp>
      <p:sp>
        <p:nvSpPr>
          <p:cNvPr id="11" name="Text 9"/>
          <p:cNvSpPr/>
          <p:nvPr/>
        </p:nvSpPr>
        <p:spPr>
          <a:xfrm>
            <a:off x="863578" y="4167882"/>
            <a:ext cx="3952082"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All deliverables due</a:t>
            </a:r>
            <a:endParaRPr lang="en-US" sz="1650" dirty="0"/>
          </a:p>
        </p:txBody>
      </p:sp>
      <p:sp>
        <p:nvSpPr>
          <p:cNvPr id="12" name="Text 10"/>
          <p:cNvSpPr/>
          <p:nvPr/>
        </p:nvSpPr>
        <p:spPr>
          <a:xfrm>
            <a:off x="5272749" y="1398984"/>
            <a:ext cx="6309361" cy="190500"/>
          </a:xfrm>
          <a:prstGeom prst="rect">
            <a:avLst/>
          </a:prstGeom>
          <a:noFill/>
        </p:spPr>
        <p:txBody>
          <a:bodyPr wrap="none" lIns="0" tIns="0" rIns="0" bIns="0" rtlCol="0" anchor="t"/>
          <a:lstStyle/>
          <a:p>
            <a:pPr marL="0" indent="0" algn="l">
              <a:lnSpc>
                <a:spcPct val="104000"/>
              </a:lnSpc>
              <a:buNone/>
            </a:pPr>
            <a:r>
              <a:rPr lang="en-US" sz="1200" kern="100" spc="96" dirty="0">
                <a:solidFill>
                  <a:srgbClr val="8A3FA8"/>
                </a:solidFill>
                <a:latin typeface="Funnel Sans SemiBold" pitchFamily="34" charset="0"/>
                <a:ea typeface="Funnel Sans SemiBold" pitchFamily="34" charset="-122"/>
                <a:cs typeface="Funnel Sans SemiBold" pitchFamily="34" charset="-120"/>
              </a:rPr>
              <a:t>TECHNICAL STEPS</a:t>
            </a:r>
            <a:endParaRPr lang="en-US" sz="1200" dirty="0"/>
          </a:p>
        </p:txBody>
      </p:sp>
      <p:sp>
        <p:nvSpPr>
          <p:cNvPr id="13" name="Text 11"/>
          <p:cNvSpPr/>
          <p:nvPr/>
        </p:nvSpPr>
        <p:spPr>
          <a:xfrm>
            <a:off x="5272749" y="1752005"/>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1</a:t>
            </a:r>
            <a:endParaRPr lang="en-US" sz="1650" dirty="0"/>
          </a:p>
        </p:txBody>
      </p:sp>
      <p:sp>
        <p:nvSpPr>
          <p:cNvPr id="14" name="Text 12"/>
          <p:cNvSpPr/>
          <p:nvPr/>
        </p:nvSpPr>
        <p:spPr>
          <a:xfrm>
            <a:off x="5515035" y="1710134"/>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Fix data and spot-check labels by hand</a:t>
            </a:r>
            <a:endParaRPr lang="en-US" sz="1650" dirty="0"/>
          </a:p>
        </p:txBody>
      </p:sp>
      <p:sp>
        <p:nvSpPr>
          <p:cNvPr id="15" name="Text 13"/>
          <p:cNvSpPr/>
          <p:nvPr/>
        </p:nvSpPr>
        <p:spPr>
          <a:xfrm>
            <a:off x="5272749" y="2197695"/>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2</a:t>
            </a:r>
            <a:endParaRPr lang="en-US" sz="1650" dirty="0"/>
          </a:p>
        </p:txBody>
      </p:sp>
      <p:sp>
        <p:nvSpPr>
          <p:cNvPr id="16" name="Text 14"/>
          <p:cNvSpPr/>
          <p:nvPr/>
        </p:nvSpPr>
        <p:spPr>
          <a:xfrm>
            <a:off x="5515035" y="2155825"/>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Freeze splits and manifest</a:t>
            </a:r>
            <a:endParaRPr lang="en-US" sz="1650" dirty="0"/>
          </a:p>
        </p:txBody>
      </p:sp>
      <p:sp>
        <p:nvSpPr>
          <p:cNvPr id="17" name="Text 15"/>
          <p:cNvSpPr/>
          <p:nvPr/>
        </p:nvSpPr>
        <p:spPr>
          <a:xfrm>
            <a:off x="5272749" y="2643386"/>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3</a:t>
            </a:r>
            <a:endParaRPr lang="en-US" sz="1650" dirty="0"/>
          </a:p>
        </p:txBody>
      </p:sp>
      <p:sp>
        <p:nvSpPr>
          <p:cNvPr id="18" name="Text 16"/>
          <p:cNvSpPr/>
          <p:nvPr/>
        </p:nvSpPr>
        <p:spPr>
          <a:xfrm>
            <a:off x="5515035" y="2601516"/>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Cloud YOLO training · pending clean data</a:t>
            </a:r>
            <a:endParaRPr lang="en-US" sz="1650" dirty="0"/>
          </a:p>
        </p:txBody>
      </p:sp>
      <p:sp>
        <p:nvSpPr>
          <p:cNvPr id="19" name="Text 17"/>
          <p:cNvSpPr/>
          <p:nvPr/>
        </p:nvSpPr>
        <p:spPr>
          <a:xfrm>
            <a:off x="5272749" y="3089077"/>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4</a:t>
            </a:r>
            <a:endParaRPr lang="en-US" sz="1650" dirty="0"/>
          </a:p>
        </p:txBody>
      </p:sp>
      <p:sp>
        <p:nvSpPr>
          <p:cNvPr id="20" name="Text 18"/>
          <p:cNvSpPr/>
          <p:nvPr/>
        </p:nvSpPr>
        <p:spPr>
          <a:xfrm>
            <a:off x="5515035" y="3047206"/>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Local video inference acceptance</a:t>
            </a:r>
            <a:endParaRPr lang="en-US" sz="1650" dirty="0"/>
          </a:p>
        </p:txBody>
      </p:sp>
      <p:sp>
        <p:nvSpPr>
          <p:cNvPr id="21" name="Text 19"/>
          <p:cNvSpPr/>
          <p:nvPr/>
        </p:nvSpPr>
        <p:spPr>
          <a:xfrm>
            <a:off x="5272749" y="3534767"/>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5</a:t>
            </a:r>
            <a:endParaRPr lang="en-US" sz="1650" dirty="0"/>
          </a:p>
        </p:txBody>
      </p:sp>
      <p:sp>
        <p:nvSpPr>
          <p:cNvPr id="22" name="Text 20"/>
          <p:cNvSpPr/>
          <p:nvPr/>
        </p:nvSpPr>
        <p:spPr>
          <a:xfrm>
            <a:off x="5515035" y="3492897"/>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6A4FC8"/>
                </a:solidFill>
                <a:latin typeface="Funnel Sans" pitchFamily="34" charset="0"/>
                <a:ea typeface="Funnel Sans" pitchFamily="34" charset="-122"/>
                <a:cs typeface="Funnel Sans" pitchFamily="34" charset="-120"/>
              </a:rPr>
              <a:t>Live inference service · code in place</a:t>
            </a:r>
            <a:endParaRPr lang="en-US" sz="1650" dirty="0"/>
          </a:p>
        </p:txBody>
      </p:sp>
      <p:sp>
        <p:nvSpPr>
          <p:cNvPr id="23" name="Text 21"/>
          <p:cNvSpPr/>
          <p:nvPr/>
        </p:nvSpPr>
        <p:spPr>
          <a:xfrm>
            <a:off x="5272749" y="3980458"/>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6</a:t>
            </a:r>
            <a:endParaRPr lang="en-US" sz="1650" dirty="0"/>
          </a:p>
        </p:txBody>
      </p:sp>
      <p:sp>
        <p:nvSpPr>
          <p:cNvPr id="24" name="Text 22"/>
          <p:cNvSpPr/>
          <p:nvPr/>
        </p:nvSpPr>
        <p:spPr>
          <a:xfrm>
            <a:off x="5515035" y="3938588"/>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6A4FC8"/>
                </a:solidFill>
                <a:latin typeface="Funnel Sans" pitchFamily="34" charset="0"/>
                <a:ea typeface="Funnel Sans" pitchFamily="34" charset="-122"/>
                <a:cs typeface="Funnel Sans" pitchFamily="34" charset="-120"/>
              </a:rPr>
              <a:t>Camera web page · code in place</a:t>
            </a:r>
            <a:endParaRPr lang="en-US" sz="1650" dirty="0"/>
          </a:p>
        </p:txBody>
      </p:sp>
      <p:sp>
        <p:nvSpPr>
          <p:cNvPr id="25" name="Text 23"/>
          <p:cNvSpPr/>
          <p:nvPr/>
        </p:nvSpPr>
        <p:spPr>
          <a:xfrm>
            <a:off x="5272749" y="4426148"/>
            <a:ext cx="724874" cy="209550"/>
          </a:xfrm>
          <a:prstGeom prst="rect">
            <a:avLst/>
          </a:prstGeom>
          <a:noFill/>
        </p:spPr>
        <p:txBody>
          <a:bodyPr wrap="none" lIns="0" tIns="0" rIns="0" bIns="0" rtlCol="0" anchor="t"/>
          <a:lstStyle/>
          <a:p>
            <a:pPr marL="0" indent="0" algn="l">
              <a:lnSpc>
                <a:spcPct val="83000"/>
              </a:lnSpc>
              <a:buNone/>
            </a:pPr>
            <a:r>
              <a:rPr lang="en-US" sz="1650" dirty="0">
                <a:solidFill>
                  <a:srgbClr val="B8367F"/>
                </a:solidFill>
                <a:latin typeface="Funnel Sans SemiBold" pitchFamily="34" charset="0"/>
                <a:ea typeface="Funnel Sans SemiBold" pitchFamily="34" charset="-122"/>
                <a:cs typeface="Funnel Sans SemiBold" pitchFamily="34" charset="-120"/>
              </a:rPr>
              <a:t>7</a:t>
            </a:r>
            <a:endParaRPr lang="en-US" sz="1650" dirty="0"/>
          </a:p>
        </p:txBody>
      </p:sp>
      <p:sp>
        <p:nvSpPr>
          <p:cNvPr id="26" name="Text 24"/>
          <p:cNvSpPr/>
          <p:nvPr/>
        </p:nvSpPr>
        <p:spPr>
          <a:xfrm>
            <a:off x="5515035" y="4384278"/>
            <a:ext cx="6067075" cy="293291"/>
          </a:xfrm>
          <a:prstGeom prst="rect">
            <a:avLst/>
          </a:prstGeom>
          <a:noFill/>
        </p:spPr>
        <p:txBody>
          <a:bodyPr wrap="none" lIns="0" tIns="0" rIns="0" bIns="0" rtlCol="0" anchor="t"/>
          <a:lstStyle/>
          <a:p>
            <a:pPr marL="0" indent="0" algn="l">
              <a:lnSpc>
                <a:spcPct val="117000"/>
              </a:lnSpc>
              <a:buNone/>
            </a:pPr>
            <a:r>
              <a:rPr lang="en-US" sz="1650" dirty="0">
                <a:solidFill>
                  <a:srgbClr val="2B3541"/>
                </a:solidFill>
                <a:latin typeface="Funnel Sans" pitchFamily="34" charset="0"/>
                <a:ea typeface="Funnel Sans" pitchFamily="34" charset="-122"/>
                <a:cs typeface="Funnel Sans" pitchFamily="34" charset="-120"/>
              </a:rPr>
              <a:t>Real-camera acceptance and delivery</a:t>
            </a:r>
            <a:endParaRPr lang="en-US" sz="1650" dirty="0"/>
          </a:p>
        </p:txBody>
      </p:sp>
      <p:sp>
        <p:nvSpPr>
          <p:cNvPr id="27" name="Text 25"/>
          <p:cNvSpPr/>
          <p:nvPr/>
        </p:nvSpPr>
        <p:spPr>
          <a:xfrm>
            <a:off x="609585" y="5928519"/>
            <a:ext cx="10972526" cy="497681"/>
          </a:xfrm>
          <a:prstGeom prst="rect">
            <a:avLst/>
          </a:prstGeom>
          <a:noFill/>
        </p:spPr>
        <p:txBody>
          <a:bodyPr wrap="square" lIns="0" tIns="0" rIns="0" bIns="0" rtlCol="0" anchor="t">
            <a:normAutofit/>
          </a:bodyPr>
          <a:lstStyle/>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Code in place does not imply real-camera acceptance.</a:t>
            </a:r>
            <a:endParaRPr lang="en-US" sz="1400" dirty="0"/>
          </a:p>
          <a:p>
            <a:pPr marL="0" indent="0" algn="l">
              <a:lnSpc>
                <a:spcPct val="117000"/>
              </a:lnSpc>
              <a:buNone/>
            </a:pPr>
            <a:r>
              <a:rPr lang="en-US" sz="1400" dirty="0">
                <a:solidFill>
                  <a:srgbClr val="2B3541"/>
                </a:solidFill>
                <a:latin typeface="Funnel Sans" pitchFamily="34" charset="0"/>
                <a:ea typeface="Funnel Sans" pitchFamily="34" charset="-122"/>
                <a:cs typeface="Funnel Sans" pitchFamily="34" charset="-120"/>
              </a:rPr>
              <a:t>The validated pipeline stays the final deliverable if time runs short.</a:t>
            </a:r>
            <a:endParaRPr lang="en-US" sz="1400" dirty="0"/>
          </a:p>
        </p:txBody>
      </p:sp>
    </p:spTree>
  </p:cSld>
  <p:clrMapOvr>
    <a:masterClrMapping/>
  </p:clrMapOvr>
</p:sld>
</file>

<file path=ppt/tags/tag1.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2.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3.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4.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5.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6.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7.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8.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9.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10.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11.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ags/tag12.xml><?xml version="1.0" encoding="utf-8"?>
<p:tagLst xmlns:p="http://schemas.openxmlformats.org/presentationml/2006/main">
  <p:tag name="KSO_WM_DIAGRAM_VIRTUALLY_FRAME" val="{&quot;height&quot;:173.08590551181103,&quot;left&quot;:47.9988188976378,&quot;top&quot;:112.15622047244094,&quot;width&quot;:863.978425196850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5899</Words>
  <Application>WPS 演示</Application>
  <PresentationFormat>On-screen Show (16:9)</PresentationFormat>
  <Paragraphs>322</Paragraphs>
  <Slides>10</Slides>
  <Notes>10</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10</vt:i4>
      </vt:variant>
    </vt:vector>
  </HeadingPairs>
  <TitlesOfParts>
    <vt:vector size="38" baseType="lpstr">
      <vt:lpstr>Arial</vt:lpstr>
      <vt:lpstr>宋体</vt:lpstr>
      <vt:lpstr>Wingdings</vt:lpstr>
      <vt:lpstr>Funnel Sans SemiBold</vt:lpstr>
      <vt:lpstr>Funnel Sans SemiBold</vt:lpstr>
      <vt:lpstr>Funnel Sans SemiBold</vt:lpstr>
      <vt:lpstr>Funnel Display Medium</vt:lpstr>
      <vt:lpstr>Funnel Display Medium</vt:lpstr>
      <vt:lpstr>Funnel Display Medium</vt:lpstr>
      <vt:lpstr>Funnel Sans</vt:lpstr>
      <vt:lpstr>Funnel Sans</vt:lpstr>
      <vt:lpstr>Funnel Sans</vt:lpstr>
      <vt:lpstr>Funnel Display SemiBold</vt:lpstr>
      <vt:lpstr>Funnel Display SemiBold</vt:lpstr>
      <vt:lpstr>Funnel Display SemiBold</vt:lpstr>
      <vt:lpstr>Consolas</vt:lpstr>
      <vt:lpstr>苹方-简</vt:lpstr>
      <vt:lpstr>Consolas</vt:lpstr>
      <vt:lpstr>Consolas</vt:lpstr>
      <vt:lpstr>Calibri</vt:lpstr>
      <vt:lpstr>Helvetica Neue</vt:lpstr>
      <vt:lpstr>微软雅黑</vt:lpstr>
      <vt:lpstr>方正雅意黑 GB18030L2</vt:lpstr>
      <vt:lpstr>宋体</vt:lpstr>
      <vt:lpstr>Arial Unicode MS</vt:lpstr>
      <vt:lpstr>汉仪书宋二KW</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WPS_1644542747</cp:lastModifiedBy>
  <cp:revision>2</cp:revision>
  <dcterms:created xsi:type="dcterms:W3CDTF">2026-10-04T06:03:30Z</dcterms:created>
  <dcterms:modified xsi:type="dcterms:W3CDTF">2026-10-04T06:03:30Z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CA01EBB36DC2135B32ECC16A9E0DB254_43</vt:lpwstr>
  </property>
  <property fmtid="{D5CDD505-2E9C-101B-9397-08002B2CF9AE}" pid="3" name="KSOProductBuildVer">
    <vt:lpwstr>2052-12.1.28496.28496</vt:lpwstr>
  </property>
</Properties>
</file>