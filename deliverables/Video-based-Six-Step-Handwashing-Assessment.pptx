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6" r:id="rId9"/>
    <p:sldId id="263" r:id="rId10"/>
    <p:sldId id="264" r:id="rId11"/>
    <p:sldId id="265" r:id="rId12"/>
  </p:sldIdLst>
  <p:sldSz cx="12192000" cy="6858000"/>
  <p:notesSz cx="6858000" cy="12192000"/>
  <p:embeddedFontLst>
    <p:embeddedFont>
      <p:font typeface="Consolas" panose="020B0609020204030204" pitchFamily="49" charset="0"/>
      <p:regular r:id="rId14"/>
      <p:bold r:id="rId15"/>
      <p:italic r:id="rId16"/>
      <p:boldItalic r:id="rId17"/>
    </p:embeddedFont>
    <p:embeddedFont>
      <p:font typeface="Funnel Display Medium" pitchFamily="2" charset="0"/>
      <p:regular r:id="rId18"/>
    </p:embeddedFont>
    <p:embeddedFont>
      <p:font typeface="Funnel Display SemiBold" pitchFamily="2" charset="0"/>
      <p:regular r:id="rId19"/>
      <p:bold r:id="rId20"/>
    </p:embeddedFont>
    <p:embeddedFont>
      <p:font typeface="Funnel Sans" pitchFamily="2" charset="0"/>
      <p:regular r:id="rId21"/>
    </p:embeddedFont>
    <p:embeddedFont>
      <p:font typeface="Funnel Sans SemiBold" pitchFamily="2" charset="0"/>
      <p:regular r:id="rId22"/>
      <p:bold r:id="rId2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F5E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774"/>
    <p:restoredTop sz="94610"/>
  </p:normalViewPr>
  <p:slideViewPr>
    <p:cSldViewPr snapToGrid="0" snapToObjects="1">
      <p:cViewPr varScale="1">
        <p:scale>
          <a:sx n="90" d="100"/>
          <a:sy n="90" d="100"/>
        </p:scale>
        <p:origin x="224" y="41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10/5/26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four owners and the current delivery: cloud training with local camera inference. This first presentation covers goals, data, techniques and progress.
Source: https://github.com/Frostash030612/handwash-who-six-step/blob/8d7269c/docs/IMPLEMENTATION_PLAN.zh-CN.md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names are shortened for presentation. Step 2 involves palm over dorsum with fingers interlaced. Step 3 has opposing palms with interlaced fingers. Step 4 uses the backs of fingers against an opposing palm with fingers interlocked. PSKUS also labels other movements and turning off the faucet. The system must preserve missing, reordered or repeated actions rather than force a fixed six-step sequence.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formal target uses eight PSKUS classes. Report the six rubbing steps separately. No formal experimental result is available.
Source: https://github.com/Frostash030612/handwash-who-six-step/blob/8d7269c/docs/PROJECT_PROPOSAL.md
Source: https://github.com/Frostash030612/handwash-who-six-step/blob/8d7269c/configs/experiments/live_yolo_frame.yaml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PSKUS is the main training source. The current demo model (exp.pt) and its GRU temporal head use PSKUS DataSet1 and DataSet4: 153 videos with two independent annotations, split by video into 107 training, 23 validation and 23 test videos. METC and self-recorded clips provide separate evaluation settings; METC and Kaggle are not downloaded yet. Source totals are not a claim that all files are downloaded or processed.
Source: https://github.com/Frostash030612/handwash-who-six-step/blob/8d7269c/docs/DATA.md
Source: https://github.com/Frostash030612/handwash-who-six-step/blob/8d7269c/docs/SELF_RECORDING.md
Source: https://github.com/Frostash030612/handwash-who-six-step/blob/5dc878c/docs/zh/DATA.md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split is a planned 70/15/15 starting point with a fixed seed and no source-video leakage. Identity grouping is preferred when trustworthy IDs exist. Every sampled frame retains its own label and real timestamp. Short sequences here preserve data order and action boundaries; the mainline classifier trains on individual frames.
Source: https://github.com/Frostash030612/handwash-who-six-step/blob/8d7269c/docs/IMPLEMENTATION_PLAN.zh-CN.md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boxes show the planned formal configuration (live_yolo_frame.yaml): YOLO26n-cls at 224 px with frame training; this run has not been done yet. Today's demo uses exp.pt, an earlier cloud run: YOLO26m-cls at 320 px, trained on 22 September 2026 on 3,250 consensus frames from DataSet1 and DataSet4, with 85.1% top-1 on validation frames where both annotators agree. A GRU temporal head is trained on frozen exp.pt features and reads past frames only; when it is loaded, the live service does not apply the 9-frame probability average.
Source: https://github.com/Frostash030612/handwash-who-six-step/blob/8d7269c/docs/IMPLEMENTATION_PLAN.zh-CN.md
Source: https://github.com/Frostash030612/handwash-who-six-step/blob/8d7269c/configs/experiments/live_yolo_frame.yaml
Source: https://github.com/Frostash030612/handwash-who-six-step/blob/5dc878c/src/handwash/pipelines/exp_demo.py
Source: https://github.com/Frostash030612/handwash-who-six-step/blob/5dc878c/scripts/train_exp_temporal_head.py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backend and camera page run locally with the demo model (exp.pt + GRU temporal head). The input can be a camera or a local video for offline validation. The four blocks describe the implemented interaction rather than measured performance. Live results use only frames received so far; the final report is computed when the session stops. The demonstration entry is python scripts/run_camera.py --demo-exp.
Source: https://github.com/Frostash030612/handwash-who-six-step/blob/8d7269c/docs/IMPLEMENTATION_PLAN.zh-CN.md
Source: https://github.com/Frostash030612/handwash-who-six-step/blob/8d7269c/README.md
Source: https://github.com/Frostash030612/handwash-who-six-step/blob/5dc878c/docs/IMPLEMENTATION_PLAN.zh-CN.md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local web interface on the public PSKUS clip 2020-06-30_03-29-53_camera102, loaded as a local video; the model combines exp.pt with exp_temporal_head.pt. The displayed actions and per-step durations (5.0 to 8.0 s) are model outputs, not ground truth. Right: the final report from the same clip. All six steps are detected in the correct order, with an overall score of 95. One issue is flagged: 37.2 s of rubbing, below the 40 s WHO recommendation, in a 60.6 s session. Score = 0.5 x coverage + 0.3 x order + 0.2 x duration. The clip was not used for training. It illustrates the workflow and does not demonstrate generalization to a new camera; the score is not a model accuracy measure.
Source: local screenshots of the project's camera page; original clip 2020-06-30_03-29-53_camera102.mp4 in the local PSKUS demo set.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reuse one checkpoint and compare label-change counts as well as recognition and latency. C/D train separate controlled temporal models. A first D-group model, a GRU head on frozen exp.pt features, already runs in the demo: on the 23 test videos, agreement on frames where all annotators agree rose from 87.0% (exp.pt with 9-frame averaging) to 93.6%, and false order flags fell from 2 videos to 1. These are preliminary results on two PSKUS shards, not the full controlled comparison. Evaluate eight PSKUS classes and report the six rubbing steps separately. Report PSKUS, METC and self-recorded results independently. Match segment labels and temporal overlap for segment F1.
Source: https://github.com/Frostash030612/handwash-who-six-step/blob/8d7269c/docs/EXPERIMENTS.md
Source: https://github.com/Frostash030612/handwash-who-six-step/blob/8d7269c/docs/IMPLEMENTATION_PLAN.zh-CN.md
Source: https://github.com/Frostash030612/handwash-who-six-step/blob/5dc878c/scripts/train_exp_temporal_head.py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396 is the documented contract-test count in CHANGELOG, not a newly measured test result. A CI workflow exists, but its latest remote execution status has not been independently confirmed. No formal result under the experiment protocol exists yet. The demo-model numbers (85.1% top-1 on consensus validation frames; 87.0% to 93.6% frame agreement with the GRU head on 23 test videos) are preliminary.
Source: https://github.com/Frostash030612/handwash-who-six-step/blob/8d7269c/CHANGELOG.md
Source: https://github.com/Frostash030612/handwash-who-six-step/blob/8d7269c/docs/EXPERIMENTS.md
Source: https://github.com/Frostash030612/handwash-who-six-step/blob/8d7269c/docs/IMPLEMENTATION_PLAN.zh-CN.md
Source: https://github.com/Frostash030612/handwash-who-six-step/blob/5dc878c/CHANGELOG.md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execution order is data quality, formal cloud training, local video validation, then real-camera acceptance. A first cloud model (exp.pt, trained on 22 September 2026) and a GRU temporal head already exist and power the demo; the formal training run on the frozen, cleaned splits is still pending.
Source: https://github.com/Frostash030612/handwash-who-six-step/blob/8d7269c/docs/IMPLEMENTATION_PLAN.zh-CN.md
Source: https://github.com/Frostash030612/handwash-who-six-step/blob/8d7269c/docs/PROJECT_PLAN_4_WEEK.md
Source: https://github.com/Frostash030612/handwash-who-six-step/blob/5dc878c/docs/IMPLEMENTATION_PLAN.zh-CN.md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tags" Target="../tags/tag12.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5" Type="http://schemas.openxmlformats.org/officeDocument/2006/relationships/image" Target="../media/image3.png"/><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1625559" y="1460500"/>
            <a:ext cx="8940576" cy="3810000"/>
          </a:xfrm>
          <a:prstGeom prst="roundRect">
            <a:avLst>
              <a:gd name="adj" fmla="val 2310"/>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4" name="Text 1"/>
          <p:cNvSpPr/>
          <p:nvPr/>
        </p:nvSpPr>
        <p:spPr>
          <a:xfrm>
            <a:off x="2031949" y="1765300"/>
            <a:ext cx="8737381"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FIRST PRESENTATION</a:t>
            </a:r>
            <a:endParaRPr lang="en-US" sz="1200" dirty="0"/>
          </a:p>
        </p:txBody>
      </p:sp>
      <p:sp>
        <p:nvSpPr>
          <p:cNvPr id="5" name="Text 2"/>
          <p:cNvSpPr/>
          <p:nvPr/>
        </p:nvSpPr>
        <p:spPr>
          <a:xfrm>
            <a:off x="2031949" y="2041525"/>
            <a:ext cx="8127797" cy="1022945"/>
          </a:xfrm>
          <a:prstGeom prst="rect">
            <a:avLst/>
          </a:prstGeom>
          <a:noFill/>
        </p:spPr>
        <p:txBody>
          <a:bodyPr wrap="square" lIns="0" tIns="0" rIns="0" bIns="0" rtlCol="0" anchor="t">
            <a:normAutofit/>
          </a:bodyPr>
          <a:lstStyle/>
          <a:p>
            <a:pPr marL="0" indent="0" algn="l">
              <a:lnSpc>
                <a:spcPct val="88000"/>
              </a:lnSpc>
              <a:buNone/>
            </a:pPr>
            <a:r>
              <a:rPr lang="en-US" sz="3800" kern="100" spc="-38" dirty="0">
                <a:solidFill>
                  <a:srgbClr val="2B3541"/>
                </a:solidFill>
                <a:latin typeface="Funnel Display Medium" pitchFamily="34" charset="0"/>
                <a:ea typeface="Funnel Display Medium" pitchFamily="34" charset="-122"/>
                <a:cs typeface="Funnel Display Medium" pitchFamily="34" charset="-120"/>
              </a:rPr>
              <a:t>Video-based Six-Step</a:t>
            </a:r>
            <a:endParaRPr lang="en-US" sz="3800" dirty="0"/>
          </a:p>
          <a:p>
            <a:pPr marL="0" indent="0" algn="l">
              <a:lnSpc>
                <a:spcPct val="88000"/>
              </a:lnSpc>
              <a:buNone/>
            </a:pPr>
            <a:r>
              <a:rPr lang="en-US" sz="3800" kern="100" spc="-38" dirty="0">
                <a:solidFill>
                  <a:srgbClr val="2B3541"/>
                </a:solidFill>
                <a:latin typeface="Funnel Display Medium" pitchFamily="34" charset="0"/>
                <a:ea typeface="Funnel Display Medium" pitchFamily="34" charset="-122"/>
                <a:cs typeface="Funnel Display Medium" pitchFamily="34" charset="-120"/>
              </a:rPr>
              <a:t>Handwashing Assessment</a:t>
            </a:r>
            <a:endParaRPr lang="en-US" sz="3800" dirty="0"/>
          </a:p>
        </p:txBody>
      </p:sp>
      <p:sp>
        <p:nvSpPr>
          <p:cNvPr id="6" name="Text 3"/>
          <p:cNvSpPr/>
          <p:nvPr/>
        </p:nvSpPr>
        <p:spPr>
          <a:xfrm>
            <a:off x="2031949" y="3270845"/>
            <a:ext cx="8737381" cy="337741"/>
          </a:xfrm>
          <a:prstGeom prst="rect">
            <a:avLst/>
          </a:prstGeom>
          <a:noFill/>
        </p:spPr>
        <p:txBody>
          <a:bodyPr wrap="none" lIns="0" tIns="0" rIns="0" bIns="0" rtlCol="0" anchor="t"/>
          <a:lstStyle/>
          <a:p>
            <a:pPr marL="0" indent="0" algn="l">
              <a:lnSpc>
                <a:spcPct val="117000"/>
              </a:lnSpc>
              <a:buNone/>
            </a:pPr>
            <a:r>
              <a:rPr lang="en-US" sz="1900" dirty="0">
                <a:solidFill>
                  <a:srgbClr val="2B3541"/>
                </a:solidFill>
                <a:latin typeface="Funnel Sans" pitchFamily="34" charset="0"/>
                <a:ea typeface="Funnel Sans" pitchFamily="34" charset="-122"/>
                <a:cs typeface="Funnel Sans" pitchFamily="34" charset="-120"/>
              </a:rPr>
              <a:t>Live action recognition and six-step completeness reports</a:t>
            </a:r>
            <a:endParaRPr lang="en-US" sz="1900" dirty="0"/>
          </a:p>
        </p:txBody>
      </p:sp>
      <p:sp>
        <p:nvSpPr>
          <p:cNvPr id="7" name="Text 4"/>
          <p:cNvSpPr/>
          <p:nvPr/>
        </p:nvSpPr>
        <p:spPr>
          <a:xfrm>
            <a:off x="2031949" y="3795911"/>
            <a:ext cx="8737381" cy="214313"/>
          </a:xfrm>
          <a:prstGeom prst="rect">
            <a:avLst/>
          </a:prstGeom>
          <a:noFill/>
        </p:spPr>
        <p:txBody>
          <a:bodyPr wrap="non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Group 43 · 6 October 2026</a:t>
            </a:r>
            <a:endParaRPr lang="en-US" sz="1250" dirty="0"/>
          </a:p>
        </p:txBody>
      </p:sp>
      <p:sp>
        <p:nvSpPr>
          <p:cNvPr id="8" name="Text 5"/>
          <p:cNvSpPr/>
          <p:nvPr/>
        </p:nvSpPr>
        <p:spPr>
          <a:xfrm>
            <a:off x="2031949" y="4197548"/>
            <a:ext cx="3911502"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ea typeface="Funnel Sans" pitchFamily="34" charset="-122"/>
                <a:cs typeface="Times New Roman" panose="02020603050405020304" pitchFamily="18" charset="0"/>
              </a:rPr>
              <a:t>Shen Ziyi — Data &amp; evaluation</a:t>
            </a:r>
            <a:endParaRPr lang="en-US" sz="1400" dirty="0">
              <a:cs typeface="Times New Roman" panose="02020603050405020304" pitchFamily="18" charset="0"/>
            </a:endParaRPr>
          </a:p>
          <a:p>
            <a:pPr marL="0" indent="0" algn="l">
              <a:lnSpc>
                <a:spcPct val="117000"/>
              </a:lnSpc>
              <a:buNone/>
            </a:pPr>
            <a:r>
              <a:rPr lang="en-US" sz="1400" dirty="0">
                <a:solidFill>
                  <a:srgbClr val="2B3541"/>
                </a:solidFill>
                <a:ea typeface="Funnel Sans" pitchFamily="34" charset="-122"/>
                <a:cs typeface="Times New Roman" panose="02020603050405020304" pitchFamily="18" charset="0"/>
              </a:rPr>
              <a:t>Wang Lepeng — Model &amp; training</a:t>
            </a:r>
            <a:endParaRPr lang="en-US" sz="1400" dirty="0">
              <a:cs typeface="Times New Roman" panose="02020603050405020304" pitchFamily="18" charset="0"/>
            </a:endParaRPr>
          </a:p>
        </p:txBody>
      </p:sp>
      <p:sp>
        <p:nvSpPr>
          <p:cNvPr id="9" name="Text 6"/>
          <p:cNvSpPr/>
          <p:nvPr/>
        </p:nvSpPr>
        <p:spPr>
          <a:xfrm>
            <a:off x="6248244" y="4197548"/>
            <a:ext cx="3911502"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ea typeface="Funnel Sans" pitchFamily="34" charset="-122"/>
                <a:cs typeface="Funnel Sans" pitchFamily="34" charset="-120"/>
              </a:rPr>
              <a:t>Zhu Jianyu — Temporal &amp; rules</a:t>
            </a:r>
            <a:endParaRPr lang="en-US" sz="1400" dirty="0"/>
          </a:p>
          <a:p>
            <a:pPr marL="0" indent="0" algn="l">
              <a:lnSpc>
                <a:spcPct val="117000"/>
              </a:lnSpc>
              <a:buNone/>
            </a:pPr>
            <a:r>
              <a:rPr lang="en-US" sz="1400" dirty="0">
                <a:solidFill>
                  <a:srgbClr val="2B3541"/>
                </a:solidFill>
                <a:ea typeface="Funnel Sans" pitchFamily="34" charset="-122"/>
                <a:cs typeface="Funnel Sans" pitchFamily="34" charset="-120"/>
              </a:rPr>
              <a:t>Xu Wenzhe — Product, demo &amp; delivery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sp>
        <p:nvSpPr>
          <p:cNvPr id="2" name="Text 0"/>
          <p:cNvSpPr/>
          <p:nvPr/>
        </p:nvSpPr>
        <p:spPr>
          <a:xfrm>
            <a:off x="609585" y="609600"/>
            <a:ext cx="6705432"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CLINICAL MOTIVATION</a:t>
            </a:r>
            <a:endParaRPr lang="en-US" sz="1200" dirty="0"/>
          </a:p>
        </p:txBody>
      </p:sp>
      <p:sp>
        <p:nvSpPr>
          <p:cNvPr id="3" name="Text 1"/>
          <p:cNvSpPr/>
          <p:nvPr/>
        </p:nvSpPr>
        <p:spPr>
          <a:xfrm>
            <a:off x="609585" y="885825"/>
            <a:ext cx="6349841" cy="969169"/>
          </a:xfrm>
          <a:prstGeom prst="rect">
            <a:avLst/>
          </a:prstGeom>
          <a:noFill/>
        </p:spPr>
        <p:txBody>
          <a:bodyPr wrap="square" lIns="0" tIns="0" rIns="0" bIns="0" rtlCol="0" anchor="t">
            <a:normAutofit/>
          </a:bodyPr>
          <a:lstStyle/>
          <a:p>
            <a:pPr marL="0" indent="0" algn="l">
              <a:lnSpc>
                <a:spcPct val="88000"/>
              </a:lnSpc>
              <a:buNone/>
            </a:pPr>
            <a:r>
              <a:rPr lang="en-US" sz="3600" kern="100" spc="-36" dirty="0">
                <a:solidFill>
                  <a:srgbClr val="051D3A"/>
                </a:solidFill>
                <a:latin typeface="Funnel Display Medium" pitchFamily="34" charset="0"/>
                <a:ea typeface="Funnel Display Medium" pitchFamily="34" charset="-122"/>
                <a:cs typeface="Funnel Display Medium" pitchFamily="34" charset="-120"/>
              </a:rPr>
              <a:t>Why analyze the whole washing process?</a:t>
            </a:r>
            <a:endParaRPr lang="en-US" sz="3600" dirty="0"/>
          </a:p>
        </p:txBody>
      </p:sp>
      <p:sp>
        <p:nvSpPr>
          <p:cNvPr id="4" name="Shape 2"/>
          <p:cNvSpPr/>
          <p:nvPr/>
        </p:nvSpPr>
        <p:spPr>
          <a:xfrm>
            <a:off x="609585" y="2812653"/>
            <a:ext cx="6349841" cy="1615380"/>
          </a:xfrm>
          <a:prstGeom prst="roundRect">
            <a:avLst>
              <a:gd name="adj" fmla="val 5448"/>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5" name="Text 3"/>
          <p:cNvSpPr/>
          <p:nvPr/>
        </p:nvSpPr>
        <p:spPr>
          <a:xfrm>
            <a:off x="939776" y="3117453"/>
            <a:ext cx="5689458" cy="1005780"/>
          </a:xfrm>
          <a:prstGeom prst="rect">
            <a:avLst/>
          </a:prstGeom>
          <a:noFill/>
        </p:spPr>
        <p:txBody>
          <a:bodyPr wrap="square" lIns="0" tIns="0" rIns="0" bIns="0" rtlCol="0" anchor="t">
            <a:normAutofit lnSpcReduction="10000"/>
          </a:bodyPr>
          <a:lstStyle/>
          <a:p>
            <a:pPr marL="0" indent="0" algn="l">
              <a:lnSpc>
                <a:spcPct val="100000"/>
              </a:lnSpc>
              <a:buNone/>
            </a:pPr>
            <a:r>
              <a:rPr lang="en-US" sz="2200" kern="100" spc="-11" dirty="0">
                <a:solidFill>
                  <a:srgbClr val="2B3541"/>
                </a:solidFill>
                <a:latin typeface="Funnel Sans SemiBold" pitchFamily="34" charset="0"/>
                <a:ea typeface="Funnel Sans SemiBold" pitchFamily="34" charset="-122"/>
                <a:cs typeface="Funnel Sans SemiBold" pitchFamily="34" charset="-120"/>
              </a:rPr>
              <a:t>A useful review needs to show which actions happened, when they happened, and which steps were not detected.</a:t>
            </a:r>
            <a:endParaRPr lang="en-US" sz="2200" dirty="0"/>
          </a:p>
        </p:txBody>
      </p:sp>
      <p:sp>
        <p:nvSpPr>
          <p:cNvPr id="6" name="Text 4"/>
          <p:cNvSpPr/>
          <p:nvPr/>
        </p:nvSpPr>
        <p:spPr>
          <a:xfrm>
            <a:off x="609585" y="4615359"/>
            <a:ext cx="6349841" cy="675481"/>
          </a:xfrm>
          <a:prstGeom prst="rect">
            <a:avLst/>
          </a:prstGeom>
          <a:noFill/>
        </p:spPr>
        <p:txBody>
          <a:bodyPr wrap="square" lIns="0" tIns="0" rIns="0" bIns="0" rtlCol="0" anchor="t">
            <a:normAutofit/>
          </a:bodyPr>
          <a:lstStyle/>
          <a:p>
            <a:pPr marL="0" indent="0" algn="l">
              <a:lnSpc>
                <a:spcPct val="117000"/>
              </a:lnSpc>
              <a:buNone/>
            </a:pPr>
            <a:r>
              <a:rPr lang="en-US" sz="1900" dirty="0">
                <a:solidFill>
                  <a:srgbClr val="2B3541"/>
                </a:solidFill>
                <a:latin typeface="Funnel Sans" pitchFamily="34" charset="0"/>
                <a:ea typeface="Funnel Sans" pitchFamily="34" charset="-122"/>
                <a:cs typeface="Funnel Sans" pitchFamily="34" charset="-120"/>
              </a:rPr>
              <a:t>We propose a video-based tool that turns these observations into feedback a user can check.</a:t>
            </a:r>
            <a:endParaRPr lang="en-US" sz="1900" dirty="0"/>
          </a:p>
        </p:txBody>
      </p:sp>
      <p:sp>
        <p:nvSpPr>
          <p:cNvPr id="7" name="Text 5"/>
          <p:cNvSpPr/>
          <p:nvPr/>
        </p:nvSpPr>
        <p:spPr>
          <a:xfrm>
            <a:off x="7619809" y="1363067"/>
            <a:ext cx="4571886"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THE CHALLENGE</a:t>
            </a:r>
            <a:endParaRPr lang="en-US" sz="1200" dirty="0"/>
          </a:p>
        </p:txBody>
      </p:sp>
      <p:sp>
        <p:nvSpPr>
          <p:cNvPr id="8" name="Text 6"/>
          <p:cNvSpPr/>
          <p:nvPr/>
        </p:nvSpPr>
        <p:spPr>
          <a:xfrm>
            <a:off x="7619809" y="1639292"/>
            <a:ext cx="4013100" cy="670520"/>
          </a:xfrm>
          <a:prstGeom prst="rect">
            <a:avLst/>
          </a:prstGeom>
          <a:noFill/>
        </p:spPr>
        <p:txBody>
          <a:bodyPr wrap="square" lIns="0" tIns="0" rIns="0" bIns="0" rtlCol="0" anchor="t">
            <a:normAutofit lnSpcReduction="10000"/>
          </a:bodyPr>
          <a:lstStyle/>
          <a:p>
            <a:pPr marL="0" indent="0" algn="l">
              <a:lnSpc>
                <a:spcPct val="100000"/>
              </a:lnSpc>
              <a:buNone/>
            </a:pPr>
            <a:r>
              <a:rPr lang="en-US" sz="2200" kern="100" spc="-11" dirty="0">
                <a:solidFill>
                  <a:srgbClr val="051D3A"/>
                </a:solidFill>
                <a:latin typeface="Funnel Sans SemiBold" pitchFamily="34" charset="0"/>
                <a:ea typeface="Funnel Sans SemiBold" pitchFamily="34" charset="-122"/>
                <a:cs typeface="Funnel Sans SemiBold" pitchFamily="34" charset="-120"/>
              </a:rPr>
              <a:t>Similar hand movements can look almost identical.</a:t>
            </a:r>
            <a:endParaRPr lang="en-US" sz="2200" dirty="0"/>
          </a:p>
        </p:txBody>
      </p:sp>
      <p:sp>
        <p:nvSpPr>
          <p:cNvPr id="9" name="Text 7"/>
          <p:cNvSpPr/>
          <p:nvPr/>
        </p:nvSpPr>
        <p:spPr>
          <a:xfrm>
            <a:off x="7619809" y="2459038"/>
            <a:ext cx="4013100" cy="586581"/>
          </a:xfrm>
          <a:prstGeom prst="rect">
            <a:avLst/>
          </a:prstGeom>
          <a:noFill/>
        </p:spPr>
        <p:txBody>
          <a:bodyPr wrap="square" lIns="0" tIns="0" rIns="0" bIns="0" rtlCol="0" anchor="t">
            <a:normAutofit/>
          </a:bodyPr>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Hands may overlap, and people may skip or repeat a step.</a:t>
            </a:r>
            <a:endParaRPr lang="en-US" sz="1650" dirty="0"/>
          </a:p>
        </p:txBody>
      </p:sp>
      <p:pic>
        <p:nvPicPr>
          <p:cNvPr id="10" name="Image 0" descr="preencoded.png"/>
          <p:cNvPicPr>
            <a:picLocks noChangeAspect="1"/>
          </p:cNvPicPr>
          <p:nvPr/>
        </p:nvPicPr>
        <p:blipFill>
          <a:blip r:embed="rId3"/>
          <a:stretch>
            <a:fillRect/>
          </a:stretch>
        </p:blipFill>
        <p:spPr>
          <a:xfrm>
            <a:off x="7619809" y="3232944"/>
            <a:ext cx="4013100" cy="226208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sp>
        <p:nvSpPr>
          <p:cNvPr id="2" name="Text 0"/>
          <p:cNvSpPr/>
          <p:nvPr/>
        </p:nvSpPr>
        <p:spPr>
          <a:xfrm>
            <a:off x="609585" y="457200"/>
            <a:ext cx="1158211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PROJECT SCOPE</a:t>
            </a:r>
            <a:endParaRPr lang="en-US" sz="1200" dirty="0"/>
          </a:p>
        </p:txBody>
      </p:sp>
      <p:sp>
        <p:nvSpPr>
          <p:cNvPr id="3" name="Text 1"/>
          <p:cNvSpPr/>
          <p:nvPr/>
        </p:nvSpPr>
        <p:spPr>
          <a:xfrm>
            <a:off x="609585" y="733425"/>
            <a:ext cx="10972526" cy="484584"/>
          </a:xfrm>
          <a:prstGeom prst="rect">
            <a:avLst/>
          </a:prstGeom>
          <a:noFill/>
        </p:spPr>
        <p:txBody>
          <a:bodyPr wrap="none" lIns="0" tIns="0" rIns="0" bIns="0" rtlCol="0" anchor="t"/>
          <a:lstStyle/>
          <a:p>
            <a:pPr marL="0" indent="0" algn="l">
              <a:lnSpc>
                <a:spcPct val="88000"/>
              </a:lnSpc>
              <a:buNone/>
            </a:pPr>
            <a:r>
              <a:rPr lang="en-US" sz="3600" kern="100" spc="-36" dirty="0">
                <a:solidFill>
                  <a:srgbClr val="051D3A"/>
                </a:solidFill>
                <a:latin typeface="Funnel Display Medium" pitchFamily="34" charset="0"/>
                <a:ea typeface="Funnel Display Medium" pitchFamily="34" charset="-122"/>
                <a:cs typeface="Funnel Display Medium" pitchFamily="34" charset="-120"/>
              </a:rPr>
              <a:t>What the project aims to deliver</a:t>
            </a:r>
            <a:endParaRPr lang="en-US" sz="3600" dirty="0"/>
          </a:p>
        </p:txBody>
      </p:sp>
      <p:sp>
        <p:nvSpPr>
          <p:cNvPr id="4" name="Shape 2"/>
          <p:cNvSpPr/>
          <p:nvPr>
            <p:custDataLst>
              <p:tags r:id="rId1"/>
            </p:custDataLst>
          </p:nvPr>
        </p:nvSpPr>
        <p:spPr>
          <a:xfrm>
            <a:off x="609585" y="1424384"/>
            <a:ext cx="5333867" cy="2198191"/>
          </a:xfrm>
          <a:prstGeom prst="roundRect">
            <a:avLst>
              <a:gd name="adj" fmla="val 4004"/>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5" name="Shape 3"/>
          <p:cNvSpPr/>
          <p:nvPr>
            <p:custDataLst>
              <p:tags r:id="rId2"/>
            </p:custDataLst>
          </p:nvPr>
        </p:nvSpPr>
        <p:spPr>
          <a:xfrm>
            <a:off x="888978" y="1652984"/>
            <a:ext cx="2395676" cy="584200"/>
          </a:xfrm>
          <a:prstGeom prst="roundRect">
            <a:avLst>
              <a:gd name="adj" fmla="val 49999"/>
            </a:avLst>
          </a:prstGeom>
          <a:solidFill>
            <a:srgbClr val="7FD6D2"/>
          </a:solidFill>
          <a:effectLst>
            <a:outerShdw blurRad="125730" dist="127" dir="16200000" algn="bl" rotWithShape="0">
              <a:srgbClr val="6A4FC8">
                <a:alpha val="20000"/>
              </a:srgbClr>
            </a:outerShdw>
          </a:effectLst>
        </p:spPr>
        <p:txBody>
          <a:bodyPr/>
          <a:lstStyle/>
          <a:p>
            <a:endParaRPr lang="zh-CN" altLang="en-US"/>
          </a:p>
        </p:txBody>
      </p:sp>
      <p:pic>
        <p:nvPicPr>
          <p:cNvPr id="6" name="Image 0" descr="preencoded.png"/>
          <p:cNvPicPr>
            <a:picLocks noChangeAspect="1"/>
          </p:cNvPicPr>
          <p:nvPr>
            <p:custDataLst>
              <p:tags r:id="rId3"/>
            </p:custDataLst>
          </p:nvPr>
        </p:nvPicPr>
        <p:blipFill>
          <a:blip r:embed="rId15"/>
          <a:stretch>
            <a:fillRect/>
          </a:stretch>
        </p:blipFill>
        <p:spPr>
          <a:xfrm>
            <a:off x="777875" y="1621155"/>
            <a:ext cx="2572385" cy="627380"/>
          </a:xfrm>
          <a:prstGeom prst="rect">
            <a:avLst/>
          </a:prstGeom>
        </p:spPr>
      </p:pic>
      <p:sp>
        <p:nvSpPr>
          <p:cNvPr id="7" name="Text 4"/>
          <p:cNvSpPr/>
          <p:nvPr>
            <p:custDataLst>
              <p:tags r:id="rId4"/>
            </p:custDataLst>
          </p:nvPr>
        </p:nvSpPr>
        <p:spPr>
          <a:xfrm>
            <a:off x="952476" y="1811734"/>
            <a:ext cx="2878264"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CORE OUTPUT 01</a:t>
            </a:r>
            <a:endParaRPr lang="en-US" sz="2100" dirty="0"/>
          </a:p>
        </p:txBody>
      </p:sp>
      <p:sp>
        <p:nvSpPr>
          <p:cNvPr id="8" name="Text 5"/>
          <p:cNvSpPr/>
          <p:nvPr>
            <p:custDataLst>
              <p:tags r:id="rId5"/>
            </p:custDataLst>
          </p:nvPr>
        </p:nvSpPr>
        <p:spPr>
          <a:xfrm>
            <a:off x="888978" y="2322909"/>
            <a:ext cx="4775081" cy="335260"/>
          </a:xfrm>
          <a:prstGeom prst="rect">
            <a:avLst/>
          </a:prstGeom>
          <a:noFill/>
        </p:spPr>
        <p:txBody>
          <a:bodyPr wrap="none" lIns="0" tIns="0" rIns="0" bIns="0" rtlCol="0" anchor="t"/>
          <a:lstStyle/>
          <a:p>
            <a:pPr marL="0" indent="0" algn="l">
              <a:lnSpc>
                <a:spcPct val="100000"/>
              </a:lnSpc>
              <a:buNone/>
            </a:pPr>
            <a:r>
              <a:rPr lang="en-US" sz="2200" kern="100" spc="-11" dirty="0">
                <a:solidFill>
                  <a:srgbClr val="2B3541"/>
                </a:solidFill>
                <a:latin typeface="Funnel Sans SemiBold" pitchFamily="34" charset="0"/>
                <a:ea typeface="Funnel Sans SemiBold" pitchFamily="34" charset="-122"/>
                <a:cs typeface="Funnel Sans SemiBold" pitchFamily="34" charset="-120"/>
              </a:rPr>
              <a:t>Live action recognition</a:t>
            </a:r>
            <a:endParaRPr lang="en-US" sz="2200" dirty="0"/>
          </a:p>
        </p:txBody>
      </p:sp>
      <p:sp>
        <p:nvSpPr>
          <p:cNvPr id="9" name="Text 6"/>
          <p:cNvSpPr/>
          <p:nvPr>
            <p:custDataLst>
              <p:tags r:id="rId6"/>
            </p:custDataLst>
          </p:nvPr>
        </p:nvSpPr>
        <p:spPr>
          <a:xfrm>
            <a:off x="888978" y="2807395"/>
            <a:ext cx="4775081" cy="586581"/>
          </a:xfrm>
          <a:prstGeom prst="rect">
            <a:avLst/>
          </a:prstGeom>
          <a:noFill/>
        </p:spPr>
        <p:txBody>
          <a:bodyPr wrap="square" lIns="0" tIns="0" rIns="0" bIns="0" rtlCol="0" anchor="t">
            <a:normAutofit/>
          </a:bodyPr>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Show the current action and a timeline with real timestamps.</a:t>
            </a:r>
            <a:endParaRPr lang="en-US" sz="1650" dirty="0"/>
          </a:p>
        </p:txBody>
      </p:sp>
      <p:sp>
        <p:nvSpPr>
          <p:cNvPr id="10" name="Shape 7"/>
          <p:cNvSpPr/>
          <p:nvPr>
            <p:custDataLst>
              <p:tags r:id="rId7"/>
            </p:custDataLst>
          </p:nvPr>
        </p:nvSpPr>
        <p:spPr>
          <a:xfrm>
            <a:off x="6248244" y="1424384"/>
            <a:ext cx="5333867" cy="2198191"/>
          </a:xfrm>
          <a:prstGeom prst="roundRect">
            <a:avLst>
              <a:gd name="adj" fmla="val 4004"/>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11" name="Shape 8"/>
          <p:cNvSpPr/>
          <p:nvPr>
            <p:custDataLst>
              <p:tags r:id="rId8"/>
            </p:custDataLst>
          </p:nvPr>
        </p:nvSpPr>
        <p:spPr>
          <a:xfrm>
            <a:off x="6527637" y="1652984"/>
            <a:ext cx="2395676" cy="584200"/>
          </a:xfrm>
          <a:prstGeom prst="roundRect">
            <a:avLst>
              <a:gd name="adj" fmla="val 49999"/>
            </a:avLst>
          </a:prstGeom>
          <a:solidFill>
            <a:srgbClr val="7FD6D2"/>
          </a:solidFill>
          <a:effectLst>
            <a:outerShdw blurRad="125730" dist="127" dir="16200000" algn="bl" rotWithShape="0">
              <a:srgbClr val="6A4FC8">
                <a:alpha val="20000"/>
              </a:srgbClr>
            </a:outerShdw>
          </a:effectLst>
        </p:spPr>
        <p:txBody>
          <a:bodyPr/>
          <a:lstStyle/>
          <a:p>
            <a:endParaRPr lang="zh-CN" altLang="en-US"/>
          </a:p>
        </p:txBody>
      </p:sp>
      <p:pic>
        <p:nvPicPr>
          <p:cNvPr id="12" name="Image 1" descr="preencoded.png"/>
          <p:cNvPicPr>
            <a:picLocks noChangeAspect="1"/>
          </p:cNvPicPr>
          <p:nvPr>
            <p:custDataLst>
              <p:tags r:id="rId9"/>
            </p:custDataLst>
          </p:nvPr>
        </p:nvPicPr>
        <p:blipFill>
          <a:blip r:embed="rId15"/>
          <a:stretch>
            <a:fillRect/>
          </a:stretch>
        </p:blipFill>
        <p:spPr>
          <a:xfrm>
            <a:off x="6496050" y="1621155"/>
            <a:ext cx="2572385" cy="627380"/>
          </a:xfrm>
          <a:prstGeom prst="rect">
            <a:avLst/>
          </a:prstGeom>
        </p:spPr>
      </p:pic>
      <p:sp>
        <p:nvSpPr>
          <p:cNvPr id="13" name="Text 9"/>
          <p:cNvSpPr/>
          <p:nvPr>
            <p:custDataLst>
              <p:tags r:id="rId10"/>
            </p:custDataLst>
          </p:nvPr>
        </p:nvSpPr>
        <p:spPr>
          <a:xfrm>
            <a:off x="6591135" y="1811734"/>
            <a:ext cx="2878264"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CORE OUTPUT 02</a:t>
            </a:r>
            <a:endParaRPr lang="en-US" sz="2100" dirty="0"/>
          </a:p>
        </p:txBody>
      </p:sp>
      <p:sp>
        <p:nvSpPr>
          <p:cNvPr id="14" name="Text 10"/>
          <p:cNvSpPr/>
          <p:nvPr>
            <p:custDataLst>
              <p:tags r:id="rId11"/>
            </p:custDataLst>
          </p:nvPr>
        </p:nvSpPr>
        <p:spPr>
          <a:xfrm>
            <a:off x="6527637" y="2322909"/>
            <a:ext cx="4775081" cy="335260"/>
          </a:xfrm>
          <a:prstGeom prst="rect">
            <a:avLst/>
          </a:prstGeom>
          <a:noFill/>
        </p:spPr>
        <p:txBody>
          <a:bodyPr wrap="none" lIns="0" tIns="0" rIns="0" bIns="0" rtlCol="0" anchor="t"/>
          <a:lstStyle/>
          <a:p>
            <a:pPr marL="0" indent="0" algn="l">
              <a:lnSpc>
                <a:spcPct val="100000"/>
              </a:lnSpc>
              <a:buNone/>
            </a:pPr>
            <a:r>
              <a:rPr lang="en-US" sz="2200" kern="100" spc="-11" dirty="0">
                <a:solidFill>
                  <a:srgbClr val="2B3541"/>
                </a:solidFill>
                <a:latin typeface="Funnel Sans SemiBold" pitchFamily="34" charset="0"/>
                <a:ea typeface="Funnel Sans SemiBold" pitchFamily="34" charset="-122"/>
                <a:cs typeface="Funnel Sans SemiBold" pitchFamily="34" charset="-120"/>
              </a:rPr>
              <a:t>A checkable six-step report</a:t>
            </a:r>
            <a:endParaRPr lang="en-US" sz="2200" dirty="0"/>
          </a:p>
        </p:txBody>
      </p:sp>
      <p:sp>
        <p:nvSpPr>
          <p:cNvPr id="15" name="Text 11"/>
          <p:cNvSpPr/>
          <p:nvPr>
            <p:custDataLst>
              <p:tags r:id="rId12"/>
            </p:custDataLst>
          </p:nvPr>
        </p:nvSpPr>
        <p:spPr>
          <a:xfrm>
            <a:off x="6527637" y="2807395"/>
            <a:ext cx="4775081" cy="586581"/>
          </a:xfrm>
          <a:prstGeom prst="rect">
            <a:avLst/>
          </a:prstGeom>
          <a:noFill/>
        </p:spPr>
        <p:txBody>
          <a:bodyPr wrap="square" lIns="0" tIns="0" rIns="0" bIns="0" rtlCol="0" anchor="t">
            <a:normAutofit/>
          </a:bodyPr>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Summarize coverage, order, duration and repeated or missed steps.</a:t>
            </a:r>
            <a:endParaRPr lang="en-US" sz="1650" dirty="0"/>
          </a:p>
        </p:txBody>
      </p:sp>
      <p:sp>
        <p:nvSpPr>
          <p:cNvPr id="16" name="Text 12"/>
          <p:cNvSpPr/>
          <p:nvPr/>
        </p:nvSpPr>
        <p:spPr>
          <a:xfrm>
            <a:off x="609585" y="3978176"/>
            <a:ext cx="1158211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THE RESEARCH QUESTION</a:t>
            </a:r>
            <a:endParaRPr lang="en-US" sz="1200" dirty="0"/>
          </a:p>
        </p:txBody>
      </p:sp>
      <p:sp>
        <p:nvSpPr>
          <p:cNvPr id="17" name="Text 13"/>
          <p:cNvSpPr/>
          <p:nvPr/>
        </p:nvSpPr>
        <p:spPr>
          <a:xfrm>
            <a:off x="609585" y="4254401"/>
            <a:ext cx="10972526" cy="563761"/>
          </a:xfrm>
          <a:prstGeom prst="rect">
            <a:avLst/>
          </a:prstGeom>
          <a:noFill/>
        </p:spPr>
        <p:txBody>
          <a:bodyPr wrap="square" lIns="0" tIns="0" rIns="0" bIns="0" rtlCol="0" anchor="t">
            <a:normAutofit lnSpcReduction="10000"/>
          </a:bodyPr>
          <a:lstStyle/>
          <a:p>
            <a:pPr marL="0" indent="0" algn="l">
              <a:lnSpc>
                <a:spcPct val="100000"/>
              </a:lnSpc>
              <a:buNone/>
            </a:pPr>
            <a:r>
              <a:rPr lang="en-US" sz="1850" kern="100" spc="-9" dirty="0">
                <a:solidFill>
                  <a:srgbClr val="051D3A"/>
                </a:solidFill>
                <a:latin typeface="Funnel Sans SemiBold" pitchFamily="34" charset="0"/>
                <a:ea typeface="Funnel Sans SemiBold" pitchFamily="34" charset="-122"/>
                <a:cs typeface="Funnel Sans SemiBold" pitchFamily="34" charset="-120"/>
              </a:rPr>
              <a:t>Can a per-frame classifier stay reliable on a live camera feed, and can its label stream become a completeness report a user can check?</a:t>
            </a:r>
            <a:endParaRPr lang="en-US" sz="1850" dirty="0"/>
          </a:p>
        </p:txBody>
      </p:sp>
      <p:sp>
        <p:nvSpPr>
          <p:cNvPr id="18" name="Text 14"/>
          <p:cNvSpPr/>
          <p:nvPr/>
        </p:nvSpPr>
        <p:spPr>
          <a:xfrm>
            <a:off x="609585" y="4967387"/>
            <a:ext cx="11582110" cy="337741"/>
          </a:xfrm>
          <a:prstGeom prst="rect">
            <a:avLst/>
          </a:prstGeom>
          <a:noFill/>
        </p:spPr>
        <p:txBody>
          <a:bodyPr wrap="none" lIns="0" tIns="0" rIns="0" bIns="0" rtlCol="0" anchor="t"/>
          <a:lstStyle/>
          <a:p>
            <a:pPr marL="0" indent="0" algn="l">
              <a:lnSpc>
                <a:spcPct val="117000"/>
              </a:lnSpc>
              <a:buNone/>
            </a:pPr>
            <a:r>
              <a:rPr lang="en-US" sz="1900" dirty="0">
                <a:solidFill>
                  <a:srgbClr val="B8367F"/>
                </a:solidFill>
                <a:latin typeface="Funnel Sans" pitchFamily="34" charset="0"/>
                <a:ea typeface="Funnel Sans" pitchFamily="34" charset="-122"/>
                <a:cs typeface="Funnel Sans" pitchFamily="34" charset="-120"/>
              </a:rPr>
              <a:t>Recognition target: Macro-F1 ≥ 0.80 on held-out PSKUS videos</a:t>
            </a:r>
            <a:endParaRPr lang="en-US" sz="1900" dirty="0"/>
          </a:p>
        </p:txBody>
      </p:sp>
      <p:sp>
        <p:nvSpPr>
          <p:cNvPr id="19" name="Text 15"/>
          <p:cNvSpPr/>
          <p:nvPr/>
        </p:nvSpPr>
        <p:spPr>
          <a:xfrm>
            <a:off x="609585" y="5492452"/>
            <a:ext cx="10972526"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Eight-class space, with the six rubbing steps reported separately. This is a goal, not a result.</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Also measure end-to-end latency per frame on the deployment machine.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2966566" cy="6858000"/>
          </a:xfrm>
          <a:prstGeom prst="rect">
            <a:avLst/>
          </a:prstGeom>
        </p:spPr>
      </p:pic>
      <p:sp>
        <p:nvSpPr>
          <p:cNvPr id="3" name="Text 0"/>
          <p:cNvSpPr/>
          <p:nvPr/>
        </p:nvSpPr>
        <p:spPr>
          <a:xfrm>
            <a:off x="3449154" y="431800"/>
            <a:ext cx="8742541"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BENCHMARK DATASETS</a:t>
            </a:r>
            <a:endParaRPr lang="en-US" sz="1200" dirty="0"/>
          </a:p>
        </p:txBody>
      </p:sp>
      <p:sp>
        <p:nvSpPr>
          <p:cNvPr id="4" name="Text 1"/>
          <p:cNvSpPr/>
          <p:nvPr/>
        </p:nvSpPr>
        <p:spPr>
          <a:xfrm>
            <a:off x="3449154" y="708025"/>
            <a:ext cx="8336151" cy="484584"/>
          </a:xfrm>
          <a:prstGeom prst="rect">
            <a:avLst/>
          </a:prstGeom>
          <a:noFill/>
        </p:spPr>
        <p:txBody>
          <a:bodyPr wrap="none" lIns="0" tIns="0" rIns="0" bIns="0" rtlCol="0" anchor="t"/>
          <a:lstStyle/>
          <a:p>
            <a:pPr marL="0" indent="0" algn="l">
              <a:lnSpc>
                <a:spcPct val="88000"/>
              </a:lnSpc>
              <a:buNone/>
            </a:pPr>
            <a:r>
              <a:rPr lang="en-US" sz="3600" kern="100" spc="-36" dirty="0">
                <a:solidFill>
                  <a:srgbClr val="051D3A"/>
                </a:solidFill>
                <a:latin typeface="Funnel Display Medium" pitchFamily="34" charset="0"/>
                <a:ea typeface="Funnel Display Medium" pitchFamily="34" charset="-122"/>
                <a:cs typeface="Funnel Display Medium" pitchFamily="34" charset="-120"/>
              </a:rPr>
              <a:t>Data required and available</a:t>
            </a:r>
            <a:endParaRPr lang="en-US" sz="3600" dirty="0"/>
          </a:p>
        </p:txBody>
      </p:sp>
      <p:sp>
        <p:nvSpPr>
          <p:cNvPr id="5" name="Shape 2"/>
          <p:cNvSpPr/>
          <p:nvPr/>
        </p:nvSpPr>
        <p:spPr>
          <a:xfrm>
            <a:off x="3449154" y="1665982"/>
            <a:ext cx="2575456" cy="3377704"/>
          </a:xfrm>
          <a:prstGeom prst="roundRect">
            <a:avLst>
              <a:gd name="adj" fmla="val 3417"/>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6" name="Text 3"/>
          <p:cNvSpPr/>
          <p:nvPr/>
        </p:nvSpPr>
        <p:spPr>
          <a:xfrm>
            <a:off x="3652349" y="1894582"/>
            <a:ext cx="2169066" cy="609798"/>
          </a:xfrm>
          <a:prstGeom prst="rect">
            <a:avLst/>
          </a:prstGeom>
          <a:noFill/>
        </p:spPr>
        <p:txBody>
          <a:bodyPr wrap="none" lIns="0" tIns="0" rIns="0" bIns="0" rtlCol="0" anchor="t"/>
          <a:lstStyle/>
          <a:p>
            <a:pPr marL="0" indent="0" algn="l">
              <a:lnSpc>
                <a:spcPct val="82000"/>
              </a:lnSpc>
              <a:buNone/>
            </a:pPr>
            <a:r>
              <a:rPr lang="en-US" sz="4900" kern="100" spc="-122" dirty="0">
                <a:solidFill>
                  <a:srgbClr val="051D3A"/>
                </a:solidFill>
                <a:latin typeface="Funnel Display Medium" pitchFamily="34" charset="0"/>
                <a:ea typeface="Funnel Display Medium" pitchFamily="34" charset="-122"/>
                <a:cs typeface="Funnel Display Medium" pitchFamily="34" charset="-120"/>
              </a:rPr>
              <a:t>3,185</a:t>
            </a:r>
            <a:endParaRPr lang="en-US" sz="4900" dirty="0"/>
          </a:p>
        </p:txBody>
      </p:sp>
      <p:sp>
        <p:nvSpPr>
          <p:cNvPr id="7" name="Text 4"/>
          <p:cNvSpPr/>
          <p:nvPr/>
        </p:nvSpPr>
        <p:spPr>
          <a:xfrm>
            <a:off x="3652349" y="2625030"/>
            <a:ext cx="2169066"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B8367F"/>
                </a:solidFill>
                <a:latin typeface="Funnel Sans SemiBold" pitchFamily="34" charset="0"/>
                <a:ea typeface="Funnel Sans SemiBold" pitchFamily="34" charset="-122"/>
                <a:cs typeface="Funnel Sans SemiBold" pitchFamily="34" charset="-120"/>
              </a:rPr>
              <a:t>PSKUS videos</a:t>
            </a:r>
            <a:endParaRPr lang="en-US" sz="1850" dirty="0"/>
          </a:p>
        </p:txBody>
      </p:sp>
      <p:sp>
        <p:nvSpPr>
          <p:cNvPr id="8" name="Text 5"/>
          <p:cNvSpPr/>
          <p:nvPr/>
        </p:nvSpPr>
        <p:spPr>
          <a:xfrm>
            <a:off x="3652349" y="3056136"/>
            <a:ext cx="2169066" cy="746522"/>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Hospital video and frame labels for training and held-out testing.</a:t>
            </a:r>
            <a:endParaRPr lang="en-US" sz="1400" dirty="0"/>
          </a:p>
        </p:txBody>
      </p:sp>
      <p:sp>
        <p:nvSpPr>
          <p:cNvPr id="9" name="Text 6"/>
          <p:cNvSpPr/>
          <p:nvPr/>
        </p:nvSpPr>
        <p:spPr>
          <a:xfrm>
            <a:off x="3652349" y="3923308"/>
            <a:ext cx="2169066" cy="642938"/>
          </a:xfrm>
          <a:prstGeom prst="rect">
            <a:avLst/>
          </a:prstGeom>
          <a:noFill/>
        </p:spPr>
        <p:txBody>
          <a:bodyPr wrap="square" lIns="0" tIns="0" rIns="0" bIns="0" rtlCol="0" anchor="t">
            <a:normAutofit/>
          </a:bodyPr>
          <a:lstStyle/>
          <a:p>
            <a:pPr marL="0" indent="0" algn="l">
              <a:lnSpc>
                <a:spcPct val="112000"/>
              </a:lnSpc>
              <a:buNone/>
            </a:pPr>
            <a:r>
              <a:rPr lang="en-US" sz="1250" dirty="0">
                <a:solidFill>
                  <a:srgbClr val="2B3541"/>
                </a:solidFill>
                <a:latin typeface="Funnel Sans" pitchFamily="34" charset="0"/>
                <a:ea typeface="Funnel Sans" pitchFamily="34" charset="-122"/>
                <a:cs typeface="Funnel Sans" pitchFamily="34" charset="-120"/>
              </a:rPr>
              <a:t>Source total</a:t>
            </a:r>
            <a:endParaRPr lang="en-US" sz="1250" dirty="0"/>
          </a:p>
          <a:p>
            <a:pPr marL="0" indent="0" algn="l">
              <a:lnSpc>
                <a:spcPct val="112000"/>
              </a:lnSpc>
              <a:buNone/>
            </a:pPr>
            <a:r>
              <a:rPr lang="en-US" sz="1250" dirty="0">
                <a:solidFill>
                  <a:srgbClr val="2B3541"/>
                </a:solidFill>
                <a:latin typeface="Funnel Sans" pitchFamily="34" charset="0"/>
                <a:ea typeface="Funnel Sans" pitchFamily="34" charset="-122"/>
                <a:cs typeface="Funnel Sans" pitchFamily="34" charset="-120"/>
              </a:rPr>
              <a:t>2 of 11 shards in use</a:t>
            </a:r>
            <a:endParaRPr lang="en-US" sz="1250" dirty="0"/>
          </a:p>
          <a:p>
            <a:pPr marL="0" indent="0" algn="l">
              <a:lnSpc>
                <a:spcPct val="112000"/>
              </a:lnSpc>
              <a:buNone/>
            </a:pPr>
            <a:r>
              <a:rPr lang="en-US" sz="1250" dirty="0">
                <a:solidFill>
                  <a:srgbClr val="2B3541"/>
                </a:solidFill>
                <a:latin typeface="Funnel Sans" pitchFamily="34" charset="0"/>
                <a:ea typeface="Funnel Sans" pitchFamily="34" charset="-122"/>
                <a:cs typeface="Funnel Sans" pitchFamily="34" charset="-120"/>
              </a:rPr>
              <a:t>(DataSet1, DataSet4)</a:t>
            </a:r>
            <a:endParaRPr lang="en-US" sz="1250" dirty="0"/>
          </a:p>
        </p:txBody>
      </p:sp>
      <p:sp>
        <p:nvSpPr>
          <p:cNvPr id="10" name="Shape 7"/>
          <p:cNvSpPr/>
          <p:nvPr/>
        </p:nvSpPr>
        <p:spPr>
          <a:xfrm>
            <a:off x="6329403" y="1665982"/>
            <a:ext cx="2575555" cy="3377704"/>
          </a:xfrm>
          <a:prstGeom prst="roundRect">
            <a:avLst>
              <a:gd name="adj" fmla="val 3417"/>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11" name="Text 8"/>
          <p:cNvSpPr/>
          <p:nvPr/>
        </p:nvSpPr>
        <p:spPr>
          <a:xfrm>
            <a:off x="6532598" y="1894582"/>
            <a:ext cx="2169165" cy="609798"/>
          </a:xfrm>
          <a:prstGeom prst="rect">
            <a:avLst/>
          </a:prstGeom>
          <a:noFill/>
        </p:spPr>
        <p:txBody>
          <a:bodyPr wrap="none" lIns="0" tIns="0" rIns="0" bIns="0" rtlCol="0" anchor="t"/>
          <a:lstStyle/>
          <a:p>
            <a:pPr marL="0" indent="0" algn="l">
              <a:lnSpc>
                <a:spcPct val="82000"/>
              </a:lnSpc>
              <a:buNone/>
            </a:pPr>
            <a:r>
              <a:rPr lang="en-US" sz="4900" kern="100" spc="-122" dirty="0">
                <a:solidFill>
                  <a:srgbClr val="051D3A"/>
                </a:solidFill>
                <a:latin typeface="Funnel Display Medium" pitchFamily="34" charset="0"/>
                <a:ea typeface="Funnel Display Medium" pitchFamily="34" charset="-122"/>
                <a:cs typeface="Funnel Display Medium" pitchFamily="34" charset="-120"/>
              </a:rPr>
              <a:t>212</a:t>
            </a:r>
            <a:endParaRPr lang="en-US" sz="4900" dirty="0"/>
          </a:p>
        </p:txBody>
      </p:sp>
      <p:sp>
        <p:nvSpPr>
          <p:cNvPr id="12" name="Text 9"/>
          <p:cNvSpPr/>
          <p:nvPr/>
        </p:nvSpPr>
        <p:spPr>
          <a:xfrm>
            <a:off x="6532598" y="2625030"/>
            <a:ext cx="2169165"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B8367F"/>
                </a:solidFill>
                <a:latin typeface="Funnel Sans SemiBold" pitchFamily="34" charset="0"/>
                <a:ea typeface="Funnel Sans SemiBold" pitchFamily="34" charset="-122"/>
                <a:cs typeface="Funnel Sans SemiBold" pitchFamily="34" charset="-120"/>
              </a:rPr>
              <a:t>METC videos</a:t>
            </a:r>
            <a:endParaRPr lang="en-US" sz="1850" dirty="0"/>
          </a:p>
        </p:txBody>
      </p:sp>
      <p:sp>
        <p:nvSpPr>
          <p:cNvPr id="13" name="Text 10"/>
          <p:cNvSpPr/>
          <p:nvPr/>
        </p:nvSpPr>
        <p:spPr>
          <a:xfrm>
            <a:off x="6532598" y="3056136"/>
            <a:ext cx="2169165" cy="746522"/>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Independent laboratory setting for cross-domain testing.</a:t>
            </a:r>
            <a:endParaRPr lang="en-US" sz="1400" dirty="0"/>
          </a:p>
        </p:txBody>
      </p:sp>
      <p:sp>
        <p:nvSpPr>
          <p:cNvPr id="14" name="Text 11"/>
          <p:cNvSpPr/>
          <p:nvPr/>
        </p:nvSpPr>
        <p:spPr>
          <a:xfrm>
            <a:off x="6532598" y="3923308"/>
            <a:ext cx="2169165" cy="428625"/>
          </a:xfrm>
          <a:prstGeom prst="rect">
            <a:avLst/>
          </a:prstGeom>
          <a:noFill/>
        </p:spPr>
        <p:txBody>
          <a:bodyPr wrap="square" lIns="0" tIns="0" rIns="0" bIns="0" rtlCol="0" anchor="t">
            <a:normAutofit/>
          </a:bodyPr>
          <a:lstStyle/>
          <a:p>
            <a:pPr marL="0" indent="0" algn="l">
              <a:lnSpc>
                <a:spcPct val="112000"/>
              </a:lnSpc>
              <a:buNone/>
            </a:pPr>
            <a:r>
              <a:rPr lang="en-US" sz="1250" dirty="0">
                <a:solidFill>
                  <a:srgbClr val="2B3541"/>
                </a:solidFill>
                <a:latin typeface="Funnel Sans" pitchFamily="34" charset="0"/>
                <a:ea typeface="Funnel Sans" pitchFamily="34" charset="-122"/>
                <a:cs typeface="Funnel Sans" pitchFamily="34" charset="-120"/>
              </a:rPr>
              <a:t>Source total</a:t>
            </a:r>
            <a:endParaRPr lang="en-US" sz="1250" dirty="0"/>
          </a:p>
          <a:p>
            <a:pPr marL="0" indent="0" algn="l">
              <a:lnSpc>
                <a:spcPct val="112000"/>
              </a:lnSpc>
              <a:buNone/>
            </a:pPr>
            <a:r>
              <a:rPr lang="en-US" sz="1250" dirty="0">
                <a:solidFill>
                  <a:srgbClr val="2B3541"/>
                </a:solidFill>
                <a:latin typeface="Funnel Sans" pitchFamily="34" charset="0"/>
                <a:ea typeface="Funnel Sans" pitchFamily="34" charset="-122"/>
                <a:cs typeface="Funnel Sans" pitchFamily="34" charset="-120"/>
              </a:rPr>
              <a:t>Not downloaded yet</a:t>
            </a:r>
            <a:endParaRPr lang="en-US" sz="1250" dirty="0"/>
          </a:p>
        </p:txBody>
      </p:sp>
      <p:sp>
        <p:nvSpPr>
          <p:cNvPr id="15" name="Shape 12"/>
          <p:cNvSpPr/>
          <p:nvPr/>
        </p:nvSpPr>
        <p:spPr>
          <a:xfrm>
            <a:off x="9209750" y="1665982"/>
            <a:ext cx="2575555" cy="3377704"/>
          </a:xfrm>
          <a:prstGeom prst="roundRect">
            <a:avLst>
              <a:gd name="adj" fmla="val 3417"/>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16" name="Text 13"/>
          <p:cNvSpPr/>
          <p:nvPr/>
        </p:nvSpPr>
        <p:spPr>
          <a:xfrm>
            <a:off x="9412945" y="1894582"/>
            <a:ext cx="2169165" cy="609798"/>
          </a:xfrm>
          <a:prstGeom prst="rect">
            <a:avLst/>
          </a:prstGeom>
          <a:noFill/>
        </p:spPr>
        <p:txBody>
          <a:bodyPr wrap="none" lIns="0" tIns="0" rIns="0" bIns="0" rtlCol="0" anchor="t"/>
          <a:lstStyle/>
          <a:p>
            <a:pPr marL="0" indent="0" algn="l">
              <a:lnSpc>
                <a:spcPct val="82000"/>
              </a:lnSpc>
              <a:buNone/>
            </a:pPr>
            <a:r>
              <a:rPr lang="en-US" sz="4900" kern="100" spc="-122" dirty="0">
                <a:solidFill>
                  <a:srgbClr val="051D3A"/>
                </a:solidFill>
                <a:latin typeface="Funnel Display Medium" pitchFamily="34" charset="0"/>
                <a:ea typeface="Funnel Display Medium" pitchFamily="34" charset="-122"/>
                <a:cs typeface="Funnel Display Medium" pitchFamily="34" charset="-120"/>
              </a:rPr>
              <a:t>4–6</a:t>
            </a:r>
            <a:endParaRPr lang="en-US" sz="4900" dirty="0"/>
          </a:p>
        </p:txBody>
      </p:sp>
      <p:sp>
        <p:nvSpPr>
          <p:cNvPr id="17" name="Text 14"/>
          <p:cNvSpPr/>
          <p:nvPr/>
        </p:nvSpPr>
        <p:spPr>
          <a:xfrm>
            <a:off x="9412945" y="2625030"/>
            <a:ext cx="2169165"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B8367F"/>
                </a:solidFill>
                <a:latin typeface="Funnel Sans SemiBold" pitchFamily="34" charset="0"/>
                <a:ea typeface="Funnel Sans SemiBold" pitchFamily="34" charset="-122"/>
                <a:cs typeface="Funnel Sans SemiBold" pitchFamily="34" charset="-120"/>
              </a:rPr>
              <a:t>Clips per member</a:t>
            </a:r>
            <a:endParaRPr lang="en-US" sz="1850" dirty="0"/>
          </a:p>
        </p:txBody>
      </p:sp>
      <p:sp>
        <p:nvSpPr>
          <p:cNvPr id="18" name="Text 15"/>
          <p:cNvSpPr/>
          <p:nvPr/>
        </p:nvSpPr>
        <p:spPr>
          <a:xfrm>
            <a:off x="9412945" y="3056136"/>
            <a:ext cx="2169165" cy="995363"/>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Planned self-recorded clips: complete, missed, swapped and too-short steps.</a:t>
            </a:r>
            <a:endParaRPr lang="en-US" sz="1400" dirty="0"/>
          </a:p>
        </p:txBody>
      </p:sp>
      <p:sp>
        <p:nvSpPr>
          <p:cNvPr id="19" name="Text 16"/>
          <p:cNvSpPr/>
          <p:nvPr/>
        </p:nvSpPr>
        <p:spPr>
          <a:xfrm>
            <a:off x="9412945" y="4172148"/>
            <a:ext cx="2169165" cy="642938"/>
          </a:xfrm>
          <a:prstGeom prst="rect">
            <a:avLst/>
          </a:prstGeom>
          <a:noFill/>
        </p:spPr>
        <p:txBody>
          <a:bodyPr wrap="square" lIns="0" tIns="0" rIns="0" bIns="0" rtlCol="0" anchor="t">
            <a:normAutofit/>
          </a:bodyPr>
          <a:lstStyle/>
          <a:p>
            <a:pPr marL="0" indent="0" algn="l">
              <a:lnSpc>
                <a:spcPct val="112000"/>
              </a:lnSpc>
              <a:buNone/>
            </a:pPr>
            <a:r>
              <a:rPr lang="en-US" sz="1250" dirty="0">
                <a:solidFill>
                  <a:srgbClr val="2B3541"/>
                </a:solidFill>
                <a:latin typeface="Funnel Sans" pitchFamily="34" charset="0"/>
                <a:ea typeface="Funnel Sans" pitchFamily="34" charset="-122"/>
                <a:cs typeface="Funnel Sans" pitchFamily="34" charset="-120"/>
              </a:rPr>
              <a:t>Required collection</a:t>
            </a:r>
            <a:endParaRPr lang="en-US" sz="1250" dirty="0"/>
          </a:p>
          <a:p>
            <a:pPr marL="0" indent="0" algn="l">
              <a:lnSpc>
                <a:spcPct val="112000"/>
              </a:lnSpc>
              <a:buNone/>
            </a:pPr>
            <a:r>
              <a:rPr lang="en-US" sz="1250" dirty="0">
                <a:solidFill>
                  <a:srgbClr val="2B3541"/>
                </a:solidFill>
                <a:latin typeface="Funnel Sans" pitchFamily="34" charset="0"/>
                <a:ea typeface="Funnel Sans" pitchFamily="34" charset="-122"/>
                <a:cs typeface="Funnel Sans" pitchFamily="34" charset="-120"/>
              </a:rPr>
              <a:t>Real camera and deployment conditions</a:t>
            </a:r>
            <a:endParaRPr lang="en-US" sz="1250" dirty="0"/>
          </a:p>
        </p:txBody>
      </p:sp>
      <p:sp>
        <p:nvSpPr>
          <p:cNvPr id="20" name="Text 17"/>
          <p:cNvSpPr/>
          <p:nvPr/>
        </p:nvSpPr>
        <p:spPr>
          <a:xfrm>
            <a:off x="3449154" y="5517059"/>
            <a:ext cx="8742541"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Before formal training: clean the data and spot-check labels by hand.</a:t>
            </a:r>
            <a:endParaRPr lang="en-US" sz="1650" dirty="0"/>
          </a:p>
        </p:txBody>
      </p:sp>
      <p:sp>
        <p:nvSpPr>
          <p:cNvPr id="21" name="Text 18"/>
          <p:cNvSpPr/>
          <p:nvPr/>
        </p:nvSpPr>
        <p:spPr>
          <a:xfrm>
            <a:off x="3449154" y="5997674"/>
            <a:ext cx="8336151" cy="428625"/>
          </a:xfrm>
          <a:prstGeom prst="rect">
            <a:avLst/>
          </a:prstGeom>
          <a:noFill/>
        </p:spPr>
        <p:txBody>
          <a:bodyPr wrap="square" lIns="0" tIns="0" rIns="0" bIns="0" rtlCol="0" anchor="t">
            <a:normAutofit/>
          </a:bodyPr>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Published sizes are source totals, not a claim that all files are downloaded or processed.</a:t>
            </a:r>
            <a:endParaRPr lang="en-US" sz="1250" dirty="0"/>
          </a:p>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Download status: team checklist dated 3 October 2026. Kaggle is also not downloaded.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sp>
        <p:nvSpPr>
          <p:cNvPr id="2" name="Text 0"/>
          <p:cNvSpPr/>
          <p:nvPr/>
        </p:nvSpPr>
        <p:spPr>
          <a:xfrm>
            <a:off x="609585" y="508000"/>
            <a:ext cx="1158211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DATA INTEGRITY</a:t>
            </a:r>
            <a:endParaRPr lang="en-US" sz="1200" dirty="0"/>
          </a:p>
        </p:txBody>
      </p:sp>
      <p:sp>
        <p:nvSpPr>
          <p:cNvPr id="3" name="Text 1"/>
          <p:cNvSpPr/>
          <p:nvPr/>
        </p:nvSpPr>
        <p:spPr>
          <a:xfrm>
            <a:off x="609585" y="784225"/>
            <a:ext cx="10972526" cy="484584"/>
          </a:xfrm>
          <a:prstGeom prst="rect">
            <a:avLst/>
          </a:prstGeom>
          <a:noFill/>
        </p:spPr>
        <p:txBody>
          <a:bodyPr wrap="none" lIns="0" tIns="0" rIns="0" bIns="0" rtlCol="0" anchor="t"/>
          <a:lstStyle/>
          <a:p>
            <a:pPr marL="0" indent="0" algn="l">
              <a:lnSpc>
                <a:spcPct val="88000"/>
              </a:lnSpc>
              <a:buNone/>
            </a:pPr>
            <a:r>
              <a:rPr lang="en-US" sz="3600" kern="100" spc="-36" dirty="0">
                <a:solidFill>
                  <a:srgbClr val="051D3A"/>
                </a:solidFill>
                <a:latin typeface="Funnel Display Medium" pitchFamily="34" charset="0"/>
                <a:ea typeface="Funnel Display Medium" pitchFamily="34" charset="-122"/>
                <a:cs typeface="Funnel Display Medium" pitchFamily="34" charset="-120"/>
              </a:rPr>
              <a:t>Reliable training starts with reliable labels</a:t>
            </a:r>
            <a:endParaRPr lang="en-US" sz="3600" dirty="0"/>
          </a:p>
        </p:txBody>
      </p:sp>
      <p:sp>
        <p:nvSpPr>
          <p:cNvPr id="4" name="Shape 2"/>
          <p:cNvSpPr/>
          <p:nvPr/>
        </p:nvSpPr>
        <p:spPr>
          <a:xfrm>
            <a:off x="609585" y="1686123"/>
            <a:ext cx="3454314" cy="2095996"/>
          </a:xfrm>
          <a:prstGeom prst="roundRect">
            <a:avLst>
              <a:gd name="adj" fmla="val 4199"/>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5" name="Shape 3"/>
          <p:cNvSpPr/>
          <p:nvPr/>
        </p:nvSpPr>
        <p:spPr>
          <a:xfrm>
            <a:off x="863578" y="1965523"/>
            <a:ext cx="584185" cy="584200"/>
          </a:xfrm>
          <a:prstGeom prst="ellipse">
            <a:avLst/>
          </a:prstGeom>
          <a:solidFill>
            <a:srgbClr val="7FD6D2"/>
          </a:solidFill>
          <a:effectLst>
            <a:outerShdw blurRad="125730" dist="127" dir="16200000" algn="bl" rotWithShape="0">
              <a:srgbClr val="6A4FC8">
                <a:alpha val="20000"/>
              </a:srgbClr>
            </a:outerShdw>
          </a:effectLst>
        </p:spPr>
        <p:txBody>
          <a:bodyPr/>
          <a:lstStyle/>
          <a:p>
            <a:endParaRPr lang="zh-CN" altLang="en-US"/>
          </a:p>
        </p:txBody>
      </p:sp>
      <p:pic>
        <p:nvPicPr>
          <p:cNvPr id="6" name="Image 0" descr="preencoded.png"/>
          <p:cNvPicPr>
            <a:picLocks noChangeAspect="1"/>
          </p:cNvPicPr>
          <p:nvPr/>
        </p:nvPicPr>
        <p:blipFill>
          <a:blip r:embed="rId3"/>
          <a:stretch>
            <a:fillRect/>
          </a:stretch>
        </p:blipFill>
        <p:spPr>
          <a:xfrm>
            <a:off x="863578" y="1965523"/>
            <a:ext cx="584185" cy="584200"/>
          </a:xfrm>
          <a:prstGeom prst="rect">
            <a:avLst/>
          </a:prstGeom>
        </p:spPr>
      </p:pic>
      <p:sp>
        <p:nvSpPr>
          <p:cNvPr id="7" name="Text 4"/>
          <p:cNvSpPr/>
          <p:nvPr/>
        </p:nvSpPr>
        <p:spPr>
          <a:xfrm>
            <a:off x="1002283" y="2124273"/>
            <a:ext cx="916361"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01</a:t>
            </a:r>
            <a:endParaRPr lang="en-US" sz="2100" dirty="0"/>
          </a:p>
        </p:txBody>
      </p:sp>
      <p:sp>
        <p:nvSpPr>
          <p:cNvPr id="8" name="Shape 5"/>
          <p:cNvSpPr/>
          <p:nvPr/>
        </p:nvSpPr>
        <p:spPr>
          <a:xfrm>
            <a:off x="863578" y="2633563"/>
            <a:ext cx="2946227" cy="19050"/>
          </a:xfrm>
          <a:prstGeom prst="rect">
            <a:avLst/>
          </a:prstGeom>
          <a:solidFill>
            <a:srgbClr val="B8367F"/>
          </a:solidFill>
        </p:spPr>
        <p:txBody>
          <a:bodyPr/>
          <a:lstStyle/>
          <a:p>
            <a:endParaRPr lang="zh-CN" altLang="en-US"/>
          </a:p>
        </p:txBody>
      </p:sp>
      <p:sp>
        <p:nvSpPr>
          <p:cNvPr id="9" name="Text 6"/>
          <p:cNvSpPr/>
          <p:nvPr/>
        </p:nvSpPr>
        <p:spPr>
          <a:xfrm>
            <a:off x="863578" y="2778323"/>
            <a:ext cx="2946326"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Separate the videos</a:t>
            </a:r>
            <a:endParaRPr lang="en-US" sz="1850" dirty="0"/>
          </a:p>
        </p:txBody>
      </p:sp>
      <p:sp>
        <p:nvSpPr>
          <p:cNvPr id="10" name="Text 7"/>
          <p:cNvSpPr/>
          <p:nvPr/>
        </p:nvSpPr>
        <p:spPr>
          <a:xfrm>
            <a:off x="863578" y="3209429"/>
            <a:ext cx="3200320"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Training and testing</a:t>
            </a:r>
            <a:endParaRPr lang="en-US" sz="1650" dirty="0"/>
          </a:p>
        </p:txBody>
      </p:sp>
      <p:sp>
        <p:nvSpPr>
          <p:cNvPr id="11" name="Shape 8"/>
          <p:cNvSpPr/>
          <p:nvPr/>
        </p:nvSpPr>
        <p:spPr>
          <a:xfrm>
            <a:off x="4368691" y="1686123"/>
            <a:ext cx="3454314" cy="2095996"/>
          </a:xfrm>
          <a:prstGeom prst="roundRect">
            <a:avLst>
              <a:gd name="adj" fmla="val 4199"/>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12" name="Shape 9"/>
          <p:cNvSpPr/>
          <p:nvPr/>
        </p:nvSpPr>
        <p:spPr>
          <a:xfrm>
            <a:off x="4622684" y="1965523"/>
            <a:ext cx="584185" cy="584200"/>
          </a:xfrm>
          <a:prstGeom prst="ellipse">
            <a:avLst/>
          </a:prstGeom>
          <a:solidFill>
            <a:srgbClr val="7FD6D2"/>
          </a:solidFill>
          <a:effectLst>
            <a:outerShdw blurRad="125730" dist="127" dir="16200000" algn="bl" rotWithShape="0">
              <a:srgbClr val="6A4FC8">
                <a:alpha val="20000"/>
              </a:srgbClr>
            </a:outerShdw>
          </a:effectLst>
        </p:spPr>
        <p:txBody>
          <a:bodyPr/>
          <a:lstStyle/>
          <a:p>
            <a:endParaRPr lang="zh-CN" altLang="en-US"/>
          </a:p>
        </p:txBody>
      </p:sp>
      <p:pic>
        <p:nvPicPr>
          <p:cNvPr id="13" name="Image 1" descr="preencoded.png"/>
          <p:cNvPicPr>
            <a:picLocks noChangeAspect="1"/>
          </p:cNvPicPr>
          <p:nvPr/>
        </p:nvPicPr>
        <p:blipFill>
          <a:blip r:embed="rId3"/>
          <a:stretch>
            <a:fillRect/>
          </a:stretch>
        </p:blipFill>
        <p:spPr>
          <a:xfrm>
            <a:off x="4622684" y="1965523"/>
            <a:ext cx="584185" cy="584200"/>
          </a:xfrm>
          <a:prstGeom prst="rect">
            <a:avLst/>
          </a:prstGeom>
        </p:spPr>
      </p:pic>
      <p:sp>
        <p:nvSpPr>
          <p:cNvPr id="14" name="Text 10"/>
          <p:cNvSpPr/>
          <p:nvPr/>
        </p:nvSpPr>
        <p:spPr>
          <a:xfrm>
            <a:off x="4761389" y="2124273"/>
            <a:ext cx="916361"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02</a:t>
            </a:r>
            <a:endParaRPr lang="en-US" sz="2100" dirty="0"/>
          </a:p>
        </p:txBody>
      </p:sp>
      <p:sp>
        <p:nvSpPr>
          <p:cNvPr id="15" name="Shape 11"/>
          <p:cNvSpPr/>
          <p:nvPr/>
        </p:nvSpPr>
        <p:spPr>
          <a:xfrm>
            <a:off x="4622684" y="2633563"/>
            <a:ext cx="2946227" cy="19050"/>
          </a:xfrm>
          <a:prstGeom prst="rect">
            <a:avLst/>
          </a:prstGeom>
          <a:solidFill>
            <a:srgbClr val="B8367F"/>
          </a:solidFill>
        </p:spPr>
        <p:txBody>
          <a:bodyPr/>
          <a:lstStyle/>
          <a:p>
            <a:endParaRPr lang="zh-CN" altLang="en-US"/>
          </a:p>
        </p:txBody>
      </p:sp>
      <p:sp>
        <p:nvSpPr>
          <p:cNvPr id="16" name="Text 12"/>
          <p:cNvSpPr/>
          <p:nvPr/>
        </p:nvSpPr>
        <p:spPr>
          <a:xfrm>
            <a:off x="4622684" y="2778323"/>
            <a:ext cx="2946326"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Match frames to labels</a:t>
            </a:r>
            <a:endParaRPr lang="en-US" sz="1850" dirty="0"/>
          </a:p>
        </p:txBody>
      </p:sp>
      <p:sp>
        <p:nvSpPr>
          <p:cNvPr id="17" name="Text 13"/>
          <p:cNvSpPr/>
          <p:nvPr/>
        </p:nvSpPr>
        <p:spPr>
          <a:xfrm>
            <a:off x="4622684" y="3209429"/>
            <a:ext cx="3200320"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Keep the real timestamps</a:t>
            </a:r>
            <a:endParaRPr lang="en-US" sz="1650" dirty="0"/>
          </a:p>
        </p:txBody>
      </p:sp>
      <p:sp>
        <p:nvSpPr>
          <p:cNvPr id="18" name="Shape 14"/>
          <p:cNvSpPr/>
          <p:nvPr/>
        </p:nvSpPr>
        <p:spPr>
          <a:xfrm>
            <a:off x="8127797" y="1686123"/>
            <a:ext cx="3454314" cy="2095996"/>
          </a:xfrm>
          <a:prstGeom prst="roundRect">
            <a:avLst>
              <a:gd name="adj" fmla="val 4199"/>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19" name="Shape 15"/>
          <p:cNvSpPr/>
          <p:nvPr/>
        </p:nvSpPr>
        <p:spPr>
          <a:xfrm>
            <a:off x="8381790" y="1965523"/>
            <a:ext cx="584185" cy="584200"/>
          </a:xfrm>
          <a:prstGeom prst="ellipse">
            <a:avLst/>
          </a:prstGeom>
          <a:solidFill>
            <a:srgbClr val="7FD6D2"/>
          </a:solidFill>
          <a:effectLst>
            <a:outerShdw blurRad="125730" dist="127" dir="16200000" algn="bl" rotWithShape="0">
              <a:srgbClr val="6A4FC8">
                <a:alpha val="20000"/>
              </a:srgbClr>
            </a:outerShdw>
          </a:effectLst>
        </p:spPr>
        <p:txBody>
          <a:bodyPr/>
          <a:lstStyle/>
          <a:p>
            <a:endParaRPr lang="zh-CN" altLang="en-US"/>
          </a:p>
        </p:txBody>
      </p:sp>
      <p:pic>
        <p:nvPicPr>
          <p:cNvPr id="20" name="Image 2" descr="preencoded.png"/>
          <p:cNvPicPr>
            <a:picLocks noChangeAspect="1"/>
          </p:cNvPicPr>
          <p:nvPr/>
        </p:nvPicPr>
        <p:blipFill>
          <a:blip r:embed="rId3"/>
          <a:stretch>
            <a:fillRect/>
          </a:stretch>
        </p:blipFill>
        <p:spPr>
          <a:xfrm>
            <a:off x="8381790" y="1965523"/>
            <a:ext cx="584185" cy="584200"/>
          </a:xfrm>
          <a:prstGeom prst="rect">
            <a:avLst/>
          </a:prstGeom>
        </p:spPr>
      </p:pic>
      <p:sp>
        <p:nvSpPr>
          <p:cNvPr id="21" name="Text 16"/>
          <p:cNvSpPr/>
          <p:nvPr/>
        </p:nvSpPr>
        <p:spPr>
          <a:xfrm>
            <a:off x="8520495" y="2124273"/>
            <a:ext cx="916361"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03</a:t>
            </a:r>
            <a:endParaRPr lang="en-US" sz="2100" dirty="0"/>
          </a:p>
        </p:txBody>
      </p:sp>
      <p:sp>
        <p:nvSpPr>
          <p:cNvPr id="22" name="Shape 17"/>
          <p:cNvSpPr/>
          <p:nvPr/>
        </p:nvSpPr>
        <p:spPr>
          <a:xfrm>
            <a:off x="8381790" y="2633563"/>
            <a:ext cx="2946227" cy="19050"/>
          </a:xfrm>
          <a:prstGeom prst="rect">
            <a:avLst/>
          </a:prstGeom>
          <a:solidFill>
            <a:srgbClr val="B8367F"/>
          </a:solidFill>
        </p:spPr>
        <p:txBody>
          <a:bodyPr/>
          <a:lstStyle/>
          <a:p>
            <a:endParaRPr lang="zh-CN" altLang="en-US"/>
          </a:p>
        </p:txBody>
      </p:sp>
      <p:sp>
        <p:nvSpPr>
          <p:cNvPr id="23" name="Text 18"/>
          <p:cNvSpPr/>
          <p:nvPr/>
        </p:nvSpPr>
        <p:spPr>
          <a:xfrm>
            <a:off x="8381790" y="2778323"/>
            <a:ext cx="2946326"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Build short sequences</a:t>
            </a:r>
            <a:endParaRPr lang="en-US" sz="1850" dirty="0"/>
          </a:p>
        </p:txBody>
      </p:sp>
      <p:sp>
        <p:nvSpPr>
          <p:cNvPr id="24" name="Text 19"/>
          <p:cNvSpPr/>
          <p:nvPr/>
        </p:nvSpPr>
        <p:spPr>
          <a:xfrm>
            <a:off x="8381790" y="3209429"/>
            <a:ext cx="3200320"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Preserve action changes</a:t>
            </a:r>
            <a:endParaRPr lang="en-US" sz="1650" dirty="0"/>
          </a:p>
        </p:txBody>
      </p:sp>
      <p:sp>
        <p:nvSpPr>
          <p:cNvPr id="25" name="Shape 20"/>
          <p:cNvSpPr/>
          <p:nvPr/>
        </p:nvSpPr>
        <p:spPr>
          <a:xfrm>
            <a:off x="609585" y="4086920"/>
            <a:ext cx="10972526" cy="1845766"/>
          </a:xfrm>
          <a:prstGeom prst="roundRect">
            <a:avLst>
              <a:gd name="adj" fmla="val 4768"/>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26" name="Text 21"/>
          <p:cNvSpPr/>
          <p:nvPr/>
        </p:nvSpPr>
        <p:spPr>
          <a:xfrm>
            <a:off x="965176" y="4391720"/>
            <a:ext cx="10261343" cy="335260"/>
          </a:xfrm>
          <a:prstGeom prst="rect">
            <a:avLst/>
          </a:prstGeom>
          <a:noFill/>
        </p:spPr>
        <p:txBody>
          <a:bodyPr wrap="none" lIns="0" tIns="0" rIns="0" bIns="0" rtlCol="0" anchor="t"/>
          <a:lstStyle/>
          <a:p>
            <a:pPr marL="0" indent="0" algn="l">
              <a:lnSpc>
                <a:spcPct val="100000"/>
              </a:lnSpc>
              <a:buNone/>
            </a:pPr>
            <a:r>
              <a:rPr lang="en-US" sz="2200" kern="100" spc="-11" dirty="0">
                <a:solidFill>
                  <a:srgbClr val="2B3541"/>
                </a:solidFill>
                <a:latin typeface="Funnel Sans SemiBold" pitchFamily="34" charset="0"/>
                <a:ea typeface="Funnel Sans SemiBold" pitchFamily="34" charset="-122"/>
                <a:cs typeface="Funnel Sans SemiBold" pitchFamily="34" charset="-120"/>
              </a:rPr>
              <a:t>Every sampled frame needs its own action label.</a:t>
            </a:r>
            <a:endParaRPr lang="en-US" sz="2200" dirty="0"/>
          </a:p>
        </p:txBody>
      </p:sp>
      <p:sp>
        <p:nvSpPr>
          <p:cNvPr id="27" name="Text 22"/>
          <p:cNvSpPr/>
          <p:nvPr/>
        </p:nvSpPr>
        <p:spPr>
          <a:xfrm>
            <a:off x="965176" y="4876205"/>
            <a:ext cx="10616934" cy="337741"/>
          </a:xfrm>
          <a:prstGeom prst="rect">
            <a:avLst/>
          </a:prstGeom>
          <a:noFill/>
        </p:spPr>
        <p:txBody>
          <a:bodyPr wrap="none" lIns="0" tIns="0" rIns="0" bIns="0" rtlCol="0" anchor="t"/>
          <a:lstStyle/>
          <a:p>
            <a:pPr marL="0" indent="0" algn="l">
              <a:lnSpc>
                <a:spcPct val="117000"/>
              </a:lnSpc>
              <a:buNone/>
            </a:pPr>
            <a:r>
              <a:rPr lang="en-US" sz="1900" dirty="0">
                <a:solidFill>
                  <a:srgbClr val="2B3541"/>
                </a:solidFill>
                <a:latin typeface="Funnel Sans" pitchFamily="34" charset="0"/>
                <a:ea typeface="Funnel Sans" pitchFamily="34" charset="-122"/>
                <a:cs typeface="Funnel Sans" pitchFamily="34" charset="-120"/>
              </a:rPr>
              <a:t>The same source video must never appear in both training and testing.</a:t>
            </a:r>
            <a:endParaRPr lang="en-US" sz="1900" dirty="0"/>
          </a:p>
        </p:txBody>
      </p:sp>
      <p:sp>
        <p:nvSpPr>
          <p:cNvPr id="28" name="Text 23"/>
          <p:cNvSpPr/>
          <p:nvPr/>
        </p:nvSpPr>
        <p:spPr>
          <a:xfrm>
            <a:off x="965176" y="5334595"/>
            <a:ext cx="10616934"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We will inspect action changes by hand and evaluate complete videos, including the last action.</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sp>
        <p:nvSpPr>
          <p:cNvPr id="2" name="Text 0"/>
          <p:cNvSpPr/>
          <p:nvPr/>
        </p:nvSpPr>
        <p:spPr>
          <a:xfrm>
            <a:off x="609585" y="406400"/>
            <a:ext cx="1158211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SYSTEM ARCHITECTURE</a:t>
            </a:r>
            <a:endParaRPr lang="en-US" sz="1200" dirty="0"/>
          </a:p>
        </p:txBody>
      </p:sp>
      <p:sp>
        <p:nvSpPr>
          <p:cNvPr id="3" name="Text 1"/>
          <p:cNvSpPr/>
          <p:nvPr/>
        </p:nvSpPr>
        <p:spPr>
          <a:xfrm>
            <a:off x="609585" y="682625"/>
            <a:ext cx="10972526" cy="484584"/>
          </a:xfrm>
          <a:prstGeom prst="rect">
            <a:avLst/>
          </a:prstGeom>
          <a:noFill/>
        </p:spPr>
        <p:txBody>
          <a:bodyPr wrap="none" lIns="0" tIns="0" rIns="0" bIns="0" rtlCol="0" anchor="t"/>
          <a:lstStyle/>
          <a:p>
            <a:pPr marL="0" indent="0" algn="l">
              <a:lnSpc>
                <a:spcPct val="88000"/>
              </a:lnSpc>
              <a:buNone/>
            </a:pPr>
            <a:r>
              <a:rPr lang="en-US" sz="3600" kern="100" spc="-36" dirty="0">
                <a:solidFill>
                  <a:srgbClr val="051D3A"/>
                </a:solidFill>
                <a:latin typeface="Funnel Display Medium" pitchFamily="34" charset="0"/>
                <a:ea typeface="Funnel Display Medium" pitchFamily="34" charset="-122"/>
                <a:cs typeface="Funnel Display Medium" pitchFamily="34" charset="-120"/>
              </a:rPr>
              <a:t>Cloud training, local camera inference</a:t>
            </a:r>
            <a:endParaRPr lang="en-US" sz="3600" dirty="0"/>
          </a:p>
        </p:txBody>
      </p:sp>
      <p:sp>
        <p:nvSpPr>
          <p:cNvPr id="4" name="Text 2"/>
          <p:cNvSpPr/>
          <p:nvPr/>
        </p:nvSpPr>
        <p:spPr>
          <a:xfrm>
            <a:off x="609585" y="1373584"/>
            <a:ext cx="1158211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STAGE 1 · RECOGNISE THE ACTION</a:t>
            </a:r>
            <a:endParaRPr lang="en-US" sz="1200" dirty="0"/>
          </a:p>
        </p:txBody>
      </p:sp>
      <p:sp>
        <p:nvSpPr>
          <p:cNvPr id="5" name="Shape 3"/>
          <p:cNvSpPr/>
          <p:nvPr/>
        </p:nvSpPr>
        <p:spPr>
          <a:xfrm>
            <a:off x="609585" y="1751409"/>
            <a:ext cx="3657509" cy="1335187"/>
          </a:xfrm>
          <a:prstGeom prst="rect">
            <a:avLst/>
          </a:prstGeom>
          <a:solidFill>
            <a:srgbClr val="E4DBF8"/>
          </a:solidFill>
        </p:spPr>
        <p:txBody>
          <a:bodyPr/>
          <a:lstStyle/>
          <a:p>
            <a:endParaRPr lang="zh-CN" altLang="en-US"/>
          </a:p>
        </p:txBody>
      </p:sp>
      <p:sp>
        <p:nvSpPr>
          <p:cNvPr id="6" name="Text 4"/>
          <p:cNvSpPr/>
          <p:nvPr/>
        </p:nvSpPr>
        <p:spPr>
          <a:xfrm>
            <a:off x="863578" y="1954609"/>
            <a:ext cx="3149521"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000000"/>
                </a:solidFill>
                <a:latin typeface="Funnel Sans SemiBold" pitchFamily="34" charset="0"/>
                <a:ea typeface="Funnel Sans SemiBold" pitchFamily="34" charset="-122"/>
                <a:cs typeface="Funnel Sans SemiBold" pitchFamily="34" charset="-120"/>
              </a:rPr>
              <a:t>Sample frames</a:t>
            </a:r>
            <a:endParaRPr lang="en-US" sz="1850" dirty="0"/>
          </a:p>
        </p:txBody>
      </p:sp>
      <p:sp>
        <p:nvSpPr>
          <p:cNvPr id="7" name="Text 5"/>
          <p:cNvSpPr/>
          <p:nvPr/>
        </p:nvSpPr>
        <p:spPr>
          <a:xfrm>
            <a:off x="863578" y="2385715"/>
            <a:ext cx="3149521"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5 fps, 224 × 224</a:t>
            </a:r>
            <a:endParaRPr lang="en-US" sz="1400" dirty="0"/>
          </a:p>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Keep real timestamps</a:t>
            </a:r>
            <a:endParaRPr lang="en-US" sz="1400" dirty="0"/>
          </a:p>
        </p:txBody>
      </p:sp>
      <p:sp>
        <p:nvSpPr>
          <p:cNvPr id="8" name="Shape 6"/>
          <p:cNvSpPr/>
          <p:nvPr/>
        </p:nvSpPr>
        <p:spPr>
          <a:xfrm>
            <a:off x="4267093" y="1751409"/>
            <a:ext cx="3657509" cy="1335187"/>
          </a:xfrm>
          <a:prstGeom prst="rect">
            <a:avLst/>
          </a:prstGeom>
          <a:solidFill>
            <a:srgbClr val="E4DBF8"/>
          </a:solidFill>
        </p:spPr>
        <p:txBody>
          <a:bodyPr/>
          <a:lstStyle/>
          <a:p>
            <a:endParaRPr lang="zh-CN" altLang="en-US"/>
          </a:p>
        </p:txBody>
      </p:sp>
      <p:sp>
        <p:nvSpPr>
          <p:cNvPr id="9" name="Text 7"/>
          <p:cNvSpPr/>
          <p:nvPr/>
        </p:nvSpPr>
        <p:spPr>
          <a:xfrm>
            <a:off x="4521087" y="1954609"/>
            <a:ext cx="3149521"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000000"/>
                </a:solidFill>
                <a:latin typeface="Funnel Sans SemiBold" pitchFamily="34" charset="0"/>
                <a:ea typeface="Funnel Sans SemiBold" pitchFamily="34" charset="-122"/>
                <a:cs typeface="Funnel Sans SemiBold" pitchFamily="34" charset="-120"/>
              </a:rPr>
              <a:t>YOLO26n-cls</a:t>
            </a:r>
            <a:endParaRPr lang="en-US" sz="1850" dirty="0"/>
          </a:p>
        </p:txBody>
      </p:sp>
      <p:sp>
        <p:nvSpPr>
          <p:cNvPr id="10" name="Text 8"/>
          <p:cNvSpPr/>
          <p:nvPr/>
        </p:nvSpPr>
        <p:spPr>
          <a:xfrm>
            <a:off x="4521087" y="2385715"/>
            <a:ext cx="3149521"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Per-frame classification</a:t>
            </a:r>
            <a:endParaRPr lang="en-US" sz="1400" dirty="0"/>
          </a:p>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Transfer learning</a:t>
            </a:r>
            <a:endParaRPr lang="en-US" sz="1400" dirty="0"/>
          </a:p>
        </p:txBody>
      </p:sp>
      <p:sp>
        <p:nvSpPr>
          <p:cNvPr id="11" name="Shape 9"/>
          <p:cNvSpPr/>
          <p:nvPr/>
        </p:nvSpPr>
        <p:spPr>
          <a:xfrm>
            <a:off x="7924602" y="1751409"/>
            <a:ext cx="3657509" cy="1335187"/>
          </a:xfrm>
          <a:prstGeom prst="rect">
            <a:avLst/>
          </a:prstGeom>
          <a:solidFill>
            <a:srgbClr val="E4DBF8"/>
          </a:solidFill>
        </p:spPr>
        <p:txBody>
          <a:bodyPr/>
          <a:lstStyle/>
          <a:p>
            <a:endParaRPr lang="zh-CN" altLang="en-US"/>
          </a:p>
        </p:txBody>
      </p:sp>
      <p:sp>
        <p:nvSpPr>
          <p:cNvPr id="12" name="Text 10"/>
          <p:cNvSpPr/>
          <p:nvPr/>
        </p:nvSpPr>
        <p:spPr>
          <a:xfrm>
            <a:off x="8178595" y="1954609"/>
            <a:ext cx="3149521"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000000"/>
                </a:solidFill>
                <a:latin typeface="Funnel Sans SemiBold" pitchFamily="34" charset="0"/>
                <a:ea typeface="Funnel Sans SemiBold" pitchFamily="34" charset="-122"/>
                <a:cs typeface="Funnel Sans SemiBold" pitchFamily="34" charset="-120"/>
              </a:rPr>
              <a:t>Train in the cloud</a:t>
            </a:r>
            <a:endParaRPr lang="en-US" sz="1850" dirty="0"/>
          </a:p>
        </p:txBody>
      </p:sp>
      <p:sp>
        <p:nvSpPr>
          <p:cNvPr id="13" name="Text 11"/>
          <p:cNvSpPr/>
          <p:nvPr/>
        </p:nvSpPr>
        <p:spPr>
          <a:xfrm>
            <a:off x="8178595" y="2385715"/>
            <a:ext cx="3149521"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Cleaned PSKUS</a:t>
            </a:r>
            <a:endParaRPr lang="en-US" sz="1400" dirty="0"/>
          </a:p>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Video-disjoint splits</a:t>
            </a:r>
            <a:endParaRPr lang="en-US" sz="1400" dirty="0"/>
          </a:p>
        </p:txBody>
      </p:sp>
      <p:sp>
        <p:nvSpPr>
          <p:cNvPr id="14" name="Text 12"/>
          <p:cNvSpPr/>
          <p:nvPr/>
        </p:nvSpPr>
        <p:spPr>
          <a:xfrm>
            <a:off x="609585" y="3273921"/>
            <a:ext cx="1158211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STAGE 2 · SHOW IT LIVE</a:t>
            </a:r>
            <a:endParaRPr lang="en-US" sz="1200" dirty="0"/>
          </a:p>
        </p:txBody>
      </p:sp>
      <p:sp>
        <p:nvSpPr>
          <p:cNvPr id="15" name="Shape 13"/>
          <p:cNvSpPr/>
          <p:nvPr/>
        </p:nvSpPr>
        <p:spPr>
          <a:xfrm>
            <a:off x="609585" y="3651746"/>
            <a:ext cx="3657509" cy="1335187"/>
          </a:xfrm>
          <a:prstGeom prst="rect">
            <a:avLst/>
          </a:prstGeom>
          <a:solidFill>
            <a:srgbClr val="D3F0ED"/>
          </a:solidFill>
        </p:spPr>
        <p:txBody>
          <a:bodyPr/>
          <a:lstStyle/>
          <a:p>
            <a:endParaRPr lang="zh-CN" altLang="en-US"/>
          </a:p>
        </p:txBody>
      </p:sp>
      <p:sp>
        <p:nvSpPr>
          <p:cNvPr id="16" name="Text 14"/>
          <p:cNvSpPr/>
          <p:nvPr/>
        </p:nvSpPr>
        <p:spPr>
          <a:xfrm>
            <a:off x="863578" y="3854946"/>
            <a:ext cx="3149521"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000000"/>
                </a:solidFill>
                <a:latin typeface="Funnel Sans SemiBold" pitchFamily="34" charset="0"/>
                <a:ea typeface="Funnel Sans SemiBold" pitchFamily="34" charset="-122"/>
                <a:cs typeface="Funnel Sans SemiBold" pitchFamily="34" charset="-120"/>
              </a:rPr>
              <a:t>Export weights</a:t>
            </a:r>
            <a:endParaRPr lang="en-US" sz="1850" dirty="0"/>
          </a:p>
        </p:txBody>
      </p:sp>
      <p:sp>
        <p:nvSpPr>
          <p:cNvPr id="17" name="Text 15"/>
          <p:cNvSpPr/>
          <p:nvPr/>
        </p:nvSpPr>
        <p:spPr>
          <a:xfrm>
            <a:off x="863578" y="4286052"/>
            <a:ext cx="3149521"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Checkpoint, label order</a:t>
            </a:r>
            <a:endParaRPr lang="en-US" sz="1400" dirty="0"/>
          </a:p>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and preprocessing</a:t>
            </a:r>
            <a:endParaRPr lang="en-US" sz="1400" dirty="0"/>
          </a:p>
        </p:txBody>
      </p:sp>
      <p:sp>
        <p:nvSpPr>
          <p:cNvPr id="18" name="Shape 16"/>
          <p:cNvSpPr/>
          <p:nvPr/>
        </p:nvSpPr>
        <p:spPr>
          <a:xfrm>
            <a:off x="4267093" y="3651746"/>
            <a:ext cx="3657509" cy="1335187"/>
          </a:xfrm>
          <a:prstGeom prst="rect">
            <a:avLst/>
          </a:prstGeom>
          <a:solidFill>
            <a:srgbClr val="D3F0ED"/>
          </a:solidFill>
        </p:spPr>
        <p:txBody>
          <a:bodyPr/>
          <a:lstStyle/>
          <a:p>
            <a:endParaRPr lang="zh-CN" altLang="en-US"/>
          </a:p>
        </p:txBody>
      </p:sp>
      <p:sp>
        <p:nvSpPr>
          <p:cNvPr id="19" name="Text 17"/>
          <p:cNvSpPr/>
          <p:nvPr/>
        </p:nvSpPr>
        <p:spPr>
          <a:xfrm>
            <a:off x="4521087" y="3854946"/>
            <a:ext cx="3149521"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000000"/>
                </a:solidFill>
                <a:latin typeface="Funnel Sans SemiBold" pitchFamily="34" charset="0"/>
                <a:ea typeface="Funnel Sans SemiBold" pitchFamily="34" charset="-122"/>
                <a:cs typeface="Funnel Sans SemiBold" pitchFamily="34" charset="-120"/>
              </a:rPr>
              <a:t>Verify on real video</a:t>
            </a:r>
            <a:endParaRPr lang="en-US" sz="1850" dirty="0"/>
          </a:p>
        </p:txBody>
      </p:sp>
      <p:sp>
        <p:nvSpPr>
          <p:cNvPr id="20" name="Text 18"/>
          <p:cNvSpPr/>
          <p:nvPr/>
        </p:nvSpPr>
        <p:spPr>
          <a:xfrm>
            <a:off x="4521087" y="4286052"/>
            <a:ext cx="3149521"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Existing infer pipeline</a:t>
            </a:r>
            <a:endParaRPr lang="en-US" sz="1400" dirty="0"/>
          </a:p>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and six-step report</a:t>
            </a:r>
            <a:endParaRPr lang="en-US" sz="1400" dirty="0"/>
          </a:p>
        </p:txBody>
      </p:sp>
      <p:sp>
        <p:nvSpPr>
          <p:cNvPr id="21" name="Shape 19"/>
          <p:cNvSpPr/>
          <p:nvPr/>
        </p:nvSpPr>
        <p:spPr>
          <a:xfrm>
            <a:off x="7924602" y="3651746"/>
            <a:ext cx="3657509" cy="1335187"/>
          </a:xfrm>
          <a:prstGeom prst="rect">
            <a:avLst/>
          </a:prstGeom>
          <a:solidFill>
            <a:srgbClr val="D3F0ED"/>
          </a:solidFill>
        </p:spPr>
        <p:txBody>
          <a:bodyPr/>
          <a:lstStyle/>
          <a:p>
            <a:endParaRPr lang="zh-CN" altLang="en-US"/>
          </a:p>
        </p:txBody>
      </p:sp>
      <p:sp>
        <p:nvSpPr>
          <p:cNvPr id="22" name="Text 20"/>
          <p:cNvSpPr/>
          <p:nvPr/>
        </p:nvSpPr>
        <p:spPr>
          <a:xfrm>
            <a:off x="8178595" y="3854946"/>
            <a:ext cx="3149521"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000000"/>
                </a:solidFill>
                <a:latin typeface="Funnel Sans SemiBold" pitchFamily="34" charset="0"/>
                <a:ea typeface="Funnel Sans SemiBold" pitchFamily="34" charset="-122"/>
                <a:cs typeface="Funnel Sans SemiBold" pitchFamily="34" charset="-120"/>
              </a:rPr>
              <a:t>Camera web page</a:t>
            </a:r>
            <a:endParaRPr lang="en-US" sz="1850" dirty="0"/>
          </a:p>
        </p:txBody>
      </p:sp>
      <p:sp>
        <p:nvSpPr>
          <p:cNvPr id="23" name="Text 21"/>
          <p:cNvSpPr/>
          <p:nvPr/>
        </p:nvSpPr>
        <p:spPr>
          <a:xfrm>
            <a:off x="8178595" y="4286052"/>
            <a:ext cx="3149521"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Current step, progress</a:t>
            </a:r>
            <a:endParaRPr lang="en-US" sz="1400" dirty="0"/>
          </a:p>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and final report</a:t>
            </a:r>
            <a:endParaRPr lang="en-US" sz="1400" dirty="0"/>
          </a:p>
        </p:txBody>
      </p:sp>
      <p:sp>
        <p:nvSpPr>
          <p:cNvPr id="24" name="Text 22"/>
          <p:cNvSpPr/>
          <p:nvPr/>
        </p:nvSpPr>
        <p:spPr>
          <a:xfrm>
            <a:off x="609585" y="5953919"/>
            <a:ext cx="10972526"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Planned formal run: YOLO26n-cls, 224 px. Demo: exp.pt (YOLO26m-cls, 320 px) + GRU temporal head.</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First delivery: a live camera web page on the deployment machine. Cloud training, local inference.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sp>
        <p:nvSpPr>
          <p:cNvPr id="2" name="Text 0"/>
          <p:cNvSpPr/>
          <p:nvPr/>
        </p:nvSpPr>
        <p:spPr>
          <a:xfrm>
            <a:off x="609585" y="406400"/>
            <a:ext cx="800080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INTERACTION DESIGN</a:t>
            </a:r>
            <a:endParaRPr lang="en-US" sz="1200" dirty="0"/>
          </a:p>
        </p:txBody>
      </p:sp>
      <p:sp>
        <p:nvSpPr>
          <p:cNvPr id="3" name="Text 1"/>
          <p:cNvSpPr/>
          <p:nvPr/>
        </p:nvSpPr>
        <p:spPr>
          <a:xfrm>
            <a:off x="609585" y="682625"/>
            <a:ext cx="8000800" cy="484584"/>
          </a:xfrm>
          <a:prstGeom prst="rect">
            <a:avLst/>
          </a:prstGeom>
          <a:noFill/>
        </p:spPr>
        <p:txBody>
          <a:bodyPr wrap="none" lIns="0" tIns="0" rIns="0" bIns="0" rtlCol="0" anchor="t"/>
          <a:lstStyle/>
          <a:p>
            <a:pPr marL="0" indent="0" algn="l">
              <a:lnSpc>
                <a:spcPct val="88000"/>
              </a:lnSpc>
              <a:buNone/>
            </a:pPr>
            <a:r>
              <a:rPr lang="en-US" sz="3600" kern="100" spc="-36" dirty="0">
                <a:solidFill>
                  <a:srgbClr val="051D3A"/>
                </a:solidFill>
                <a:latin typeface="Funnel Display Medium" pitchFamily="34" charset="0"/>
                <a:ea typeface="Funnel Display Medium" pitchFamily="34" charset="-122"/>
                <a:cs typeface="Funnel Display Medium" pitchFamily="34" charset="-120"/>
              </a:rPr>
              <a:t>What the user will see</a:t>
            </a:r>
            <a:endParaRPr lang="en-US" sz="3600" dirty="0"/>
          </a:p>
        </p:txBody>
      </p:sp>
      <p:sp>
        <p:nvSpPr>
          <p:cNvPr id="4" name="Text 2"/>
          <p:cNvSpPr/>
          <p:nvPr/>
        </p:nvSpPr>
        <p:spPr>
          <a:xfrm>
            <a:off x="609585" y="1373584"/>
            <a:ext cx="8000800" cy="214313"/>
          </a:xfrm>
          <a:prstGeom prst="rect">
            <a:avLst/>
          </a:prstGeom>
          <a:noFill/>
        </p:spPr>
        <p:txBody>
          <a:bodyPr wrap="non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Illustrative workflow, not an experimental result</a:t>
            </a:r>
            <a:endParaRPr lang="en-US" sz="1250" dirty="0"/>
          </a:p>
        </p:txBody>
      </p:sp>
      <p:pic>
        <p:nvPicPr>
          <p:cNvPr id="5" name="Image 0" descr="preencoded.png"/>
          <p:cNvPicPr>
            <a:picLocks noChangeAspect="1"/>
          </p:cNvPicPr>
          <p:nvPr/>
        </p:nvPicPr>
        <p:blipFill>
          <a:blip r:embed="rId3"/>
          <a:stretch>
            <a:fillRect/>
          </a:stretch>
        </p:blipFill>
        <p:spPr>
          <a:xfrm>
            <a:off x="8915177" y="406400"/>
            <a:ext cx="2393096" cy="1346101"/>
          </a:xfrm>
          <a:prstGeom prst="rect">
            <a:avLst/>
          </a:prstGeom>
        </p:spPr>
      </p:pic>
      <p:sp>
        <p:nvSpPr>
          <p:cNvPr id="6" name="Shape 3"/>
          <p:cNvSpPr/>
          <p:nvPr/>
        </p:nvSpPr>
        <p:spPr>
          <a:xfrm>
            <a:off x="609585" y="2344341"/>
            <a:ext cx="2514537" cy="2304752"/>
          </a:xfrm>
          <a:prstGeom prst="roundRect">
            <a:avLst>
              <a:gd name="adj" fmla="val 3819"/>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7" name="Shape 4"/>
          <p:cNvSpPr/>
          <p:nvPr/>
        </p:nvSpPr>
        <p:spPr>
          <a:xfrm>
            <a:off x="812780" y="2572941"/>
            <a:ext cx="584185" cy="584200"/>
          </a:xfrm>
          <a:prstGeom prst="ellipse">
            <a:avLst/>
          </a:prstGeom>
          <a:solidFill>
            <a:srgbClr val="7FD6D2"/>
          </a:solidFill>
          <a:effectLst>
            <a:outerShdw blurRad="125730" dist="127" dir="16200000" algn="bl" rotWithShape="0">
              <a:srgbClr val="6A4FC8">
                <a:alpha val="20000"/>
              </a:srgbClr>
            </a:outerShdw>
          </a:effectLst>
        </p:spPr>
        <p:txBody>
          <a:bodyPr/>
          <a:lstStyle/>
          <a:p>
            <a:endParaRPr lang="zh-CN" altLang="en-US"/>
          </a:p>
        </p:txBody>
      </p:sp>
      <p:pic>
        <p:nvPicPr>
          <p:cNvPr id="8" name="Image 1" descr="preencoded.png"/>
          <p:cNvPicPr>
            <a:picLocks noChangeAspect="1"/>
          </p:cNvPicPr>
          <p:nvPr/>
        </p:nvPicPr>
        <p:blipFill>
          <a:blip r:embed="rId4"/>
          <a:stretch>
            <a:fillRect/>
          </a:stretch>
        </p:blipFill>
        <p:spPr>
          <a:xfrm>
            <a:off x="812780" y="2572941"/>
            <a:ext cx="584185" cy="584200"/>
          </a:xfrm>
          <a:prstGeom prst="rect">
            <a:avLst/>
          </a:prstGeom>
        </p:spPr>
      </p:pic>
      <p:sp>
        <p:nvSpPr>
          <p:cNvPr id="9" name="Text 5"/>
          <p:cNvSpPr/>
          <p:nvPr/>
        </p:nvSpPr>
        <p:spPr>
          <a:xfrm>
            <a:off x="1028178" y="2731691"/>
            <a:ext cx="762973"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1</a:t>
            </a:r>
            <a:endParaRPr lang="en-US" sz="2100" dirty="0"/>
          </a:p>
        </p:txBody>
      </p:sp>
      <p:sp>
        <p:nvSpPr>
          <p:cNvPr id="10" name="Text 6"/>
          <p:cNvSpPr/>
          <p:nvPr/>
        </p:nvSpPr>
        <p:spPr>
          <a:xfrm>
            <a:off x="812780" y="3242866"/>
            <a:ext cx="2108147"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Pick a camera</a:t>
            </a:r>
            <a:endParaRPr lang="en-US" sz="1850" dirty="0"/>
          </a:p>
        </p:txBody>
      </p:sp>
      <p:sp>
        <p:nvSpPr>
          <p:cNvPr id="11" name="Text 7"/>
          <p:cNvSpPr/>
          <p:nvPr/>
        </p:nvSpPr>
        <p:spPr>
          <a:xfrm>
            <a:off x="812780" y="3673971"/>
            <a:ext cx="2108147" cy="746522"/>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Select the external camera and allow browser access.</a:t>
            </a:r>
            <a:endParaRPr lang="en-US" sz="1400" dirty="0"/>
          </a:p>
        </p:txBody>
      </p:sp>
      <p:sp>
        <p:nvSpPr>
          <p:cNvPr id="12" name="Shape 8"/>
          <p:cNvSpPr/>
          <p:nvPr/>
        </p:nvSpPr>
        <p:spPr>
          <a:xfrm>
            <a:off x="3428914" y="2344341"/>
            <a:ext cx="2514537" cy="2304752"/>
          </a:xfrm>
          <a:prstGeom prst="roundRect">
            <a:avLst>
              <a:gd name="adj" fmla="val 3819"/>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13" name="Shape 9"/>
          <p:cNvSpPr/>
          <p:nvPr/>
        </p:nvSpPr>
        <p:spPr>
          <a:xfrm>
            <a:off x="3632109" y="2572941"/>
            <a:ext cx="584185" cy="584200"/>
          </a:xfrm>
          <a:prstGeom prst="ellipse">
            <a:avLst/>
          </a:prstGeom>
          <a:solidFill>
            <a:srgbClr val="7FD6D2"/>
          </a:solidFill>
          <a:effectLst>
            <a:outerShdw blurRad="125730" dist="127" dir="16200000" algn="bl" rotWithShape="0">
              <a:srgbClr val="6A4FC8">
                <a:alpha val="20000"/>
              </a:srgbClr>
            </a:outerShdw>
          </a:effectLst>
        </p:spPr>
        <p:txBody>
          <a:bodyPr/>
          <a:lstStyle/>
          <a:p>
            <a:endParaRPr lang="zh-CN" altLang="en-US"/>
          </a:p>
        </p:txBody>
      </p:sp>
      <p:pic>
        <p:nvPicPr>
          <p:cNvPr id="14" name="Image 2" descr="preencoded.png"/>
          <p:cNvPicPr>
            <a:picLocks noChangeAspect="1"/>
          </p:cNvPicPr>
          <p:nvPr/>
        </p:nvPicPr>
        <p:blipFill>
          <a:blip r:embed="rId4"/>
          <a:stretch>
            <a:fillRect/>
          </a:stretch>
        </p:blipFill>
        <p:spPr>
          <a:xfrm>
            <a:off x="3632109" y="2572941"/>
            <a:ext cx="584185" cy="584200"/>
          </a:xfrm>
          <a:prstGeom prst="rect">
            <a:avLst/>
          </a:prstGeom>
        </p:spPr>
      </p:pic>
      <p:sp>
        <p:nvSpPr>
          <p:cNvPr id="15" name="Text 10"/>
          <p:cNvSpPr/>
          <p:nvPr/>
        </p:nvSpPr>
        <p:spPr>
          <a:xfrm>
            <a:off x="3847508" y="2731691"/>
            <a:ext cx="762973"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2</a:t>
            </a:r>
            <a:endParaRPr lang="en-US" sz="2100" dirty="0"/>
          </a:p>
        </p:txBody>
      </p:sp>
      <p:sp>
        <p:nvSpPr>
          <p:cNvPr id="16" name="Text 11"/>
          <p:cNvSpPr/>
          <p:nvPr/>
        </p:nvSpPr>
        <p:spPr>
          <a:xfrm>
            <a:off x="3632109" y="3242866"/>
            <a:ext cx="2108147"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Live preview</a:t>
            </a:r>
            <a:endParaRPr lang="en-US" sz="1850" dirty="0"/>
          </a:p>
        </p:txBody>
      </p:sp>
      <p:sp>
        <p:nvSpPr>
          <p:cNvPr id="17" name="Text 12"/>
          <p:cNvSpPr/>
          <p:nvPr/>
        </p:nvSpPr>
        <p:spPr>
          <a:xfrm>
            <a:off x="3632109" y="3673971"/>
            <a:ext cx="2108147"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See the current step and its confidence.</a:t>
            </a:r>
            <a:endParaRPr lang="en-US" sz="1400" dirty="0"/>
          </a:p>
        </p:txBody>
      </p:sp>
      <p:sp>
        <p:nvSpPr>
          <p:cNvPr id="18" name="Shape 13"/>
          <p:cNvSpPr/>
          <p:nvPr/>
        </p:nvSpPr>
        <p:spPr>
          <a:xfrm>
            <a:off x="6248244" y="2344341"/>
            <a:ext cx="2514537" cy="2304752"/>
          </a:xfrm>
          <a:prstGeom prst="roundRect">
            <a:avLst>
              <a:gd name="adj" fmla="val 3819"/>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19" name="Shape 14"/>
          <p:cNvSpPr/>
          <p:nvPr/>
        </p:nvSpPr>
        <p:spPr>
          <a:xfrm>
            <a:off x="6451439" y="2572941"/>
            <a:ext cx="584185" cy="584200"/>
          </a:xfrm>
          <a:prstGeom prst="ellipse">
            <a:avLst/>
          </a:prstGeom>
          <a:solidFill>
            <a:srgbClr val="7FD6D2"/>
          </a:solidFill>
          <a:effectLst>
            <a:outerShdw blurRad="125730" dist="127" dir="16200000" algn="bl" rotWithShape="0">
              <a:srgbClr val="6A4FC8">
                <a:alpha val="20000"/>
              </a:srgbClr>
            </a:outerShdw>
          </a:effectLst>
        </p:spPr>
        <p:txBody>
          <a:bodyPr/>
          <a:lstStyle/>
          <a:p>
            <a:endParaRPr lang="zh-CN" altLang="en-US"/>
          </a:p>
        </p:txBody>
      </p:sp>
      <p:pic>
        <p:nvPicPr>
          <p:cNvPr id="20" name="Image 3" descr="preencoded.png"/>
          <p:cNvPicPr>
            <a:picLocks noChangeAspect="1"/>
          </p:cNvPicPr>
          <p:nvPr/>
        </p:nvPicPr>
        <p:blipFill>
          <a:blip r:embed="rId4"/>
          <a:stretch>
            <a:fillRect/>
          </a:stretch>
        </p:blipFill>
        <p:spPr>
          <a:xfrm>
            <a:off x="6451439" y="2572941"/>
            <a:ext cx="584185" cy="584200"/>
          </a:xfrm>
          <a:prstGeom prst="rect">
            <a:avLst/>
          </a:prstGeom>
        </p:spPr>
      </p:pic>
      <p:sp>
        <p:nvSpPr>
          <p:cNvPr id="21" name="Text 15"/>
          <p:cNvSpPr/>
          <p:nvPr/>
        </p:nvSpPr>
        <p:spPr>
          <a:xfrm>
            <a:off x="6666837" y="2731691"/>
            <a:ext cx="762973"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3</a:t>
            </a:r>
            <a:endParaRPr lang="en-US" sz="2100" dirty="0"/>
          </a:p>
        </p:txBody>
      </p:sp>
      <p:sp>
        <p:nvSpPr>
          <p:cNvPr id="22" name="Text 16"/>
          <p:cNvSpPr/>
          <p:nvPr/>
        </p:nvSpPr>
        <p:spPr>
          <a:xfrm>
            <a:off x="6451439" y="3242866"/>
            <a:ext cx="2108147"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Six-step progress</a:t>
            </a:r>
            <a:endParaRPr lang="en-US" sz="1850" dirty="0"/>
          </a:p>
        </p:txBody>
      </p:sp>
      <p:sp>
        <p:nvSpPr>
          <p:cNvPr id="23" name="Text 17"/>
          <p:cNvSpPr/>
          <p:nvPr/>
        </p:nvSpPr>
        <p:spPr>
          <a:xfrm>
            <a:off x="6451439" y="3673971"/>
            <a:ext cx="2108147"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Track provisional coverage while washing.</a:t>
            </a:r>
            <a:endParaRPr lang="en-US" sz="1400" dirty="0"/>
          </a:p>
        </p:txBody>
      </p:sp>
      <p:sp>
        <p:nvSpPr>
          <p:cNvPr id="24" name="Shape 18"/>
          <p:cNvSpPr/>
          <p:nvPr/>
        </p:nvSpPr>
        <p:spPr>
          <a:xfrm>
            <a:off x="9067573" y="2344341"/>
            <a:ext cx="2514537" cy="2304752"/>
          </a:xfrm>
          <a:prstGeom prst="roundRect">
            <a:avLst>
              <a:gd name="adj" fmla="val 3819"/>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25" name="Shape 19"/>
          <p:cNvSpPr/>
          <p:nvPr/>
        </p:nvSpPr>
        <p:spPr>
          <a:xfrm>
            <a:off x="9270768" y="2572941"/>
            <a:ext cx="584185" cy="584200"/>
          </a:xfrm>
          <a:prstGeom prst="ellipse">
            <a:avLst/>
          </a:prstGeom>
          <a:solidFill>
            <a:srgbClr val="7FD6D2"/>
          </a:solidFill>
          <a:effectLst>
            <a:outerShdw blurRad="125730" dist="127" dir="16200000" algn="bl" rotWithShape="0">
              <a:srgbClr val="6A4FC8">
                <a:alpha val="20000"/>
              </a:srgbClr>
            </a:outerShdw>
          </a:effectLst>
        </p:spPr>
        <p:txBody>
          <a:bodyPr/>
          <a:lstStyle/>
          <a:p>
            <a:endParaRPr lang="zh-CN" altLang="en-US"/>
          </a:p>
        </p:txBody>
      </p:sp>
      <p:pic>
        <p:nvPicPr>
          <p:cNvPr id="26" name="Image 4" descr="preencoded.png"/>
          <p:cNvPicPr>
            <a:picLocks noChangeAspect="1"/>
          </p:cNvPicPr>
          <p:nvPr/>
        </p:nvPicPr>
        <p:blipFill>
          <a:blip r:embed="rId4"/>
          <a:stretch>
            <a:fillRect/>
          </a:stretch>
        </p:blipFill>
        <p:spPr>
          <a:xfrm>
            <a:off x="9270768" y="2572941"/>
            <a:ext cx="584185" cy="584200"/>
          </a:xfrm>
          <a:prstGeom prst="rect">
            <a:avLst/>
          </a:prstGeom>
        </p:spPr>
      </p:pic>
      <p:sp>
        <p:nvSpPr>
          <p:cNvPr id="27" name="Text 20"/>
          <p:cNvSpPr/>
          <p:nvPr/>
        </p:nvSpPr>
        <p:spPr>
          <a:xfrm>
            <a:off x="9486167" y="2731691"/>
            <a:ext cx="762973"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4</a:t>
            </a:r>
            <a:endParaRPr lang="en-US" sz="2100" dirty="0"/>
          </a:p>
        </p:txBody>
      </p:sp>
      <p:sp>
        <p:nvSpPr>
          <p:cNvPr id="28" name="Text 21"/>
          <p:cNvSpPr/>
          <p:nvPr/>
        </p:nvSpPr>
        <p:spPr>
          <a:xfrm>
            <a:off x="9270768" y="3242866"/>
            <a:ext cx="2108147"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Session report</a:t>
            </a:r>
            <a:endParaRPr lang="en-US" sz="1850" dirty="0"/>
          </a:p>
        </p:txBody>
      </p:sp>
      <p:sp>
        <p:nvSpPr>
          <p:cNvPr id="29" name="Text 22"/>
          <p:cNvSpPr/>
          <p:nvPr/>
        </p:nvSpPr>
        <p:spPr>
          <a:xfrm>
            <a:off x="9270768" y="3673971"/>
            <a:ext cx="2108147" cy="746522"/>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Stop the session to compute the final completeness report.</a:t>
            </a:r>
            <a:endParaRPr lang="en-US" sz="1400" dirty="0"/>
          </a:p>
        </p:txBody>
      </p:sp>
      <p:sp>
        <p:nvSpPr>
          <p:cNvPr id="30" name="Text 23"/>
          <p:cNvSpPr/>
          <p:nvPr/>
        </p:nvSpPr>
        <p:spPr>
          <a:xfrm>
            <a:off x="609585" y="5240933"/>
            <a:ext cx="10972526" cy="563761"/>
          </a:xfrm>
          <a:prstGeom prst="rect">
            <a:avLst/>
          </a:prstGeom>
          <a:noFill/>
        </p:spPr>
        <p:txBody>
          <a:bodyPr wrap="square" lIns="0" tIns="0" rIns="0" bIns="0" rtlCol="0" anchor="t">
            <a:normAutofit lnSpcReduction="10000"/>
          </a:bodyPr>
          <a:lstStyle/>
          <a:p>
            <a:pPr marL="0" indent="0" algn="l">
              <a:lnSpc>
                <a:spcPct val="100000"/>
              </a:lnSpc>
              <a:buNone/>
            </a:pPr>
            <a:r>
              <a:rPr lang="en-US" sz="1850" kern="100" spc="-9" dirty="0">
                <a:solidFill>
                  <a:srgbClr val="051D3A"/>
                </a:solidFill>
                <a:latin typeface="Funnel Sans SemiBold" pitchFamily="34" charset="0"/>
                <a:ea typeface="Funnel Sans SemiBold" pitchFamily="34" charset="-122"/>
                <a:cs typeface="Funnel Sans SemiBold" pitchFamily="34" charset="-120"/>
              </a:rPr>
              <a:t>Real-time display is provisional and uses only frames already received.</a:t>
            </a:r>
            <a:endParaRPr lang="en-US" sz="1850" dirty="0"/>
          </a:p>
          <a:p>
            <a:pPr marL="0" indent="0" algn="l">
              <a:lnSpc>
                <a:spcPct val="100000"/>
              </a:lnSpc>
              <a:buNone/>
            </a:pPr>
            <a:r>
              <a:rPr lang="en-US" sz="1850" kern="100" spc="-9" dirty="0">
                <a:solidFill>
                  <a:srgbClr val="051D3A"/>
                </a:solidFill>
                <a:latin typeface="Funnel Sans SemiBold" pitchFamily="34" charset="0"/>
                <a:ea typeface="Funnel Sans SemiBold" pitchFamily="34" charset="-122"/>
                <a:cs typeface="Funnel Sans SemiBold" pitchFamily="34" charset="-120"/>
              </a:rPr>
              <a:t>The final report is computed when the session stops.</a:t>
            </a:r>
            <a:endParaRPr lang="en-US" sz="1850" dirty="0"/>
          </a:p>
        </p:txBody>
      </p:sp>
      <p:sp>
        <p:nvSpPr>
          <p:cNvPr id="31" name="Text 24"/>
          <p:cNvSpPr/>
          <p:nvPr/>
        </p:nvSpPr>
        <p:spPr>
          <a:xfrm>
            <a:off x="609585" y="5953919"/>
            <a:ext cx="10972526"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exp.pt + GRU head: seven-class demo model, not a final result.</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Camera accuracy and latency have not yet been measured.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sp>
        <p:nvSpPr>
          <p:cNvPr id="2" name="Text 0"/>
          <p:cNvSpPr/>
          <p:nvPr/>
        </p:nvSpPr>
        <p:spPr>
          <a:xfrm>
            <a:off x="609585" y="406400"/>
            <a:ext cx="800080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WORKING DEMO</a:t>
            </a:r>
            <a:endParaRPr lang="en-US" sz="1200" dirty="0"/>
          </a:p>
        </p:txBody>
      </p:sp>
      <p:sp>
        <p:nvSpPr>
          <p:cNvPr id="3" name="Text 1"/>
          <p:cNvSpPr/>
          <p:nvPr/>
        </p:nvSpPr>
        <p:spPr>
          <a:xfrm>
            <a:off x="609585" y="682625"/>
            <a:ext cx="8000800" cy="484584"/>
          </a:xfrm>
          <a:prstGeom prst="rect">
            <a:avLst/>
          </a:prstGeom>
          <a:noFill/>
        </p:spPr>
        <p:txBody>
          <a:bodyPr wrap="none" lIns="0" tIns="0" rIns="0" bIns="0" rtlCol="0" anchor="t"/>
          <a:lstStyle/>
          <a:p>
            <a:pPr marL="0" indent="0" algn="l">
              <a:lnSpc>
                <a:spcPct val="88000"/>
              </a:lnSpc>
              <a:buNone/>
            </a:pPr>
            <a:r>
              <a:rPr lang="en-US" sz="3600" kern="100" spc="-36" dirty="0">
                <a:solidFill>
                  <a:srgbClr val="051D3A"/>
                </a:solidFill>
                <a:latin typeface="Funnel Display Medium" pitchFamily="34" charset="0"/>
                <a:ea typeface="Funnel Display Medium" pitchFamily="34" charset="-122"/>
                <a:cs typeface="Funnel Display Medium" pitchFamily="34" charset="-120"/>
              </a:rPr>
              <a:t>Live recognition and six-step report</a:t>
            </a:r>
            <a:endParaRPr lang="en-US" sz="3600" dirty="0"/>
          </a:p>
        </p:txBody>
      </p:sp>
      <p:sp>
        <p:nvSpPr>
          <p:cNvPr id="4" name="Text 2"/>
          <p:cNvSpPr/>
          <p:nvPr/>
        </p:nvSpPr>
        <p:spPr>
          <a:xfrm>
            <a:off x="609585" y="1221184"/>
            <a:ext cx="8000800" cy="214313"/>
          </a:xfrm>
          <a:prstGeom prst="rect">
            <a:avLst/>
          </a:prstGeom>
          <a:noFill/>
        </p:spPr>
        <p:txBody>
          <a:bodyPr wrap="non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Public PSKUS clip · exp.pt + GRU temporal head · model output, not ground truth</a:t>
            </a:r>
            <a:endParaRPr lang="en-US" sz="1250" dirty="0"/>
          </a:p>
        </p:txBody>
      </p:sp>
      <p:pic>
        <p:nvPicPr>
          <p:cNvPr id="7" name="图片 6">
            <a:extLst>
              <a:ext uri="{FF2B5EF4-FFF2-40B4-BE49-F238E27FC236}">
                <a16:creationId xmlns:a16="http://schemas.microsoft.com/office/drawing/2014/main" id="{850E87E1-C7CB-9550-D6AE-FA142E0C64CC}"/>
              </a:ext>
            </a:extLst>
          </p:cNvPr>
          <p:cNvPicPr>
            <a:picLocks noChangeAspect="1"/>
          </p:cNvPicPr>
          <p:nvPr/>
        </p:nvPicPr>
        <p:blipFill>
          <a:blip r:embed="rId3"/>
          <a:stretch>
            <a:fillRect/>
          </a:stretch>
        </p:blipFill>
        <p:spPr>
          <a:xfrm>
            <a:off x="619249" y="2011680"/>
            <a:ext cx="5289954" cy="3218688"/>
          </a:xfrm>
          <a:prstGeom prst="rect">
            <a:avLst/>
          </a:prstGeom>
        </p:spPr>
      </p:pic>
      <p:pic>
        <p:nvPicPr>
          <p:cNvPr id="8" name="Report screenshot"/>
          <p:cNvPicPr>
            <a:picLocks noChangeAspect="1"/>
          </p:cNvPicPr>
          <p:nvPr/>
        </p:nvPicPr>
        <p:blipFill>
          <a:blip r:embed="rId4"/>
          <a:stretch>
            <a:fillRect/>
          </a:stretch>
        </p:blipFill>
        <p:spPr>
          <a:xfrm>
            <a:off x="6183523" y="2011680"/>
            <a:ext cx="5389228" cy="3218688"/>
          </a:xfrm>
          <a:prstGeom prst="rect">
            <a:avLst/>
          </a:prstGeom>
        </p:spPr>
      </p:pic>
      <p:sp>
        <p:nvSpPr>
          <p:cNvPr id="9" name="Label live"/>
          <p:cNvSpPr/>
          <p:nvPr/>
        </p:nvSpPr>
        <p:spPr>
          <a:xfrm>
            <a:off x="619249" y="1737360"/>
            <a:ext cx="5289954"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LIVE VIEW</a:t>
            </a:r>
            <a:endParaRPr lang="en-US" sz="1200" dirty="0"/>
          </a:p>
        </p:txBody>
      </p:sp>
      <p:sp>
        <p:nvSpPr>
          <p:cNvPr id="10" name="Label report"/>
          <p:cNvSpPr/>
          <p:nvPr/>
        </p:nvSpPr>
        <p:spPr>
          <a:xfrm>
            <a:off x="6183523" y="1737360"/>
            <a:ext cx="5389228"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FINAL REPORT</a:t>
            </a:r>
            <a:endParaRPr lang="en-US" sz="1200" dirty="0"/>
          </a:p>
        </p:txBody>
      </p:sp>
      <p:sp>
        <p:nvSpPr>
          <p:cNvPr id="11" name="Caption live"/>
          <p:cNvSpPr/>
          <p:nvPr/>
        </p:nvSpPr>
        <p:spPr>
          <a:xfrm>
            <a:off x="619249" y="5367528"/>
            <a:ext cx="5289954" cy="457200"/>
          </a:xfrm>
          <a:prstGeom prst="rect">
            <a:avLst/>
          </a:prstGeom>
          <a:noFill/>
        </p:spPr>
        <p:txBody>
          <a:bodyPr wrap="squar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Each step is recognised for 5.0–8.0 s; the clip ends on Other once the hands leave the view.</a:t>
            </a:r>
            <a:endParaRPr lang="en-US" sz="1250" dirty="0"/>
          </a:p>
        </p:txBody>
      </p:sp>
      <p:sp>
        <p:nvSpPr>
          <p:cNvPr id="12" name="Caption report"/>
          <p:cNvSpPr/>
          <p:nvPr/>
        </p:nvSpPr>
        <p:spPr>
          <a:xfrm>
            <a:off x="6183523" y="5367528"/>
            <a:ext cx="5389228" cy="457200"/>
          </a:xfrm>
          <a:prstGeom prst="rect">
            <a:avLst/>
          </a:prstGeom>
          <a:noFill/>
        </p:spPr>
        <p:txBody>
          <a:bodyPr wrap="squar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6/6 steps in order, score 95; flagged: 37.2 s of rubbing, below the 40 s WHO guidance.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sp>
        <p:nvSpPr>
          <p:cNvPr id="2" name="Text 0"/>
          <p:cNvSpPr/>
          <p:nvPr/>
        </p:nvSpPr>
        <p:spPr>
          <a:xfrm>
            <a:off x="533387" y="381000"/>
            <a:ext cx="11658308"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EXPERIMENTS AND EVALUATION</a:t>
            </a:r>
            <a:endParaRPr lang="en-US" sz="1200" dirty="0"/>
          </a:p>
        </p:txBody>
      </p:sp>
      <p:sp>
        <p:nvSpPr>
          <p:cNvPr id="3" name="Text 1"/>
          <p:cNvSpPr/>
          <p:nvPr/>
        </p:nvSpPr>
        <p:spPr>
          <a:xfrm>
            <a:off x="533387" y="657225"/>
            <a:ext cx="11124922" cy="484584"/>
          </a:xfrm>
          <a:prstGeom prst="rect">
            <a:avLst/>
          </a:prstGeom>
          <a:noFill/>
        </p:spPr>
        <p:txBody>
          <a:bodyPr wrap="none" lIns="0" tIns="0" rIns="0" bIns="0" rtlCol="0" anchor="t"/>
          <a:lstStyle/>
          <a:p>
            <a:pPr marL="0" indent="0" algn="l">
              <a:lnSpc>
                <a:spcPct val="88000"/>
              </a:lnSpc>
              <a:buNone/>
            </a:pPr>
            <a:r>
              <a:rPr lang="en-US" sz="3600" kern="100" spc="-36" dirty="0">
                <a:solidFill>
                  <a:srgbClr val="051D3A"/>
                </a:solidFill>
                <a:latin typeface="Funnel Display Medium" pitchFamily="34" charset="0"/>
                <a:ea typeface="Funnel Display Medium" pitchFamily="34" charset="-122"/>
                <a:cs typeface="Funnel Display Medium" pitchFamily="34" charset="-120"/>
              </a:rPr>
              <a:t>Comparisons and measures of success</a:t>
            </a:r>
            <a:endParaRPr lang="en-US" sz="3600" dirty="0"/>
          </a:p>
        </p:txBody>
      </p:sp>
      <p:sp>
        <p:nvSpPr>
          <p:cNvPr id="4" name="Text 2"/>
          <p:cNvSpPr/>
          <p:nvPr/>
        </p:nvSpPr>
        <p:spPr>
          <a:xfrm>
            <a:off x="533387" y="1348184"/>
            <a:ext cx="480048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CONTROLLED COMPARISONS</a:t>
            </a:r>
            <a:endParaRPr lang="en-US" sz="1200" dirty="0"/>
          </a:p>
        </p:txBody>
      </p:sp>
      <p:sp>
        <p:nvSpPr>
          <p:cNvPr id="5" name="Shape 3"/>
          <p:cNvSpPr/>
          <p:nvPr/>
        </p:nvSpPr>
        <p:spPr>
          <a:xfrm>
            <a:off x="533387" y="1659334"/>
            <a:ext cx="4800480" cy="3436144"/>
          </a:xfrm>
          <a:prstGeom prst="roundRect">
            <a:avLst>
              <a:gd name="adj" fmla="val 2561"/>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graphicFrame>
        <p:nvGraphicFramePr>
          <p:cNvPr id="9" name="Table 0"/>
          <p:cNvGraphicFramePr>
            <a:graphicFrameLocks noGrp="1"/>
          </p:cNvGraphicFramePr>
          <p:nvPr/>
        </p:nvGraphicFramePr>
        <p:xfrm>
          <a:off x="736582" y="1837134"/>
          <a:ext cx="4394090" cy="3080468"/>
        </p:xfrm>
        <a:graphic>
          <a:graphicData uri="http://schemas.openxmlformats.org/drawingml/2006/table">
            <a:tbl>
              <a:tblPr/>
              <a:tblGrid>
                <a:gridCol w="1319080">
                  <a:extLst>
                    <a:ext uri="{9D8B030D-6E8A-4147-A177-3AD203B41FA5}">
                      <a16:colId xmlns:a16="http://schemas.microsoft.com/office/drawing/2014/main" val="20000"/>
                    </a:ext>
                  </a:extLst>
                </a:gridCol>
                <a:gridCol w="3075010">
                  <a:extLst>
                    <a:ext uri="{9D8B030D-6E8A-4147-A177-3AD203B41FA5}">
                      <a16:colId xmlns:a16="http://schemas.microsoft.com/office/drawing/2014/main" val="20001"/>
                    </a:ext>
                  </a:extLst>
                </a:gridCol>
              </a:tblGrid>
              <a:tr h="559977">
                <a:tc>
                  <a:txBody>
                    <a:bodyPr/>
                    <a:lstStyle/>
                    <a:p>
                      <a:pPr marL="0" indent="0" algn="l">
                        <a:buNone/>
                      </a:pPr>
                      <a:r>
                        <a:rPr lang="en-US" sz="1650" dirty="0">
                          <a:solidFill>
                            <a:srgbClr val="000000"/>
                          </a:solidFill>
                          <a:latin typeface="Funnel Sans" pitchFamily="34" charset="0"/>
                          <a:ea typeface="Funnel Sans" pitchFamily="34" charset="-122"/>
                          <a:cs typeface="Funnel Sans" pitchFamily="34" charset="-120"/>
                        </a:rPr>
                        <a:t>Group</a:t>
                      </a:r>
                      <a:endParaRPr lang="en-US" sz="1650" dirty="0">
                        <a:latin typeface="Funnel Sans" pitchFamily="34" charset="0"/>
                        <a:ea typeface="Funnel Sans" pitchFamily="34" charset="0"/>
                        <a:cs typeface="Funnel Sans" pitchFamily="34" charset="0"/>
                      </a:endParaRPr>
                    </a:p>
                  </a:txBody>
                  <a:tcPr marL="101598" marR="101598" marT="126997" marB="126997" anchor="ctr">
                    <a:lnL w="12700" cap="flat" cmpd="sng" algn="ctr">
                      <a:solidFill>
                        <a:srgbClr val="E4DBF8"/>
                      </a:solidFill>
                      <a:prstDash val="solid"/>
                      <a:round/>
                      <a:headEnd type="none" w="med" len="med"/>
                      <a:tailEnd type="none" w="med" len="med"/>
                    </a:lnL>
                    <a:lnR w="12700" cap="flat" cmpd="sng" algn="ctr">
                      <a:solidFill>
                        <a:srgbClr val="E4DBF8"/>
                      </a:solidFill>
                      <a:prstDash val="solid"/>
                      <a:round/>
                      <a:headEnd type="none" w="med" len="med"/>
                      <a:tailEnd type="none" w="med" len="med"/>
                    </a:lnR>
                    <a:lnT w="12700" cap="flat" cmpd="sng" algn="ctr">
                      <a:solidFill>
                        <a:srgbClr val="E4DBF8"/>
                      </a:solidFill>
                      <a:prstDash val="solid"/>
                      <a:round/>
                      <a:headEnd type="none" w="med" len="med"/>
                      <a:tailEnd type="none" w="med" len="med"/>
                    </a:lnT>
                    <a:lnB w="12700" cap="flat" cmpd="sng" algn="ctr">
                      <a:solidFill>
                        <a:srgbClr val="E3D9EC"/>
                      </a:solidFill>
                      <a:prstDash val="solid"/>
                      <a:round/>
                      <a:headEnd type="none" w="med" len="med"/>
                      <a:tailEnd type="none" w="med" len="med"/>
                    </a:lnB>
                    <a:solidFill>
                      <a:srgbClr val="E4DBF8"/>
                    </a:solidFill>
                  </a:tcPr>
                </a:tc>
                <a:tc>
                  <a:txBody>
                    <a:bodyPr/>
                    <a:lstStyle/>
                    <a:p>
                      <a:pPr marL="0" indent="0" algn="l">
                        <a:buNone/>
                      </a:pPr>
                      <a:r>
                        <a:rPr lang="en-US" sz="1650" dirty="0">
                          <a:solidFill>
                            <a:srgbClr val="000000"/>
                          </a:solidFill>
                          <a:latin typeface="Funnel Sans" pitchFamily="34" charset="0"/>
                          <a:ea typeface="Funnel Sans" pitchFamily="34" charset="-122"/>
                          <a:cs typeface="Funnel Sans" pitchFamily="34" charset="-120"/>
                        </a:rPr>
                        <a:t>Setting</a:t>
                      </a:r>
                      <a:endParaRPr lang="en-US" sz="1650" dirty="0">
                        <a:latin typeface="Funnel Sans" pitchFamily="34" charset="0"/>
                        <a:ea typeface="Funnel Sans" pitchFamily="34" charset="0"/>
                        <a:cs typeface="Funnel Sans" pitchFamily="34" charset="0"/>
                      </a:endParaRPr>
                    </a:p>
                  </a:txBody>
                  <a:tcPr marL="101598" marR="101598" marT="126997" marB="126997" anchor="ctr">
                    <a:lnL w="12700" cap="flat" cmpd="sng" algn="ctr">
                      <a:solidFill>
                        <a:srgbClr val="E4DBF8"/>
                      </a:solidFill>
                      <a:prstDash val="solid"/>
                      <a:round/>
                      <a:headEnd type="none" w="med" len="med"/>
                      <a:tailEnd type="none" w="med" len="med"/>
                    </a:lnL>
                    <a:lnR w="12700" cap="flat" cmpd="sng" algn="ctr">
                      <a:solidFill>
                        <a:srgbClr val="E4DBF8"/>
                      </a:solidFill>
                      <a:prstDash val="solid"/>
                      <a:round/>
                      <a:headEnd type="none" w="med" len="med"/>
                      <a:tailEnd type="none" w="med" len="med"/>
                    </a:lnR>
                    <a:lnT w="12700" cap="flat" cmpd="sng" algn="ctr">
                      <a:solidFill>
                        <a:srgbClr val="E4DBF8"/>
                      </a:solidFill>
                      <a:prstDash val="solid"/>
                      <a:round/>
                      <a:headEnd type="none" w="med" len="med"/>
                      <a:tailEnd type="none" w="med" len="med"/>
                    </a:lnT>
                    <a:lnB w="12700" cap="flat" cmpd="sng" algn="ctr">
                      <a:solidFill>
                        <a:srgbClr val="E3D9EC"/>
                      </a:solidFill>
                      <a:prstDash val="solid"/>
                      <a:round/>
                      <a:headEnd type="none" w="med" len="med"/>
                      <a:tailEnd type="none" w="med" len="med"/>
                    </a:lnB>
                    <a:solidFill>
                      <a:srgbClr val="E4DBF8"/>
                    </a:solidFill>
                  </a:tcPr>
                </a:tc>
                <a:extLst>
                  <a:ext uri="{0D108BD9-81ED-4DB2-BD59-A6C34878D82A}">
                    <a16:rowId xmlns:a16="http://schemas.microsoft.com/office/drawing/2014/main" val="10000"/>
                  </a:ext>
                </a:extLst>
              </a:tr>
              <a:tr h="559977">
                <a:tc>
                  <a:txBody>
                    <a:bodyPr/>
                    <a:lstStyle/>
                    <a:p>
                      <a:pPr marL="0" indent="0" algn="l">
                        <a:buNone/>
                      </a:pPr>
                      <a:r>
                        <a:rPr lang="en-US" sz="1650" dirty="0">
                          <a:solidFill>
                            <a:srgbClr val="2B3541"/>
                          </a:solidFill>
                          <a:latin typeface="Funnel Sans" pitchFamily="34" charset="0"/>
                          <a:ea typeface="Funnel Sans" pitchFamily="34" charset="-122"/>
                          <a:cs typeface="Funnel Sans" pitchFamily="34" charset="-120"/>
                        </a:rPr>
                        <a:t>A</a:t>
                      </a:r>
                      <a:endParaRPr lang="en-US" sz="1650" dirty="0">
                        <a:latin typeface="Funnel Sans" pitchFamily="34" charset="0"/>
                        <a:ea typeface="Funnel Sans" pitchFamily="34" charset="0"/>
                        <a:cs typeface="Funnel Sans" pitchFamily="34" charset="0"/>
                      </a:endParaRPr>
                    </a:p>
                  </a:txBody>
                  <a:tcPr marL="101598" marR="101598" marT="126997" marB="126997" anchor="ctr">
                    <a:lnL w="12700" cap="flat" cmpd="sng" algn="ctr">
                      <a:solidFill>
                        <a:srgbClr val="FFFCF6"/>
                      </a:solidFill>
                      <a:prstDash val="solid"/>
                      <a:round/>
                      <a:headEnd type="none" w="med" len="med"/>
                      <a:tailEnd type="none" w="med" len="med"/>
                    </a:lnL>
                    <a:lnR w="12700" cap="flat" cmpd="sng" algn="ctr">
                      <a:solidFill>
                        <a:srgbClr val="FFFCF6"/>
                      </a:solidFill>
                      <a:prstDash val="solid"/>
                      <a:round/>
                      <a:headEnd type="none" w="med" len="med"/>
                      <a:tailEnd type="none" w="med" len="med"/>
                    </a:lnR>
                    <a:lnT w="12700" cap="flat" cmpd="sng" algn="ctr">
                      <a:solidFill>
                        <a:srgbClr val="E3D9EC"/>
                      </a:solidFill>
                      <a:prstDash val="solid"/>
                      <a:round/>
                      <a:headEnd type="none" w="med" len="med"/>
                      <a:tailEnd type="none" w="med" len="med"/>
                    </a:lnT>
                    <a:lnB w="12700" cap="flat" cmpd="sng" algn="ctr">
                      <a:solidFill>
                        <a:srgbClr val="E3D9EC"/>
                      </a:solidFill>
                      <a:prstDash val="solid"/>
                      <a:round/>
                      <a:headEnd type="none" w="med" len="med"/>
                      <a:tailEnd type="none" w="med" len="med"/>
                    </a:lnB>
                    <a:solidFill>
                      <a:srgbClr val="FFFCF6"/>
                    </a:solidFill>
                  </a:tcPr>
                </a:tc>
                <a:tc>
                  <a:txBody>
                    <a:bodyPr/>
                    <a:lstStyle/>
                    <a:p>
                      <a:pPr marL="0" indent="0" algn="l">
                        <a:buNone/>
                      </a:pPr>
                      <a:r>
                        <a:rPr lang="en-US" sz="1650" dirty="0">
                          <a:solidFill>
                            <a:srgbClr val="2B3541"/>
                          </a:solidFill>
                          <a:latin typeface="Funnel Sans" pitchFamily="34" charset="0"/>
                          <a:ea typeface="Funnel Sans" pitchFamily="34" charset="-122"/>
                          <a:cs typeface="Funnel Sans" pitchFamily="34" charset="-120"/>
                        </a:rPr>
                        <a:t>Frame-only baseline</a:t>
                      </a:r>
                      <a:endParaRPr lang="en-US" sz="1650" dirty="0">
                        <a:latin typeface="Funnel Sans" pitchFamily="34" charset="0"/>
                        <a:ea typeface="Funnel Sans" pitchFamily="34" charset="0"/>
                        <a:cs typeface="Funnel Sans" pitchFamily="34" charset="0"/>
                      </a:endParaRPr>
                    </a:p>
                  </a:txBody>
                  <a:tcPr marL="101598" marR="101598" marT="126997" marB="126997" anchor="ctr">
                    <a:lnL w="12700" cap="flat" cmpd="sng" algn="ctr">
                      <a:solidFill>
                        <a:srgbClr val="FFFCF6"/>
                      </a:solidFill>
                      <a:prstDash val="solid"/>
                      <a:round/>
                      <a:headEnd type="none" w="med" len="med"/>
                      <a:tailEnd type="none" w="med" len="med"/>
                    </a:lnL>
                    <a:lnR w="12700" cap="flat" cmpd="sng" algn="ctr">
                      <a:solidFill>
                        <a:srgbClr val="FFFCF6"/>
                      </a:solidFill>
                      <a:prstDash val="solid"/>
                      <a:round/>
                      <a:headEnd type="none" w="med" len="med"/>
                      <a:tailEnd type="none" w="med" len="med"/>
                    </a:lnR>
                    <a:lnT w="12700" cap="flat" cmpd="sng" algn="ctr">
                      <a:solidFill>
                        <a:srgbClr val="E3D9EC"/>
                      </a:solidFill>
                      <a:prstDash val="solid"/>
                      <a:round/>
                      <a:headEnd type="none" w="med" len="med"/>
                      <a:tailEnd type="none" w="med" len="med"/>
                    </a:lnT>
                    <a:lnB w="12700" cap="flat" cmpd="sng" algn="ctr">
                      <a:solidFill>
                        <a:srgbClr val="E3D9EC"/>
                      </a:solidFill>
                      <a:prstDash val="solid"/>
                      <a:round/>
                      <a:headEnd type="none" w="med" len="med"/>
                      <a:tailEnd type="none" w="med" len="med"/>
                    </a:lnB>
                    <a:solidFill>
                      <a:srgbClr val="FFFCF6"/>
                    </a:solidFill>
                  </a:tcPr>
                </a:tc>
                <a:extLst>
                  <a:ext uri="{0D108BD9-81ED-4DB2-BD59-A6C34878D82A}">
                    <a16:rowId xmlns:a16="http://schemas.microsoft.com/office/drawing/2014/main" val="10001"/>
                  </a:ext>
                </a:extLst>
              </a:tr>
              <a:tr h="853260">
                <a:tc>
                  <a:txBody>
                    <a:bodyPr/>
                    <a:lstStyle/>
                    <a:p>
                      <a:pPr marL="0" indent="0" algn="l">
                        <a:buNone/>
                      </a:pPr>
                      <a:r>
                        <a:rPr lang="en-US" sz="1650" dirty="0">
                          <a:solidFill>
                            <a:srgbClr val="000000"/>
                          </a:solidFill>
                          <a:latin typeface="Funnel Sans" pitchFamily="34" charset="0"/>
                          <a:ea typeface="Funnel Sans" pitchFamily="34" charset="-122"/>
                          <a:cs typeface="Funnel Sans" pitchFamily="34" charset="-120"/>
                        </a:rPr>
                        <a:t>B</a:t>
                      </a:r>
                      <a:endParaRPr lang="en-US" sz="1650" dirty="0">
                        <a:latin typeface="Funnel Sans" pitchFamily="34" charset="0"/>
                        <a:ea typeface="Funnel Sans" pitchFamily="34" charset="0"/>
                        <a:cs typeface="Funnel Sans" pitchFamily="34" charset="0"/>
                      </a:endParaRPr>
                    </a:p>
                  </a:txBody>
                  <a:tcPr marL="101598" marR="101598" marT="126997" marB="126997" anchor="ctr">
                    <a:lnL w="12700" cap="flat" cmpd="sng" algn="ctr">
                      <a:solidFill>
                        <a:srgbClr val="E4DBF8"/>
                      </a:solidFill>
                      <a:prstDash val="solid"/>
                      <a:round/>
                      <a:headEnd type="none" w="med" len="med"/>
                      <a:tailEnd type="none" w="med" len="med"/>
                    </a:lnL>
                    <a:lnR w="12700" cap="flat" cmpd="sng" algn="ctr">
                      <a:solidFill>
                        <a:srgbClr val="E4DBF8"/>
                      </a:solidFill>
                      <a:prstDash val="solid"/>
                      <a:round/>
                      <a:headEnd type="none" w="med" len="med"/>
                      <a:tailEnd type="none" w="med" len="med"/>
                    </a:lnR>
                    <a:lnT w="12700" cap="flat" cmpd="sng" algn="ctr">
                      <a:solidFill>
                        <a:srgbClr val="E3D9EC"/>
                      </a:solidFill>
                      <a:prstDash val="solid"/>
                      <a:round/>
                      <a:headEnd type="none" w="med" len="med"/>
                      <a:tailEnd type="none" w="med" len="med"/>
                    </a:lnT>
                    <a:lnB w="12700" cap="flat" cmpd="sng" algn="ctr">
                      <a:solidFill>
                        <a:srgbClr val="E3D9EC"/>
                      </a:solidFill>
                      <a:prstDash val="solid"/>
                      <a:round/>
                      <a:headEnd type="none" w="med" len="med"/>
                      <a:tailEnd type="none" w="med" len="med"/>
                    </a:lnB>
                    <a:solidFill>
                      <a:srgbClr val="E4DBF8"/>
                    </a:solidFill>
                  </a:tcPr>
                </a:tc>
                <a:tc>
                  <a:txBody>
                    <a:bodyPr/>
                    <a:lstStyle/>
                    <a:p>
                      <a:pPr marL="0" indent="0" algn="l">
                        <a:buNone/>
                      </a:pPr>
                      <a:r>
                        <a:rPr lang="en-US" sz="1650" dirty="0">
                          <a:solidFill>
                            <a:srgbClr val="000000"/>
                          </a:solidFill>
                          <a:latin typeface="Funnel Sans" pitchFamily="34" charset="0"/>
                          <a:ea typeface="Funnel Sans" pitchFamily="34" charset="-122"/>
                          <a:cs typeface="Funnel Sans" pitchFamily="34" charset="-120"/>
                        </a:rPr>
                        <a:t>Same checkpoint + probability smoothing</a:t>
                      </a:r>
                      <a:endParaRPr lang="en-US" sz="1650" dirty="0">
                        <a:latin typeface="Funnel Sans" pitchFamily="34" charset="0"/>
                        <a:ea typeface="Funnel Sans" pitchFamily="34" charset="0"/>
                        <a:cs typeface="Funnel Sans" pitchFamily="34" charset="0"/>
                      </a:endParaRPr>
                    </a:p>
                  </a:txBody>
                  <a:tcPr marL="101598" marR="101598" marT="126997" marB="126997" anchor="ctr">
                    <a:lnL w="12700" cap="flat" cmpd="sng" algn="ctr">
                      <a:solidFill>
                        <a:srgbClr val="E4DBF8"/>
                      </a:solidFill>
                      <a:prstDash val="solid"/>
                      <a:round/>
                      <a:headEnd type="none" w="med" len="med"/>
                      <a:tailEnd type="none" w="med" len="med"/>
                    </a:lnL>
                    <a:lnR w="12700" cap="flat" cmpd="sng" algn="ctr">
                      <a:solidFill>
                        <a:srgbClr val="E4DBF8"/>
                      </a:solidFill>
                      <a:prstDash val="solid"/>
                      <a:round/>
                      <a:headEnd type="none" w="med" len="med"/>
                      <a:tailEnd type="none" w="med" len="med"/>
                    </a:lnR>
                    <a:lnT w="12700" cap="flat" cmpd="sng" algn="ctr">
                      <a:solidFill>
                        <a:srgbClr val="E3D9EC"/>
                      </a:solidFill>
                      <a:prstDash val="solid"/>
                      <a:round/>
                      <a:headEnd type="none" w="med" len="med"/>
                      <a:tailEnd type="none" w="med" len="med"/>
                    </a:lnT>
                    <a:lnB w="12700" cap="flat" cmpd="sng" algn="ctr">
                      <a:solidFill>
                        <a:srgbClr val="E3D9EC"/>
                      </a:solidFill>
                      <a:prstDash val="solid"/>
                      <a:round/>
                      <a:headEnd type="none" w="med" len="med"/>
                      <a:tailEnd type="none" w="med" len="med"/>
                    </a:lnB>
                    <a:solidFill>
                      <a:srgbClr val="E4DBF8"/>
                    </a:solidFill>
                  </a:tcPr>
                </a:tc>
                <a:extLst>
                  <a:ext uri="{0D108BD9-81ED-4DB2-BD59-A6C34878D82A}">
                    <a16:rowId xmlns:a16="http://schemas.microsoft.com/office/drawing/2014/main" val="10002"/>
                  </a:ext>
                </a:extLst>
              </a:tr>
              <a:tr h="559977">
                <a:tc>
                  <a:txBody>
                    <a:bodyPr/>
                    <a:lstStyle/>
                    <a:p>
                      <a:pPr marL="0" indent="0" algn="l">
                        <a:buNone/>
                      </a:pPr>
                      <a:r>
                        <a:rPr lang="en-US" sz="1650" dirty="0">
                          <a:solidFill>
                            <a:srgbClr val="2B3541"/>
                          </a:solidFill>
                          <a:latin typeface="Funnel Sans" pitchFamily="34" charset="0"/>
                          <a:ea typeface="Funnel Sans" pitchFamily="34" charset="-122"/>
                          <a:cs typeface="Funnel Sans" pitchFamily="34" charset="-120"/>
                        </a:rPr>
                        <a:t>C · optional</a:t>
                      </a:r>
                      <a:endParaRPr lang="en-US" sz="1650" dirty="0">
                        <a:latin typeface="Funnel Sans" pitchFamily="34" charset="0"/>
                        <a:ea typeface="Funnel Sans" pitchFamily="34" charset="0"/>
                        <a:cs typeface="Funnel Sans" pitchFamily="34" charset="0"/>
                      </a:endParaRPr>
                    </a:p>
                  </a:txBody>
                  <a:tcPr marL="101598" marR="101598" marT="126997" marB="126997" anchor="ctr">
                    <a:lnL w="12700" cap="flat" cmpd="sng" algn="ctr">
                      <a:solidFill>
                        <a:srgbClr val="FFFCF6"/>
                      </a:solidFill>
                      <a:prstDash val="solid"/>
                      <a:round/>
                      <a:headEnd type="none" w="med" len="med"/>
                      <a:tailEnd type="none" w="med" len="med"/>
                    </a:lnL>
                    <a:lnR w="12700" cap="flat" cmpd="sng" algn="ctr">
                      <a:solidFill>
                        <a:srgbClr val="FFFCF6"/>
                      </a:solidFill>
                      <a:prstDash val="solid"/>
                      <a:round/>
                      <a:headEnd type="none" w="med" len="med"/>
                      <a:tailEnd type="none" w="med" len="med"/>
                    </a:lnR>
                    <a:lnT w="12700" cap="flat" cmpd="sng" algn="ctr">
                      <a:solidFill>
                        <a:srgbClr val="E3D9EC"/>
                      </a:solidFill>
                      <a:prstDash val="solid"/>
                      <a:round/>
                      <a:headEnd type="none" w="med" len="med"/>
                      <a:tailEnd type="none" w="med" len="med"/>
                    </a:lnT>
                    <a:lnB w="12700" cap="flat" cmpd="sng" algn="ctr">
                      <a:solidFill>
                        <a:srgbClr val="E3D9EC"/>
                      </a:solidFill>
                      <a:prstDash val="solid"/>
                      <a:round/>
                      <a:headEnd type="none" w="med" len="med"/>
                      <a:tailEnd type="none" w="med" len="med"/>
                    </a:lnB>
                    <a:solidFill>
                      <a:srgbClr val="FFFCF6"/>
                    </a:solidFill>
                  </a:tcPr>
                </a:tc>
                <a:tc>
                  <a:txBody>
                    <a:bodyPr/>
                    <a:lstStyle/>
                    <a:p>
                      <a:pPr marL="0" indent="0" algn="l">
                        <a:buNone/>
                      </a:pPr>
                      <a:r>
                        <a:rPr lang="en-US" sz="1650" dirty="0">
                          <a:solidFill>
                            <a:srgbClr val="2B3541"/>
                          </a:solidFill>
                          <a:latin typeface="Funnel Sans" pitchFamily="34" charset="0"/>
                          <a:ea typeface="Funnel Sans" pitchFamily="34" charset="-122"/>
                          <a:cs typeface="Funnel Sans" pitchFamily="34" charset="-120"/>
                        </a:rPr>
                        <a:t>Mean-pool head</a:t>
                      </a:r>
                      <a:endParaRPr lang="en-US" sz="1650" dirty="0">
                        <a:latin typeface="Funnel Sans" pitchFamily="34" charset="0"/>
                        <a:ea typeface="Funnel Sans" pitchFamily="34" charset="0"/>
                        <a:cs typeface="Funnel Sans" pitchFamily="34" charset="0"/>
                      </a:endParaRPr>
                    </a:p>
                  </a:txBody>
                  <a:tcPr marL="101598" marR="101598" marT="126997" marB="126997" anchor="ctr">
                    <a:lnL w="12700" cap="flat" cmpd="sng" algn="ctr">
                      <a:solidFill>
                        <a:srgbClr val="FFFCF6"/>
                      </a:solidFill>
                      <a:prstDash val="solid"/>
                      <a:round/>
                      <a:headEnd type="none" w="med" len="med"/>
                      <a:tailEnd type="none" w="med" len="med"/>
                    </a:lnL>
                    <a:lnR w="12700" cap="flat" cmpd="sng" algn="ctr">
                      <a:solidFill>
                        <a:srgbClr val="FFFCF6"/>
                      </a:solidFill>
                      <a:prstDash val="solid"/>
                      <a:round/>
                      <a:headEnd type="none" w="med" len="med"/>
                      <a:tailEnd type="none" w="med" len="med"/>
                    </a:lnR>
                    <a:lnT w="12700" cap="flat" cmpd="sng" algn="ctr">
                      <a:solidFill>
                        <a:srgbClr val="E3D9EC"/>
                      </a:solidFill>
                      <a:prstDash val="solid"/>
                      <a:round/>
                      <a:headEnd type="none" w="med" len="med"/>
                      <a:tailEnd type="none" w="med" len="med"/>
                    </a:lnT>
                    <a:lnB w="12700" cap="flat" cmpd="sng" algn="ctr">
                      <a:solidFill>
                        <a:srgbClr val="E3D9EC"/>
                      </a:solidFill>
                      <a:prstDash val="solid"/>
                      <a:round/>
                      <a:headEnd type="none" w="med" len="med"/>
                      <a:tailEnd type="none" w="med" len="med"/>
                    </a:lnB>
                    <a:solidFill>
                      <a:srgbClr val="FFFCF6"/>
                    </a:solidFill>
                  </a:tcPr>
                </a:tc>
                <a:extLst>
                  <a:ext uri="{0D108BD9-81ED-4DB2-BD59-A6C34878D82A}">
                    <a16:rowId xmlns:a16="http://schemas.microsoft.com/office/drawing/2014/main" val="10003"/>
                  </a:ext>
                </a:extLst>
              </a:tr>
              <a:tr h="547277">
                <a:tc>
                  <a:txBody>
                    <a:bodyPr/>
                    <a:lstStyle/>
                    <a:p>
                      <a:pPr marL="0" indent="0" algn="l">
                        <a:buNone/>
                      </a:pPr>
                      <a:r>
                        <a:rPr lang="en-US" sz="1650" dirty="0">
                          <a:solidFill>
                            <a:srgbClr val="000000"/>
                          </a:solidFill>
                          <a:latin typeface="Funnel Sans" pitchFamily="34" charset="0"/>
                          <a:ea typeface="Funnel Sans" pitchFamily="34" charset="-122"/>
                          <a:cs typeface="Funnel Sans" pitchFamily="34" charset="-120"/>
                        </a:rPr>
                        <a:t>D · in demo</a:t>
                      </a:r>
                      <a:endParaRPr lang="en-US" sz="1650" dirty="0">
                        <a:latin typeface="Funnel Sans" pitchFamily="34" charset="0"/>
                        <a:ea typeface="Funnel Sans" pitchFamily="34" charset="0"/>
                        <a:cs typeface="Funnel Sans" pitchFamily="34" charset="0"/>
                      </a:endParaRPr>
                    </a:p>
                  </a:txBody>
                  <a:tcPr marL="101598" marR="101598" marT="126997" marB="126997" anchor="ctr">
                    <a:lnL w="12700" cap="flat" cmpd="sng" algn="ctr">
                      <a:solidFill>
                        <a:srgbClr val="E4DBF8"/>
                      </a:solidFill>
                      <a:prstDash val="solid"/>
                      <a:round/>
                      <a:headEnd type="none" w="med" len="med"/>
                      <a:tailEnd type="none" w="med" len="med"/>
                    </a:lnL>
                    <a:lnR w="12700" cap="flat" cmpd="sng" algn="ctr">
                      <a:solidFill>
                        <a:srgbClr val="E4DBF8"/>
                      </a:solidFill>
                      <a:prstDash val="solid"/>
                      <a:round/>
                      <a:headEnd type="none" w="med" len="med"/>
                      <a:tailEnd type="none" w="med" len="med"/>
                    </a:lnR>
                    <a:lnT w="12700" cap="flat" cmpd="sng" algn="ctr">
                      <a:solidFill>
                        <a:srgbClr val="E3D9EC"/>
                      </a:solidFill>
                      <a:prstDash val="solid"/>
                      <a:round/>
                      <a:headEnd type="none" w="med" len="med"/>
                      <a:tailEnd type="none" w="med" len="med"/>
                    </a:lnT>
                    <a:lnB w="12700" cap="flat" cmpd="sng" algn="ctr">
                      <a:solidFill>
                        <a:srgbClr val="E4DBF8"/>
                      </a:solidFill>
                      <a:prstDash val="solid"/>
                      <a:round/>
                      <a:headEnd type="none" w="med" len="med"/>
                      <a:tailEnd type="none" w="med" len="med"/>
                    </a:lnB>
                    <a:solidFill>
                      <a:srgbClr val="E4DBF8"/>
                    </a:solidFill>
                  </a:tcPr>
                </a:tc>
                <a:tc>
                  <a:txBody>
                    <a:bodyPr/>
                    <a:lstStyle/>
                    <a:p>
                      <a:pPr marL="0" indent="0" algn="l">
                        <a:buNone/>
                      </a:pPr>
                      <a:r>
                        <a:rPr lang="en-US" sz="1650" dirty="0">
                          <a:solidFill>
                            <a:srgbClr val="000000"/>
                          </a:solidFill>
                          <a:latin typeface="Funnel Sans" pitchFamily="34" charset="0"/>
                          <a:ea typeface="Funnel Sans" pitchFamily="34" charset="-122"/>
                          <a:cs typeface="Funnel Sans" pitchFamily="34" charset="-120"/>
                        </a:rPr>
                        <a:t>GRU / TCN head</a:t>
                      </a:r>
                      <a:endParaRPr lang="en-US" sz="1650" dirty="0">
                        <a:latin typeface="Funnel Sans" pitchFamily="34" charset="0"/>
                        <a:ea typeface="Funnel Sans" pitchFamily="34" charset="0"/>
                        <a:cs typeface="Funnel Sans" pitchFamily="34" charset="0"/>
                      </a:endParaRPr>
                    </a:p>
                  </a:txBody>
                  <a:tcPr marL="101598" marR="101598" marT="126997" marB="126997" anchor="ctr">
                    <a:lnL w="12700" cap="flat" cmpd="sng" algn="ctr">
                      <a:solidFill>
                        <a:srgbClr val="E4DBF8"/>
                      </a:solidFill>
                      <a:prstDash val="solid"/>
                      <a:round/>
                      <a:headEnd type="none" w="med" len="med"/>
                      <a:tailEnd type="none" w="med" len="med"/>
                    </a:lnL>
                    <a:lnR w="12700" cap="flat" cmpd="sng" algn="ctr">
                      <a:solidFill>
                        <a:srgbClr val="E4DBF8"/>
                      </a:solidFill>
                      <a:prstDash val="solid"/>
                      <a:round/>
                      <a:headEnd type="none" w="med" len="med"/>
                      <a:tailEnd type="none" w="med" len="med"/>
                    </a:lnR>
                    <a:lnT w="12700" cap="flat" cmpd="sng" algn="ctr">
                      <a:solidFill>
                        <a:srgbClr val="E3D9EC"/>
                      </a:solidFill>
                      <a:prstDash val="solid"/>
                      <a:round/>
                      <a:headEnd type="none" w="med" len="med"/>
                      <a:tailEnd type="none" w="med" len="med"/>
                    </a:lnT>
                    <a:lnB w="12700" cap="flat" cmpd="sng" algn="ctr">
                      <a:solidFill>
                        <a:srgbClr val="E4DBF8"/>
                      </a:solidFill>
                      <a:prstDash val="solid"/>
                      <a:round/>
                      <a:headEnd type="none" w="med" len="med"/>
                      <a:tailEnd type="none" w="med" len="med"/>
                    </a:lnB>
                    <a:solidFill>
                      <a:srgbClr val="E4DBF8"/>
                    </a:solidFill>
                  </a:tcPr>
                </a:tc>
                <a:extLst>
                  <a:ext uri="{0D108BD9-81ED-4DB2-BD59-A6C34878D82A}">
                    <a16:rowId xmlns:a16="http://schemas.microsoft.com/office/drawing/2014/main" val="10004"/>
                  </a:ext>
                </a:extLst>
              </a:tr>
            </a:tbl>
          </a:graphicData>
        </a:graphic>
      </p:graphicFrame>
      <p:sp>
        <p:nvSpPr>
          <p:cNvPr id="7" name="Text 4"/>
          <p:cNvSpPr/>
          <p:nvPr/>
        </p:nvSpPr>
        <p:spPr>
          <a:xfrm>
            <a:off x="533387" y="5216128"/>
            <a:ext cx="4800480" cy="995363"/>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A/B: baseline versus fewer label changes.</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C/D: temporal-head value (D is in the demo).</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Fix data, splits, seed and backbone.</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PE and MS-TCN++ are candidates, not commitments.</a:t>
            </a:r>
            <a:endParaRPr lang="en-US" sz="1400" dirty="0"/>
          </a:p>
        </p:txBody>
      </p:sp>
      <p:sp>
        <p:nvSpPr>
          <p:cNvPr id="8" name="Text 5"/>
          <p:cNvSpPr/>
          <p:nvPr/>
        </p:nvSpPr>
        <p:spPr>
          <a:xfrm>
            <a:off x="5790956" y="1348184"/>
            <a:ext cx="5867352"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B8367F"/>
                </a:solidFill>
                <a:latin typeface="Funnel Sans SemiBold" pitchFamily="34" charset="0"/>
                <a:ea typeface="Funnel Sans SemiBold" pitchFamily="34" charset="-122"/>
                <a:cs typeface="Funnel Sans SemiBold" pitchFamily="34" charset="-120"/>
              </a:rPr>
              <a:t>Are the actions correct?</a:t>
            </a:r>
            <a:endParaRPr lang="en-US" sz="1850" dirty="0"/>
          </a:p>
        </p:txBody>
      </p:sp>
      <p:sp>
        <p:nvSpPr>
          <p:cNvPr id="6" name="Text 6"/>
          <p:cNvSpPr/>
          <p:nvPr/>
        </p:nvSpPr>
        <p:spPr>
          <a:xfrm>
            <a:off x="5790956" y="1779290"/>
            <a:ext cx="5867352" cy="746522"/>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Per-class recall, confusion matrix and Macro-F1.</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Macro-F1 gives equal weight to all 8 PSKUS classes; report the 6 rubbing steps separately.</a:t>
            </a:r>
            <a:endParaRPr lang="en-US" sz="1400" dirty="0"/>
          </a:p>
        </p:txBody>
      </p:sp>
      <p:sp>
        <p:nvSpPr>
          <p:cNvPr id="10" name="Text 7"/>
          <p:cNvSpPr/>
          <p:nvPr/>
        </p:nvSpPr>
        <p:spPr>
          <a:xfrm>
            <a:off x="5790956" y="2713137"/>
            <a:ext cx="5867352"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B8367F"/>
                </a:solidFill>
                <a:latin typeface="Funnel Sans SemiBold" pitchFamily="34" charset="0"/>
                <a:ea typeface="Funnel Sans SemiBold" pitchFamily="34" charset="-122"/>
                <a:cs typeface="Funnel Sans SemiBold" pitchFamily="34" charset="-120"/>
              </a:rPr>
              <a:t>Are the timing and reports useful?</a:t>
            </a:r>
            <a:endParaRPr lang="en-US" sz="1850" dirty="0"/>
          </a:p>
        </p:txBody>
      </p:sp>
      <p:sp>
        <p:nvSpPr>
          <p:cNvPr id="11" name="Text 8"/>
          <p:cNvSpPr/>
          <p:nvPr/>
        </p:nvSpPr>
        <p:spPr>
          <a:xfrm>
            <a:off x="5790956" y="3144242"/>
            <a:ext cx="5867352" cy="1116013"/>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Missed-step precision / recall, order inversions, short-step detection and duration error.</a:t>
            </a:r>
            <a:endParaRPr lang="en-US" sz="1400" dirty="0"/>
          </a:p>
          <a:p>
            <a:pPr marL="0" indent="0" algn="l">
              <a:lnSpc>
                <a:spcPct val="117000"/>
              </a:lnSpc>
              <a:spcAft>
                <a:spcPts val="900"/>
              </a:spcAft>
              <a:buNone/>
            </a:pPr>
            <a:r>
              <a:rPr lang="en-US" sz="1400" dirty="0">
                <a:solidFill>
                  <a:srgbClr val="2B3541"/>
                </a:solidFill>
                <a:latin typeface="Funnel Sans" pitchFamily="34" charset="0"/>
                <a:ea typeface="Funnel Sans" pitchFamily="34" charset="-122"/>
                <a:cs typeface="Funnel Sans" pitchFamily="34" charset="-120"/>
              </a:rPr>
              <a:t>Segment F1 at time IoU 0.10 / 0.25 / 0.50.</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Time IoU = interval overlap / interval union.</a:t>
            </a:r>
            <a:endParaRPr lang="en-US" sz="1400" dirty="0"/>
          </a:p>
        </p:txBody>
      </p:sp>
      <p:sp>
        <p:nvSpPr>
          <p:cNvPr id="12" name="Text 9"/>
          <p:cNvSpPr/>
          <p:nvPr/>
        </p:nvSpPr>
        <p:spPr>
          <a:xfrm>
            <a:off x="5790956" y="4447580"/>
            <a:ext cx="5867352"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B8367F"/>
                </a:solidFill>
                <a:latin typeface="Funnel Sans SemiBold" pitchFamily="34" charset="0"/>
                <a:ea typeface="Funnel Sans SemiBold" pitchFamily="34" charset="-122"/>
                <a:cs typeface="Funnel Sans SemiBold" pitchFamily="34" charset="-120"/>
              </a:rPr>
              <a:t>Does it work beyond training?</a:t>
            </a:r>
            <a:endParaRPr lang="en-US" sz="1850" dirty="0"/>
          </a:p>
        </p:txBody>
      </p:sp>
      <p:sp>
        <p:nvSpPr>
          <p:cNvPr id="13" name="Text 10"/>
          <p:cNvSpPr/>
          <p:nvPr/>
        </p:nvSpPr>
        <p:spPr>
          <a:xfrm>
            <a:off x="5790956" y="4878685"/>
            <a:ext cx="5867352" cy="746522"/>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METC and self-recorded clips, same checkpoint.</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Latency: frame capture to displayed result.</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Throughput: processed frames per second.</a:t>
            </a:r>
            <a:endParaRPr lang="en-US" sz="1400" dirty="0"/>
          </a:p>
        </p:txBody>
      </p:sp>
      <p:sp>
        <p:nvSpPr>
          <p:cNvPr id="14" name="Text 11"/>
          <p:cNvSpPr/>
          <p:nvPr/>
        </p:nvSpPr>
        <p:spPr>
          <a:xfrm>
            <a:off x="5790956" y="5745857"/>
            <a:ext cx="5867352" cy="428625"/>
          </a:xfrm>
          <a:prstGeom prst="rect">
            <a:avLst/>
          </a:prstGeom>
          <a:noFill/>
        </p:spPr>
        <p:txBody>
          <a:bodyPr wrap="square" lIns="0" tIns="0" rIns="0" bIns="0" rtlCol="0" anchor="t">
            <a:normAutofit/>
          </a:bodyPr>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Missed-step precision = correct flags / all flags.</a:t>
            </a:r>
            <a:endParaRPr lang="en-US" sz="1250" dirty="0"/>
          </a:p>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Recall = correct flags / all true omissions.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sp>
        <p:nvSpPr>
          <p:cNvPr id="2" name="Text 0"/>
          <p:cNvSpPr/>
          <p:nvPr/>
        </p:nvSpPr>
        <p:spPr>
          <a:xfrm>
            <a:off x="609585" y="457200"/>
            <a:ext cx="1158211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WHAT ALREADY WORKS</a:t>
            </a:r>
            <a:endParaRPr lang="en-US" sz="1200" dirty="0"/>
          </a:p>
        </p:txBody>
      </p:sp>
      <p:sp>
        <p:nvSpPr>
          <p:cNvPr id="3" name="Text 1"/>
          <p:cNvSpPr/>
          <p:nvPr/>
        </p:nvSpPr>
        <p:spPr>
          <a:xfrm>
            <a:off x="609585" y="733425"/>
            <a:ext cx="10972526" cy="484584"/>
          </a:xfrm>
          <a:prstGeom prst="rect">
            <a:avLst/>
          </a:prstGeom>
          <a:noFill/>
        </p:spPr>
        <p:txBody>
          <a:bodyPr wrap="none" lIns="0" tIns="0" rIns="0" bIns="0" rtlCol="0" anchor="t"/>
          <a:lstStyle/>
          <a:p>
            <a:pPr marL="0" indent="0" algn="l">
              <a:lnSpc>
                <a:spcPct val="88000"/>
              </a:lnSpc>
              <a:buNone/>
            </a:pPr>
            <a:r>
              <a:rPr lang="en-US" sz="3600" kern="100" spc="-36" dirty="0">
                <a:solidFill>
                  <a:srgbClr val="051D3A"/>
                </a:solidFill>
                <a:latin typeface="Funnel Display Medium" pitchFamily="34" charset="0"/>
                <a:ea typeface="Funnel Display Medium" pitchFamily="34" charset="-122"/>
                <a:cs typeface="Funnel Display Medium" pitchFamily="34" charset="-120"/>
              </a:rPr>
              <a:t>Progress so far</a:t>
            </a:r>
            <a:endParaRPr lang="en-US" sz="3600" dirty="0"/>
          </a:p>
        </p:txBody>
      </p:sp>
      <p:sp>
        <p:nvSpPr>
          <p:cNvPr id="4" name="Shape 2"/>
          <p:cNvSpPr/>
          <p:nvPr/>
        </p:nvSpPr>
        <p:spPr>
          <a:xfrm>
            <a:off x="609585" y="1553369"/>
            <a:ext cx="3454314" cy="3530005"/>
          </a:xfrm>
          <a:prstGeom prst="roundRect">
            <a:avLst>
              <a:gd name="adj" fmla="val 2548"/>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pic>
        <p:nvPicPr>
          <p:cNvPr id="5" name="Image 0" descr="preencoded.png"/>
          <p:cNvPicPr>
            <a:picLocks noChangeAspect="1"/>
          </p:cNvPicPr>
          <p:nvPr/>
        </p:nvPicPr>
        <p:blipFill>
          <a:blip r:embed="rId3"/>
          <a:stretch>
            <a:fillRect/>
          </a:stretch>
        </p:blipFill>
        <p:spPr>
          <a:xfrm>
            <a:off x="863578" y="1832769"/>
            <a:ext cx="523862" cy="523875"/>
          </a:xfrm>
          <a:prstGeom prst="rect">
            <a:avLst/>
          </a:prstGeom>
        </p:spPr>
      </p:pic>
      <p:sp>
        <p:nvSpPr>
          <p:cNvPr id="6" name="Text 3"/>
          <p:cNvSpPr/>
          <p:nvPr/>
        </p:nvSpPr>
        <p:spPr>
          <a:xfrm>
            <a:off x="863578" y="2477294"/>
            <a:ext cx="2946326"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Repository and contracts</a:t>
            </a:r>
            <a:endParaRPr lang="en-US" sz="1850" dirty="0"/>
          </a:p>
        </p:txBody>
      </p:sp>
      <p:sp>
        <p:nvSpPr>
          <p:cNvPr id="7" name="Text 4"/>
          <p:cNvSpPr/>
          <p:nvPr/>
        </p:nvSpPr>
        <p:spPr>
          <a:xfrm>
            <a:off x="863578" y="2908399"/>
            <a:ext cx="2946326" cy="1364853"/>
          </a:xfrm>
          <a:prstGeom prst="rect">
            <a:avLst/>
          </a:prstGeom>
          <a:noFill/>
        </p:spPr>
        <p:txBody>
          <a:bodyPr wrap="square" lIns="0" tIns="0" rIns="0" bIns="0" rtlCol="0" anchor="t">
            <a:normAutofit/>
          </a:bodyPr>
          <a:lstStyle/>
          <a:p>
            <a:pPr marL="0" indent="0" algn="l">
              <a:lnSpc>
                <a:spcPct val="117000"/>
              </a:lnSpc>
              <a:spcAft>
                <a:spcPts val="900"/>
              </a:spcAft>
              <a:buNone/>
            </a:pPr>
            <a:r>
              <a:rPr lang="en-US" sz="1400" dirty="0">
                <a:solidFill>
                  <a:srgbClr val="2B3541"/>
                </a:solidFill>
                <a:latin typeface="Funnel Sans" pitchFamily="34" charset="0"/>
                <a:ea typeface="Funnel Sans" pitchFamily="34" charset="-122"/>
                <a:cs typeface="Funnel Sans" pitchFamily="34" charset="-120"/>
              </a:rPr>
              <a:t>Five layers and five CLI pipelines: prepare, train, evaluate, infer, assess.</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396 contract-layer tests documented; no data or GPU required. CI workflow configured.</a:t>
            </a:r>
            <a:endParaRPr lang="en-US" sz="1400" dirty="0"/>
          </a:p>
        </p:txBody>
      </p:sp>
      <p:sp>
        <p:nvSpPr>
          <p:cNvPr id="8" name="Shape 5"/>
          <p:cNvSpPr/>
          <p:nvPr/>
        </p:nvSpPr>
        <p:spPr>
          <a:xfrm>
            <a:off x="4368691" y="1553369"/>
            <a:ext cx="3454314" cy="3530005"/>
          </a:xfrm>
          <a:prstGeom prst="roundRect">
            <a:avLst>
              <a:gd name="adj" fmla="val 2548"/>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pic>
        <p:nvPicPr>
          <p:cNvPr id="9" name="Image 1" descr="preencoded.png"/>
          <p:cNvPicPr>
            <a:picLocks noChangeAspect="1"/>
          </p:cNvPicPr>
          <p:nvPr/>
        </p:nvPicPr>
        <p:blipFill>
          <a:blip r:embed="rId4"/>
          <a:stretch>
            <a:fillRect/>
          </a:stretch>
        </p:blipFill>
        <p:spPr>
          <a:xfrm>
            <a:off x="4622684" y="1832769"/>
            <a:ext cx="523862" cy="523875"/>
          </a:xfrm>
          <a:prstGeom prst="rect">
            <a:avLst/>
          </a:prstGeom>
        </p:spPr>
      </p:pic>
      <p:sp>
        <p:nvSpPr>
          <p:cNvPr id="10" name="Text 6"/>
          <p:cNvSpPr/>
          <p:nvPr/>
        </p:nvSpPr>
        <p:spPr>
          <a:xfrm>
            <a:off x="4622684" y="2477294"/>
            <a:ext cx="2946326" cy="563761"/>
          </a:xfrm>
          <a:prstGeom prst="rect">
            <a:avLst/>
          </a:prstGeom>
          <a:noFill/>
        </p:spPr>
        <p:txBody>
          <a:bodyPr wrap="square" lIns="0" tIns="0" rIns="0" bIns="0" rtlCol="0" anchor="t">
            <a:normAutofit lnSpcReduction="10000"/>
          </a:bodyPr>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Data safeguards and report rules</a:t>
            </a:r>
            <a:endParaRPr lang="en-US" sz="1850" dirty="0"/>
          </a:p>
        </p:txBody>
      </p:sp>
      <p:sp>
        <p:nvSpPr>
          <p:cNvPr id="11" name="Text 7"/>
          <p:cNvSpPr/>
          <p:nvPr/>
        </p:nvSpPr>
        <p:spPr>
          <a:xfrm>
            <a:off x="4622684" y="3190280"/>
            <a:ext cx="2946326" cy="1613694"/>
          </a:xfrm>
          <a:prstGeom prst="rect">
            <a:avLst/>
          </a:prstGeom>
          <a:noFill/>
        </p:spPr>
        <p:txBody>
          <a:bodyPr wrap="square" lIns="0" tIns="0" rIns="0" bIns="0" rtlCol="0" anchor="t">
            <a:normAutofit/>
          </a:bodyPr>
          <a:lstStyle/>
          <a:p>
            <a:pPr marL="0" indent="0" algn="l">
              <a:lnSpc>
                <a:spcPct val="117000"/>
              </a:lnSpc>
              <a:spcAft>
                <a:spcPts val="900"/>
              </a:spcAft>
              <a:buNone/>
            </a:pPr>
            <a:r>
              <a:rPr lang="en-US" sz="1400" dirty="0">
                <a:solidFill>
                  <a:srgbClr val="2B3541"/>
                </a:solidFill>
                <a:latin typeface="Funnel Sans" pitchFamily="34" charset="0"/>
                <a:ea typeface="Funnel Sans" pitchFamily="34" charset="-122"/>
                <a:cs typeface="Funnel Sans" pitchFamily="34" charset="-120"/>
              </a:rPr>
              <a:t>Three independent video-split guards and one authoritative label space, including METC 0–6.</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Missed steps, order inversions, short steps, repetitions and overall score are implemented.</a:t>
            </a:r>
            <a:endParaRPr lang="en-US" sz="1400" dirty="0"/>
          </a:p>
        </p:txBody>
      </p:sp>
      <p:sp>
        <p:nvSpPr>
          <p:cNvPr id="12" name="Shape 8"/>
          <p:cNvSpPr/>
          <p:nvPr/>
        </p:nvSpPr>
        <p:spPr>
          <a:xfrm>
            <a:off x="8127797" y="1553369"/>
            <a:ext cx="3454314" cy="3530005"/>
          </a:xfrm>
          <a:prstGeom prst="roundRect">
            <a:avLst>
              <a:gd name="adj" fmla="val 2548"/>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pic>
        <p:nvPicPr>
          <p:cNvPr id="13" name="Image 2" descr="preencoded.png"/>
          <p:cNvPicPr>
            <a:picLocks noChangeAspect="1"/>
          </p:cNvPicPr>
          <p:nvPr/>
        </p:nvPicPr>
        <p:blipFill>
          <a:blip r:embed="rId5"/>
          <a:stretch>
            <a:fillRect/>
          </a:stretch>
        </p:blipFill>
        <p:spPr>
          <a:xfrm>
            <a:off x="8381790" y="1832769"/>
            <a:ext cx="523862" cy="523875"/>
          </a:xfrm>
          <a:prstGeom prst="rect">
            <a:avLst/>
          </a:prstGeom>
        </p:spPr>
      </p:pic>
      <p:sp>
        <p:nvSpPr>
          <p:cNvPr id="14" name="Text 9"/>
          <p:cNvSpPr/>
          <p:nvPr/>
        </p:nvSpPr>
        <p:spPr>
          <a:xfrm>
            <a:off x="8381790" y="2477294"/>
            <a:ext cx="2946326"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Live product code</a:t>
            </a:r>
            <a:endParaRPr lang="en-US" sz="1850" dirty="0"/>
          </a:p>
        </p:txBody>
      </p:sp>
      <p:sp>
        <p:nvSpPr>
          <p:cNvPr id="15" name="Text 10"/>
          <p:cNvSpPr/>
          <p:nvPr/>
        </p:nvSpPr>
        <p:spPr>
          <a:xfrm>
            <a:off x="8381790" y="2908399"/>
            <a:ext cx="2946326" cy="1364853"/>
          </a:xfrm>
          <a:prstGeom prst="rect">
            <a:avLst/>
          </a:prstGeom>
          <a:noFill/>
        </p:spPr>
        <p:txBody>
          <a:bodyPr wrap="square" lIns="0" tIns="0" rIns="0" bIns="0" rtlCol="0" anchor="t">
            <a:normAutofit fontScale="92500"/>
          </a:bodyPr>
          <a:lstStyle/>
          <a:p>
            <a:pPr marL="0" indent="0" algn="l">
              <a:lnSpc>
                <a:spcPct val="117000"/>
              </a:lnSpc>
              <a:spcAft>
                <a:spcPts val="900"/>
              </a:spcAft>
              <a:buNone/>
            </a:pPr>
            <a:r>
              <a:rPr lang="en-US" sz="1400" dirty="0">
                <a:solidFill>
                  <a:srgbClr val="2B3541"/>
                </a:solidFill>
                <a:latin typeface="Funnel Sans" pitchFamily="34" charset="0"/>
                <a:ea typeface="Funnel Sans" pitchFamily="34" charset="-122"/>
                <a:cs typeface="Funnel Sans" pitchFamily="34" charset="-120"/>
              </a:rPr>
              <a:t>Live inference backend and local camera page are in place at code level.</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Demo entry: </a:t>
            </a:r>
            <a:r>
              <a:rPr lang="en-US" sz="1400" dirty="0">
                <a:solidFill>
                  <a:srgbClr val="2B3541"/>
                </a:solidFill>
                <a:highlight>
                  <a:srgbClr val="FFFCF6"/>
                </a:highlight>
                <a:latin typeface="Consolas" pitchFamily="34" charset="0"/>
                <a:ea typeface="Consolas" pitchFamily="34" charset="-122"/>
                <a:cs typeface="Consolas" pitchFamily="34" charset="-120"/>
              </a:rPr>
              <a:t>python scripts/run_camera.py --demo-exp</a:t>
            </a:r>
            <a:endParaRPr lang="en-US" sz="1400" dirty="0"/>
          </a:p>
        </p:txBody>
      </p:sp>
      <p:sp>
        <p:nvSpPr>
          <p:cNvPr id="16" name="Text 11"/>
          <p:cNvSpPr/>
          <p:nvPr/>
        </p:nvSpPr>
        <p:spPr>
          <a:xfrm>
            <a:off x="609585" y="5418733"/>
            <a:ext cx="10972526" cy="335260"/>
          </a:xfrm>
          <a:prstGeom prst="rect">
            <a:avLst/>
          </a:prstGeom>
          <a:noFill/>
        </p:spPr>
        <p:txBody>
          <a:bodyPr wrap="none" lIns="0" tIns="0" rIns="0" bIns="0" rtlCol="0" anchor="t"/>
          <a:lstStyle/>
          <a:p>
            <a:pPr marL="0" indent="0" algn="l">
              <a:lnSpc>
                <a:spcPct val="100000"/>
              </a:lnSpc>
              <a:buNone/>
            </a:pPr>
            <a:r>
              <a:rPr lang="en-US" sz="2200" kern="100" spc="-11" dirty="0">
                <a:solidFill>
                  <a:srgbClr val="B8367F"/>
                </a:solidFill>
                <a:latin typeface="Funnel Sans SemiBold" pitchFamily="34" charset="0"/>
                <a:ea typeface="Funnel Sans SemiBold" pitchFamily="34" charset="-122"/>
                <a:cs typeface="Funnel Sans SemiBold" pitchFamily="34" charset="-120"/>
              </a:rPr>
              <a:t>No formal experimental result yet (version 0.1.0).</a:t>
            </a:r>
            <a:endParaRPr lang="en-US" sz="2200" dirty="0"/>
          </a:p>
        </p:txBody>
      </p:sp>
      <p:sp>
        <p:nvSpPr>
          <p:cNvPr id="17" name="Text 12"/>
          <p:cNvSpPr/>
          <p:nvPr/>
        </p:nvSpPr>
        <p:spPr>
          <a:xfrm>
            <a:off x="609585" y="5903218"/>
            <a:ext cx="10972526"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The synthetic smoke run proves pipeline execution only. Demo-model numbers are preliminary.</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Real-camera classification accuracy and latency remain unmeasured.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5EB"/>
        </a:solidFill>
        <a:effectLst/>
      </p:bgPr>
    </p:bg>
    <p:spTree>
      <p:nvGrpSpPr>
        <p:cNvPr id="1" name=""/>
        <p:cNvGrpSpPr/>
        <p:nvPr/>
      </p:nvGrpSpPr>
      <p:grpSpPr>
        <a:xfrm>
          <a:off x="0" y="0"/>
          <a:ext cx="0" cy="0"/>
          <a:chOff x="0" y="0"/>
          <a:chExt cx="0" cy="0"/>
        </a:xfrm>
      </p:grpSpPr>
      <p:sp>
        <p:nvSpPr>
          <p:cNvPr id="2" name="Text 0"/>
          <p:cNvSpPr/>
          <p:nvPr/>
        </p:nvSpPr>
        <p:spPr>
          <a:xfrm>
            <a:off x="609585" y="431800"/>
            <a:ext cx="11582110"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PROJECT ROADMAP</a:t>
            </a:r>
            <a:endParaRPr lang="en-US" sz="1200" dirty="0"/>
          </a:p>
        </p:txBody>
      </p:sp>
      <p:sp>
        <p:nvSpPr>
          <p:cNvPr id="3" name="Text 1"/>
          <p:cNvSpPr/>
          <p:nvPr/>
        </p:nvSpPr>
        <p:spPr>
          <a:xfrm>
            <a:off x="609585" y="708025"/>
            <a:ext cx="10972526" cy="484584"/>
          </a:xfrm>
          <a:prstGeom prst="rect">
            <a:avLst/>
          </a:prstGeom>
          <a:noFill/>
        </p:spPr>
        <p:txBody>
          <a:bodyPr wrap="none" lIns="0" tIns="0" rIns="0" bIns="0" rtlCol="0" anchor="t"/>
          <a:lstStyle/>
          <a:p>
            <a:pPr marL="0" indent="0" algn="l">
              <a:lnSpc>
                <a:spcPct val="88000"/>
              </a:lnSpc>
              <a:buNone/>
            </a:pPr>
            <a:r>
              <a:rPr lang="en-US" sz="3600" kern="100" spc="-36" dirty="0">
                <a:solidFill>
                  <a:srgbClr val="051D3A"/>
                </a:solidFill>
                <a:latin typeface="Funnel Display Medium" pitchFamily="34" charset="0"/>
                <a:ea typeface="Funnel Display Medium" pitchFamily="34" charset="-122"/>
                <a:cs typeface="Funnel Display Medium" pitchFamily="34" charset="-120"/>
              </a:rPr>
              <a:t>Course anchors and technical steps</a:t>
            </a:r>
            <a:endParaRPr lang="en-US" sz="3600" dirty="0"/>
          </a:p>
        </p:txBody>
      </p:sp>
      <p:sp>
        <p:nvSpPr>
          <p:cNvPr id="4" name="Text 2"/>
          <p:cNvSpPr/>
          <p:nvPr/>
        </p:nvSpPr>
        <p:spPr>
          <a:xfrm>
            <a:off x="609585" y="1398984"/>
            <a:ext cx="4206075"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COURSE ANCHORS</a:t>
            </a:r>
            <a:endParaRPr lang="en-US" sz="1200" dirty="0"/>
          </a:p>
        </p:txBody>
      </p:sp>
      <p:sp>
        <p:nvSpPr>
          <p:cNvPr id="5" name="Shape 3"/>
          <p:cNvSpPr/>
          <p:nvPr/>
        </p:nvSpPr>
        <p:spPr>
          <a:xfrm>
            <a:off x="609585" y="1710134"/>
            <a:ext cx="4206075" cy="2954238"/>
          </a:xfrm>
          <a:prstGeom prst="roundRect">
            <a:avLst>
              <a:gd name="adj" fmla="val 2979"/>
            </a:avLst>
          </a:prstGeom>
          <a:solidFill>
            <a:srgbClr val="FFFCF6"/>
          </a:solidFill>
          <a:effectLst>
            <a:outerShdw blurRad="379730" dist="151130" dir="5400000" algn="bl" rotWithShape="0">
              <a:srgbClr val="6A4FC8">
                <a:alpha val="40000"/>
              </a:srgbClr>
            </a:outerShdw>
          </a:effectLst>
        </p:spPr>
        <p:txBody>
          <a:bodyPr/>
          <a:lstStyle/>
          <a:p>
            <a:endParaRPr lang="zh-CN" altLang="en-US"/>
          </a:p>
        </p:txBody>
      </p:sp>
      <p:sp>
        <p:nvSpPr>
          <p:cNvPr id="6" name="Text 4"/>
          <p:cNvSpPr/>
          <p:nvPr/>
        </p:nvSpPr>
        <p:spPr>
          <a:xfrm>
            <a:off x="863578" y="1913334"/>
            <a:ext cx="3698088"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30 Sep 2026</a:t>
            </a:r>
            <a:endParaRPr lang="en-US" sz="1850" dirty="0"/>
          </a:p>
        </p:txBody>
      </p:sp>
      <p:sp>
        <p:nvSpPr>
          <p:cNvPr id="7" name="Text 5"/>
          <p:cNvSpPr/>
          <p:nvPr/>
        </p:nvSpPr>
        <p:spPr>
          <a:xfrm>
            <a:off x="863578" y="2344440"/>
            <a:ext cx="3952082"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Proposal submitted · done</a:t>
            </a:r>
            <a:endParaRPr lang="en-US" sz="1650" dirty="0"/>
          </a:p>
        </p:txBody>
      </p:sp>
      <p:sp>
        <p:nvSpPr>
          <p:cNvPr id="8" name="Text 6"/>
          <p:cNvSpPr/>
          <p:nvPr/>
        </p:nvSpPr>
        <p:spPr>
          <a:xfrm>
            <a:off x="863578" y="2825055"/>
            <a:ext cx="3698088"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6 Oct 2026</a:t>
            </a:r>
            <a:endParaRPr lang="en-US" sz="1850" dirty="0"/>
          </a:p>
        </p:txBody>
      </p:sp>
      <p:sp>
        <p:nvSpPr>
          <p:cNvPr id="9" name="Text 7"/>
          <p:cNvSpPr/>
          <p:nvPr/>
        </p:nvSpPr>
        <p:spPr>
          <a:xfrm>
            <a:off x="863578" y="3256161"/>
            <a:ext cx="3952082"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First presentation · today</a:t>
            </a:r>
            <a:endParaRPr lang="en-US" sz="1650" dirty="0"/>
          </a:p>
        </p:txBody>
      </p:sp>
      <p:sp>
        <p:nvSpPr>
          <p:cNvPr id="10" name="Text 8"/>
          <p:cNvSpPr/>
          <p:nvPr/>
        </p:nvSpPr>
        <p:spPr>
          <a:xfrm>
            <a:off x="863578" y="3736777"/>
            <a:ext cx="3698088" cy="281880"/>
          </a:xfrm>
          <a:prstGeom prst="rect">
            <a:avLst/>
          </a:prstGeom>
          <a:noFill/>
        </p:spPr>
        <p:txBody>
          <a:bodyPr wrap="none" lIns="0" tIns="0" rIns="0" bIns="0" rtlCol="0" anchor="t"/>
          <a:lstStyle/>
          <a:p>
            <a:pPr marL="0" indent="0" algn="l">
              <a:lnSpc>
                <a:spcPct val="100000"/>
              </a:lnSpc>
              <a:buNone/>
            </a:pPr>
            <a:r>
              <a:rPr lang="en-US" sz="1850" kern="100" spc="-9" dirty="0">
                <a:solidFill>
                  <a:srgbClr val="2B3541"/>
                </a:solidFill>
                <a:latin typeface="Funnel Sans SemiBold" pitchFamily="34" charset="0"/>
                <a:ea typeface="Funnel Sans SemiBold" pitchFamily="34" charset="-122"/>
                <a:cs typeface="Funnel Sans SemiBold" pitchFamily="34" charset="-120"/>
              </a:rPr>
              <a:t>31 Oct 2026</a:t>
            </a:r>
            <a:endParaRPr lang="en-US" sz="1850" dirty="0"/>
          </a:p>
        </p:txBody>
      </p:sp>
      <p:sp>
        <p:nvSpPr>
          <p:cNvPr id="11" name="Text 9"/>
          <p:cNvSpPr/>
          <p:nvPr/>
        </p:nvSpPr>
        <p:spPr>
          <a:xfrm>
            <a:off x="863578" y="4167882"/>
            <a:ext cx="3952082"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All deliverables due</a:t>
            </a:r>
            <a:endParaRPr lang="en-US" sz="1650" dirty="0"/>
          </a:p>
        </p:txBody>
      </p:sp>
      <p:sp>
        <p:nvSpPr>
          <p:cNvPr id="12" name="Text 10"/>
          <p:cNvSpPr/>
          <p:nvPr/>
        </p:nvSpPr>
        <p:spPr>
          <a:xfrm>
            <a:off x="5272749" y="1398984"/>
            <a:ext cx="6309361" cy="190500"/>
          </a:xfrm>
          <a:prstGeom prst="rect">
            <a:avLst/>
          </a:prstGeom>
          <a:noFill/>
        </p:spPr>
        <p:txBody>
          <a:bodyPr wrap="none" lIns="0" tIns="0" rIns="0" bIns="0" rtlCol="0" anchor="t"/>
          <a:lstStyle/>
          <a:p>
            <a:pPr marL="0" indent="0" algn="l">
              <a:lnSpc>
                <a:spcPct val="104000"/>
              </a:lnSpc>
              <a:buNone/>
            </a:pPr>
            <a:r>
              <a:rPr lang="en-US" sz="1200" kern="100" spc="96" dirty="0">
                <a:solidFill>
                  <a:srgbClr val="8A3FA8"/>
                </a:solidFill>
                <a:latin typeface="Funnel Sans SemiBold" pitchFamily="34" charset="0"/>
                <a:ea typeface="Funnel Sans SemiBold" pitchFamily="34" charset="-122"/>
                <a:cs typeface="Funnel Sans SemiBold" pitchFamily="34" charset="-120"/>
              </a:rPr>
              <a:t>TECHNICAL STEPS</a:t>
            </a:r>
            <a:endParaRPr lang="en-US" sz="1200" dirty="0"/>
          </a:p>
        </p:txBody>
      </p:sp>
      <p:sp>
        <p:nvSpPr>
          <p:cNvPr id="13" name="Text 11"/>
          <p:cNvSpPr/>
          <p:nvPr/>
        </p:nvSpPr>
        <p:spPr>
          <a:xfrm>
            <a:off x="5272749" y="1752005"/>
            <a:ext cx="724874" cy="209550"/>
          </a:xfrm>
          <a:prstGeom prst="rect">
            <a:avLst/>
          </a:prstGeom>
          <a:noFill/>
        </p:spPr>
        <p:txBody>
          <a:bodyPr wrap="none" lIns="0" tIns="0" rIns="0" bIns="0" rtlCol="0" anchor="t"/>
          <a:lstStyle/>
          <a:p>
            <a:pPr marL="0" indent="0" algn="l">
              <a:lnSpc>
                <a:spcPct val="83000"/>
              </a:lnSpc>
              <a:buNone/>
            </a:pPr>
            <a:r>
              <a:rPr lang="en-US" sz="1650" dirty="0">
                <a:solidFill>
                  <a:srgbClr val="B8367F"/>
                </a:solidFill>
                <a:latin typeface="Funnel Sans SemiBold" pitchFamily="34" charset="0"/>
                <a:ea typeface="Funnel Sans SemiBold" pitchFamily="34" charset="-122"/>
                <a:cs typeface="Funnel Sans SemiBold" pitchFamily="34" charset="-120"/>
              </a:rPr>
              <a:t>1</a:t>
            </a:r>
            <a:endParaRPr lang="en-US" sz="1650" dirty="0"/>
          </a:p>
        </p:txBody>
      </p:sp>
      <p:sp>
        <p:nvSpPr>
          <p:cNvPr id="14" name="Text 12"/>
          <p:cNvSpPr/>
          <p:nvPr/>
        </p:nvSpPr>
        <p:spPr>
          <a:xfrm>
            <a:off x="5515035" y="1710134"/>
            <a:ext cx="6067075"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Fix data and spot-check labels by hand</a:t>
            </a:r>
            <a:endParaRPr lang="en-US" sz="1650" dirty="0"/>
          </a:p>
        </p:txBody>
      </p:sp>
      <p:sp>
        <p:nvSpPr>
          <p:cNvPr id="15" name="Text 13"/>
          <p:cNvSpPr/>
          <p:nvPr/>
        </p:nvSpPr>
        <p:spPr>
          <a:xfrm>
            <a:off x="5272749" y="2197695"/>
            <a:ext cx="724874" cy="209550"/>
          </a:xfrm>
          <a:prstGeom prst="rect">
            <a:avLst/>
          </a:prstGeom>
          <a:noFill/>
        </p:spPr>
        <p:txBody>
          <a:bodyPr wrap="none" lIns="0" tIns="0" rIns="0" bIns="0" rtlCol="0" anchor="t"/>
          <a:lstStyle/>
          <a:p>
            <a:pPr marL="0" indent="0" algn="l">
              <a:lnSpc>
                <a:spcPct val="83000"/>
              </a:lnSpc>
              <a:buNone/>
            </a:pPr>
            <a:r>
              <a:rPr lang="en-US" sz="1650" dirty="0">
                <a:solidFill>
                  <a:srgbClr val="B8367F"/>
                </a:solidFill>
                <a:latin typeface="Funnel Sans SemiBold" pitchFamily="34" charset="0"/>
                <a:ea typeface="Funnel Sans SemiBold" pitchFamily="34" charset="-122"/>
                <a:cs typeface="Funnel Sans SemiBold" pitchFamily="34" charset="-120"/>
              </a:rPr>
              <a:t>2</a:t>
            </a:r>
            <a:endParaRPr lang="en-US" sz="1650" dirty="0"/>
          </a:p>
        </p:txBody>
      </p:sp>
      <p:sp>
        <p:nvSpPr>
          <p:cNvPr id="16" name="Text 14"/>
          <p:cNvSpPr/>
          <p:nvPr/>
        </p:nvSpPr>
        <p:spPr>
          <a:xfrm>
            <a:off x="5515035" y="2155825"/>
            <a:ext cx="6067075"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Freeze splits and manifest</a:t>
            </a:r>
            <a:endParaRPr lang="en-US" sz="1650" dirty="0"/>
          </a:p>
        </p:txBody>
      </p:sp>
      <p:sp>
        <p:nvSpPr>
          <p:cNvPr id="17" name="Text 15"/>
          <p:cNvSpPr/>
          <p:nvPr/>
        </p:nvSpPr>
        <p:spPr>
          <a:xfrm>
            <a:off x="5272749" y="2643386"/>
            <a:ext cx="724874" cy="209550"/>
          </a:xfrm>
          <a:prstGeom prst="rect">
            <a:avLst/>
          </a:prstGeom>
          <a:noFill/>
        </p:spPr>
        <p:txBody>
          <a:bodyPr wrap="none" lIns="0" tIns="0" rIns="0" bIns="0" rtlCol="0" anchor="t"/>
          <a:lstStyle/>
          <a:p>
            <a:pPr marL="0" indent="0" algn="l">
              <a:lnSpc>
                <a:spcPct val="83000"/>
              </a:lnSpc>
              <a:buNone/>
            </a:pPr>
            <a:r>
              <a:rPr lang="en-US" sz="1650" dirty="0">
                <a:solidFill>
                  <a:srgbClr val="B8367F"/>
                </a:solidFill>
                <a:latin typeface="Funnel Sans SemiBold" pitchFamily="34" charset="0"/>
                <a:ea typeface="Funnel Sans SemiBold" pitchFamily="34" charset="-122"/>
                <a:cs typeface="Funnel Sans SemiBold" pitchFamily="34" charset="-120"/>
              </a:rPr>
              <a:t>3</a:t>
            </a:r>
            <a:endParaRPr lang="en-US" sz="1650" dirty="0"/>
          </a:p>
        </p:txBody>
      </p:sp>
      <p:sp>
        <p:nvSpPr>
          <p:cNvPr id="18" name="Text 16"/>
          <p:cNvSpPr/>
          <p:nvPr/>
        </p:nvSpPr>
        <p:spPr>
          <a:xfrm>
            <a:off x="5515035" y="2601516"/>
            <a:ext cx="6067075"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Formal cloud training · first model exists</a:t>
            </a:r>
            <a:endParaRPr lang="en-US" sz="1650" dirty="0"/>
          </a:p>
        </p:txBody>
      </p:sp>
      <p:sp>
        <p:nvSpPr>
          <p:cNvPr id="19" name="Text 17"/>
          <p:cNvSpPr/>
          <p:nvPr/>
        </p:nvSpPr>
        <p:spPr>
          <a:xfrm>
            <a:off x="5272749" y="3089077"/>
            <a:ext cx="724874" cy="209550"/>
          </a:xfrm>
          <a:prstGeom prst="rect">
            <a:avLst/>
          </a:prstGeom>
          <a:noFill/>
        </p:spPr>
        <p:txBody>
          <a:bodyPr wrap="none" lIns="0" tIns="0" rIns="0" bIns="0" rtlCol="0" anchor="t"/>
          <a:lstStyle/>
          <a:p>
            <a:pPr marL="0" indent="0" algn="l">
              <a:lnSpc>
                <a:spcPct val="83000"/>
              </a:lnSpc>
              <a:buNone/>
            </a:pPr>
            <a:r>
              <a:rPr lang="en-US" sz="1650" dirty="0">
                <a:solidFill>
                  <a:srgbClr val="B8367F"/>
                </a:solidFill>
                <a:latin typeface="Funnel Sans SemiBold" pitchFamily="34" charset="0"/>
                <a:ea typeface="Funnel Sans SemiBold" pitchFamily="34" charset="-122"/>
                <a:cs typeface="Funnel Sans SemiBold" pitchFamily="34" charset="-120"/>
              </a:rPr>
              <a:t>4</a:t>
            </a:r>
            <a:endParaRPr lang="en-US" sz="1650" dirty="0"/>
          </a:p>
        </p:txBody>
      </p:sp>
      <p:sp>
        <p:nvSpPr>
          <p:cNvPr id="20" name="Text 18"/>
          <p:cNvSpPr/>
          <p:nvPr/>
        </p:nvSpPr>
        <p:spPr>
          <a:xfrm>
            <a:off x="5515035" y="3047206"/>
            <a:ext cx="6067075"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Local video inference acceptance</a:t>
            </a:r>
            <a:endParaRPr lang="en-US" sz="1650" dirty="0"/>
          </a:p>
        </p:txBody>
      </p:sp>
      <p:sp>
        <p:nvSpPr>
          <p:cNvPr id="21" name="Text 19"/>
          <p:cNvSpPr/>
          <p:nvPr/>
        </p:nvSpPr>
        <p:spPr>
          <a:xfrm>
            <a:off x="5272749" y="3534767"/>
            <a:ext cx="724874" cy="209550"/>
          </a:xfrm>
          <a:prstGeom prst="rect">
            <a:avLst/>
          </a:prstGeom>
          <a:noFill/>
        </p:spPr>
        <p:txBody>
          <a:bodyPr wrap="none" lIns="0" tIns="0" rIns="0" bIns="0" rtlCol="0" anchor="t"/>
          <a:lstStyle/>
          <a:p>
            <a:pPr marL="0" indent="0" algn="l">
              <a:lnSpc>
                <a:spcPct val="83000"/>
              </a:lnSpc>
              <a:buNone/>
            </a:pPr>
            <a:r>
              <a:rPr lang="en-US" sz="1650" dirty="0">
                <a:solidFill>
                  <a:srgbClr val="B8367F"/>
                </a:solidFill>
                <a:latin typeface="Funnel Sans SemiBold" pitchFamily="34" charset="0"/>
                <a:ea typeface="Funnel Sans SemiBold" pitchFamily="34" charset="-122"/>
                <a:cs typeface="Funnel Sans SemiBold" pitchFamily="34" charset="-120"/>
              </a:rPr>
              <a:t>5</a:t>
            </a:r>
            <a:endParaRPr lang="en-US" sz="1650" dirty="0"/>
          </a:p>
        </p:txBody>
      </p:sp>
      <p:sp>
        <p:nvSpPr>
          <p:cNvPr id="22" name="Text 20"/>
          <p:cNvSpPr/>
          <p:nvPr/>
        </p:nvSpPr>
        <p:spPr>
          <a:xfrm>
            <a:off x="5515035" y="3492897"/>
            <a:ext cx="6067075" cy="293291"/>
          </a:xfrm>
          <a:prstGeom prst="rect">
            <a:avLst/>
          </a:prstGeom>
          <a:noFill/>
        </p:spPr>
        <p:txBody>
          <a:bodyPr wrap="none" lIns="0" tIns="0" rIns="0" bIns="0" rtlCol="0" anchor="t"/>
          <a:lstStyle/>
          <a:p>
            <a:pPr marL="0" indent="0" algn="l">
              <a:lnSpc>
                <a:spcPct val="117000"/>
              </a:lnSpc>
              <a:buNone/>
            </a:pPr>
            <a:r>
              <a:rPr lang="en-US" sz="1650" dirty="0">
                <a:solidFill>
                  <a:srgbClr val="6A4FC8"/>
                </a:solidFill>
                <a:latin typeface="Funnel Sans" pitchFamily="34" charset="0"/>
                <a:ea typeface="Funnel Sans" pitchFamily="34" charset="-122"/>
                <a:cs typeface="Funnel Sans" pitchFamily="34" charset="-120"/>
              </a:rPr>
              <a:t>Live inference service · code in place</a:t>
            </a:r>
            <a:endParaRPr lang="en-US" sz="1650" dirty="0"/>
          </a:p>
        </p:txBody>
      </p:sp>
      <p:sp>
        <p:nvSpPr>
          <p:cNvPr id="23" name="Text 21"/>
          <p:cNvSpPr/>
          <p:nvPr/>
        </p:nvSpPr>
        <p:spPr>
          <a:xfrm>
            <a:off x="5272749" y="3980458"/>
            <a:ext cx="724874" cy="209550"/>
          </a:xfrm>
          <a:prstGeom prst="rect">
            <a:avLst/>
          </a:prstGeom>
          <a:noFill/>
        </p:spPr>
        <p:txBody>
          <a:bodyPr wrap="none" lIns="0" tIns="0" rIns="0" bIns="0" rtlCol="0" anchor="t"/>
          <a:lstStyle/>
          <a:p>
            <a:pPr marL="0" indent="0" algn="l">
              <a:lnSpc>
                <a:spcPct val="83000"/>
              </a:lnSpc>
              <a:buNone/>
            </a:pPr>
            <a:r>
              <a:rPr lang="en-US" sz="1650" dirty="0">
                <a:solidFill>
                  <a:srgbClr val="B8367F"/>
                </a:solidFill>
                <a:latin typeface="Funnel Sans SemiBold" pitchFamily="34" charset="0"/>
                <a:ea typeface="Funnel Sans SemiBold" pitchFamily="34" charset="-122"/>
                <a:cs typeface="Funnel Sans SemiBold" pitchFamily="34" charset="-120"/>
              </a:rPr>
              <a:t>6</a:t>
            </a:r>
            <a:endParaRPr lang="en-US" sz="1650" dirty="0"/>
          </a:p>
        </p:txBody>
      </p:sp>
      <p:sp>
        <p:nvSpPr>
          <p:cNvPr id="24" name="Text 22"/>
          <p:cNvSpPr/>
          <p:nvPr/>
        </p:nvSpPr>
        <p:spPr>
          <a:xfrm>
            <a:off x="5515035" y="3938588"/>
            <a:ext cx="6067075" cy="293291"/>
          </a:xfrm>
          <a:prstGeom prst="rect">
            <a:avLst/>
          </a:prstGeom>
          <a:noFill/>
        </p:spPr>
        <p:txBody>
          <a:bodyPr wrap="none" lIns="0" tIns="0" rIns="0" bIns="0" rtlCol="0" anchor="t"/>
          <a:lstStyle/>
          <a:p>
            <a:pPr marL="0" indent="0" algn="l">
              <a:lnSpc>
                <a:spcPct val="117000"/>
              </a:lnSpc>
              <a:buNone/>
            </a:pPr>
            <a:r>
              <a:rPr lang="en-US" sz="1650" dirty="0">
                <a:solidFill>
                  <a:srgbClr val="6A4FC8"/>
                </a:solidFill>
                <a:latin typeface="Funnel Sans" pitchFamily="34" charset="0"/>
                <a:ea typeface="Funnel Sans" pitchFamily="34" charset="-122"/>
                <a:cs typeface="Funnel Sans" pitchFamily="34" charset="-120"/>
              </a:rPr>
              <a:t>Camera web page · code in place</a:t>
            </a:r>
            <a:endParaRPr lang="en-US" sz="1650" dirty="0"/>
          </a:p>
        </p:txBody>
      </p:sp>
      <p:sp>
        <p:nvSpPr>
          <p:cNvPr id="25" name="Text 23"/>
          <p:cNvSpPr/>
          <p:nvPr/>
        </p:nvSpPr>
        <p:spPr>
          <a:xfrm>
            <a:off x="5272749" y="4426148"/>
            <a:ext cx="724874" cy="209550"/>
          </a:xfrm>
          <a:prstGeom prst="rect">
            <a:avLst/>
          </a:prstGeom>
          <a:noFill/>
        </p:spPr>
        <p:txBody>
          <a:bodyPr wrap="none" lIns="0" tIns="0" rIns="0" bIns="0" rtlCol="0" anchor="t"/>
          <a:lstStyle/>
          <a:p>
            <a:pPr marL="0" indent="0" algn="l">
              <a:lnSpc>
                <a:spcPct val="83000"/>
              </a:lnSpc>
              <a:buNone/>
            </a:pPr>
            <a:r>
              <a:rPr lang="en-US" sz="1650" dirty="0">
                <a:solidFill>
                  <a:srgbClr val="B8367F"/>
                </a:solidFill>
                <a:latin typeface="Funnel Sans SemiBold" pitchFamily="34" charset="0"/>
                <a:ea typeface="Funnel Sans SemiBold" pitchFamily="34" charset="-122"/>
                <a:cs typeface="Funnel Sans SemiBold" pitchFamily="34" charset="-120"/>
              </a:rPr>
              <a:t>7</a:t>
            </a:r>
            <a:endParaRPr lang="en-US" sz="1650" dirty="0"/>
          </a:p>
        </p:txBody>
      </p:sp>
      <p:sp>
        <p:nvSpPr>
          <p:cNvPr id="26" name="Text 24"/>
          <p:cNvSpPr/>
          <p:nvPr/>
        </p:nvSpPr>
        <p:spPr>
          <a:xfrm>
            <a:off x="5515035" y="4384278"/>
            <a:ext cx="6067075" cy="293291"/>
          </a:xfrm>
          <a:prstGeom prst="rect">
            <a:avLst/>
          </a:prstGeom>
          <a:noFill/>
        </p:spPr>
        <p:txBody>
          <a:bodyPr wrap="none" lIns="0" tIns="0" rIns="0" bIns="0" rtlCol="0" anchor="t"/>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Real-camera acceptance and delivery</a:t>
            </a:r>
            <a:endParaRPr lang="en-US" sz="1650" dirty="0"/>
          </a:p>
        </p:txBody>
      </p:sp>
      <p:sp>
        <p:nvSpPr>
          <p:cNvPr id="27" name="Text 25"/>
          <p:cNvSpPr/>
          <p:nvPr/>
        </p:nvSpPr>
        <p:spPr>
          <a:xfrm>
            <a:off x="609585" y="5928519"/>
            <a:ext cx="10972526"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Code in place does not imply real-camera acceptance.</a:t>
            </a:r>
            <a:endParaRPr lang="en-US" sz="1400" dirty="0"/>
          </a:p>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The validated pipeline stays the final deliverable if time runs short.</a:t>
            </a:r>
            <a:endParaRPr lang="en-US" sz="140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173.08590551181103,&quot;left&quot;:47.9988188976378,&quot;top&quot;:112.15622047244094,&quot;width&quot;:863.978425196850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165</TotalTime>
  <Words>2664</Words>
  <Application>Microsoft Macintosh PowerPoint</Application>
  <PresentationFormat>宽屏</PresentationFormat>
  <Paragraphs>206</Paragraphs>
  <Slides>11</Slides>
  <Notes>11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11</vt:i4>
      </vt:variant>
    </vt:vector>
  </HeadingPairs>
  <TitlesOfParts>
    <vt:vector size="20" baseType="lpstr">
      <vt:lpstr>Funnel Display Medium</vt:lpstr>
      <vt:lpstr>Funnel Sans</vt:lpstr>
      <vt:lpstr>Funnel Display SemiBold</vt:lpstr>
      <vt:lpstr>Arial</vt:lpstr>
      <vt:lpstr>Funnel Sans SemiBold</vt:lpstr>
      <vt:lpstr>Consolas</vt:lpstr>
      <vt:lpstr>Calibri</vt:lpstr>
      <vt:lpstr>Times New Roman</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朱 建宇</cp:lastModifiedBy>
  <cp:revision>8</cp:revision>
  <dcterms:created xsi:type="dcterms:W3CDTF">2026-10-04T06:03:30Z</dcterms:created>
  <dcterms:modified xsi:type="dcterms:W3CDTF">2026-10-04T16:27:14Z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CA01EBB36DC2135B32ECC16A9E0DB254_43</vt:lpwstr>
  </property>
  <property fmtid="{D5CDD505-2E9C-101B-9397-08002B2CF9AE}" pid="3" name="KSOProductBuildVer">
    <vt:lpwstr>2052-12.1.28496.28496</vt:lpwstr>
  </property>
</Properties>
</file>